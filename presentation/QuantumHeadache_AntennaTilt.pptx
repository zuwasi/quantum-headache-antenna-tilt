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One sentence: we optimise the down-tilt of 6 real Tel Aviv sector antennas with QAOA, ran it on Classiq, and verified every number two independent ways. Everything shown is reproducible from the group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Motivation from the group deck: customers, hexagonal cells with three 120-degree sectors, the interaction region R where three sectors overlap, and the demand-weighted utility U. Our real-data cost function is the same form with fixed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whole-network architecture from the group: cluster regions by a classical feature vector, one QAOA job per group, assign the plan to all regions in the group, evaluate global utility, then re-cluster only the group with the most variation. Our 12-qubit real-data run is the leaf solver in step 4. Two assumptions are stated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0:20–1:00. Data: opencellid_il2.csv, two 3-sector sites, interference matrix from geometry. 4096 plans is small on purpose: it lets us check the quantum answer exactly. The real operator problem (hundreds of antennas, 10 levels) has no exact classical check — that is where QAOA is meant to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1:00–1:40. Each antenna is a 2-bit number. Substituting q=(1−Z)/2 into the quadratic cost gives a Hamiltonian with only Z and ZZ terms — 73 in total, computed by gates/pauli_decomposition.py and checked against the full cost table. 2-local means the phase layer is 72 RZ rotations and CX ladders; no expensive multi-controlled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1:40–2:10. The Qmod program uses Classiq's phase() on a QNum arithmetic expression, so the compiler builds the ZZ ladder for us. Transpiled: 12 qubits, depth 59 for one layer. We exported QASM3 and cross-checked a hand-written QASM2 of the same layer with Qiskit — three engines, same expectation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2:10–2:50. Wolfram lets us do the full 4096-dimensional statevector and scan the whole (γ,β) plane. The optimum is a narrow valley; most of the plane is a plateau — that will matter on Classiq. These optimal angles are exported to JSON and used as warm start in the Classiq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a random plan beats the baseline 2.4 percent of the time; after one QAOA layer 53 percent; after two, 67 percent. Shots to see the exact optimum drop from over 12 000 to about 340. The Classiq simulator reproduces the exact Wolfram numbers within shot noise, and the most frequent low-cost sample is exactly the optimum.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3:50–4:10. Play the clip (about 5 s). If the video does not play in the imported Canva/Google Slides deck, use the MP4 directly from the group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4:10–4:30. Optimising angles on the sampler alone is hard: a random start sits on the plateau and COBYLA cannot see a gradient through shot noise. Warm-starting from the Wolfram angles gives the best result immediately. That is our practical recipe.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4:30–4:40. Judges asked for trust: the classical optimum, its uniqueness and the bit encoding are theorems in Lean 4 with Mathlib, checked by kernel decision procedures over all 4096 cases. No sorry.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encodings were tried by the team. The 5-qubit pack of 27 configurations leaves 5 invalid states; QAOA learns to avoid them but gives no amplification of the optimum (0.5 to 1.2 times uniform). Two qubits per sector has no invalid states, a 2-local Hamiltonian, 27 times amplification at p = 1, and extends to 10 levels with 4 qubits per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group benchmark: one shared plan scores 1.379, per-region exact search 1.838 with 48 jobs, the hierarchy with QAOA 1.547 with 10 jobs; cycle 3 reaches 95 percent of the ceiling. Everything is reproducible from the GitHub repo; the demo video is on YouTube.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youtu.be/OSEtTWnRQhc" TargetMode="External"/><Relationship Id="rId4" Type="http://schemas.openxmlformats.org/officeDocument/2006/relationships/hyperlink" Target="https://github.com/zuwasi/quantum-headache-antenna-tilt" TargetMode="External"/><Relationship Id="rId1" Type="http://schemas.openxmlformats.org/officeDocument/2006/relationships/image" Target="../media/image-13-1.png"/><Relationship Id="rId2" Type="http://schemas.openxmlformats.org/officeDocument/2006/relationships/image" Target="../media/image-13-2.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 / 13</a:t>
            </a:r>
            <a:endParaRPr lang="en-US" sz="2800" dirty="0"/>
          </a:p>
        </p:txBody>
      </p:sp>
      <p:sp>
        <p:nvSpPr>
          <p:cNvPr id="4" name="Shape 2"/>
          <p:cNvSpPr/>
          <p:nvPr/>
        </p:nvSpPr>
        <p:spPr>
          <a:xfrm>
            <a:off x="0" y="0"/>
            <a:ext cx="12188952" cy="228600"/>
          </a:xfrm>
          <a:prstGeom prst="rect">
            <a:avLst/>
          </a:prstGeom>
          <a:solidFill>
            <a:srgbClr val="7C5CFF"/>
          </a:solidFill>
          <a:ln/>
        </p:spPr>
      </p:sp>
      <p:sp>
        <p:nvSpPr>
          <p:cNvPr id="5" name="Text 3"/>
          <p:cNvSpPr/>
          <p:nvPr/>
        </p:nvSpPr>
        <p:spPr>
          <a:xfrm>
            <a:off x="731520" y="1463040"/>
            <a:ext cx="10515600" cy="365760"/>
          </a:xfrm>
          <a:prstGeom prst="rect">
            <a:avLst/>
          </a:prstGeom>
          <a:noFill/>
          <a:ln/>
        </p:spPr>
        <p:txBody>
          <a:bodyPr wrap="square" lIns="0" tIns="0" rIns="0" bIns="0" rtlCol="0" anchor="ctr"/>
          <a:lstStyle/>
          <a:p>
            <a:pPr indent="0" marL="0">
              <a:buNone/>
            </a:pPr>
            <a:r>
              <a:rPr lang="en-US" sz="1400" b="1" spc="300" kern="0" dirty="0">
                <a:solidFill>
                  <a:srgbClr val="2BD4C2"/>
                </a:solidFill>
                <a:latin typeface="Calibri" pitchFamily="34" charset="0"/>
                <a:ea typeface="Calibri" pitchFamily="34" charset="-122"/>
                <a:cs typeface="Calibri" pitchFamily="34" charset="-120"/>
              </a:rPr>
              <a:t>QUBIT 2026 HACKATHON · CHALLENGE: ANTENNA TILT</a:t>
            </a:r>
            <a:endParaRPr lang="en-US" sz="1400" dirty="0"/>
          </a:p>
        </p:txBody>
      </p:sp>
      <p:sp>
        <p:nvSpPr>
          <p:cNvPr id="6" name="Text 4"/>
          <p:cNvSpPr/>
          <p:nvPr/>
        </p:nvSpPr>
        <p:spPr>
          <a:xfrm>
            <a:off x="731520" y="1920240"/>
            <a:ext cx="10515600" cy="1828800"/>
          </a:xfrm>
          <a:prstGeom prst="rect">
            <a:avLst/>
          </a:prstGeom>
          <a:noFill/>
          <a:ln/>
        </p:spPr>
        <p:txBody>
          <a:bodyPr wrap="square" lIns="0" tIns="0" rIns="0" bIns="0" rtlCol="0" anchor="ctr"/>
          <a:lstStyle/>
          <a:p>
            <a:pPr indent="0" marL="0">
              <a:buNone/>
            </a:pPr>
            <a:r>
              <a:rPr lang="en-US" sz="4800" b="1" dirty="0">
                <a:solidFill>
                  <a:srgbClr val="F5F7FF"/>
                </a:solidFill>
                <a:latin typeface="Calibri" pitchFamily="34" charset="0"/>
                <a:ea typeface="Calibri" pitchFamily="34" charset="-122"/>
                <a:cs typeface="Calibri" pitchFamily="34" charset="-120"/>
              </a:rPr>
              <a:t>Tilting a city's antennas:</a:t>
            </a:r>
            <a:endParaRPr lang="en-US" sz="4800" dirty="0"/>
          </a:p>
          <a:p>
            <a:pPr indent="0" marL="0">
              <a:buNone/>
            </a:pPr>
            <a:r>
              <a:rPr lang="en-US" sz="4800" b="1" dirty="0">
                <a:solidFill>
                  <a:srgbClr val="F5F7FF"/>
                </a:solidFill>
                <a:latin typeface="Calibri" pitchFamily="34" charset="0"/>
                <a:ea typeface="Calibri" pitchFamily="34" charset="-122"/>
                <a:cs typeface="Calibri" pitchFamily="34" charset="-120"/>
              </a:rPr>
              <a:t>k-means groups + a 12-qubit QAOA leaf</a:t>
            </a:r>
            <a:endParaRPr lang="en-US" sz="4800" dirty="0"/>
          </a:p>
        </p:txBody>
      </p:sp>
      <p:sp>
        <p:nvSpPr>
          <p:cNvPr id="7" name="Text 5"/>
          <p:cNvSpPr/>
          <p:nvPr/>
        </p:nvSpPr>
        <p:spPr>
          <a:xfrm>
            <a:off x="731520" y="3840480"/>
            <a:ext cx="10515600" cy="548640"/>
          </a:xfrm>
          <a:prstGeom prst="rect">
            <a:avLst/>
          </a:prstGeom>
          <a:noFill/>
          <a:ln/>
        </p:spPr>
        <p:txBody>
          <a:bodyPr wrap="square" lIns="0" tIns="0" rIns="0" bIns="0" rtlCol="0" anchor="ctr"/>
          <a:lstStyle/>
          <a:p>
            <a:pPr indent="0" marL="0">
              <a:buNone/>
            </a:pPr>
            <a:r>
              <a:rPr lang="en-US" sz="1800" dirty="0">
                <a:solidFill>
                  <a:srgbClr val="A9B4D0"/>
                </a:solidFill>
                <a:latin typeface="Calibri" pitchFamily="34" charset="0"/>
                <a:ea typeface="Calibri" pitchFamily="34" charset="-122"/>
                <a:cs typeface="Calibri" pitchFamily="34" charset="-120"/>
              </a:rPr>
              <a:t>Real OpenCelliD data → cost Hamiltonian → Classiq circuit → Wolfram exact simulation → Lean 4 proof</a:t>
            </a:r>
            <a:endParaRPr lang="en-US" sz="1800" dirty="0"/>
          </a:p>
        </p:txBody>
      </p:sp>
      <p:sp>
        <p:nvSpPr>
          <p:cNvPr id="8" name="Text 6"/>
          <p:cNvSpPr/>
          <p:nvPr/>
        </p:nvSpPr>
        <p:spPr>
          <a:xfrm>
            <a:off x="731520" y="5120640"/>
            <a:ext cx="5486400" cy="457200"/>
          </a:xfrm>
          <a:prstGeom prst="rect">
            <a:avLst/>
          </a:prstGeom>
          <a:noFill/>
          <a:ln/>
        </p:spPr>
        <p:txBody>
          <a:bodyPr wrap="square" lIns="0" tIns="0" rIns="0" bIns="0" rtlCol="0" anchor="ctr"/>
          <a:lstStyle/>
          <a:p>
            <a:pPr indent="0" marL="0">
              <a:buNone/>
            </a:pPr>
            <a:r>
              <a:rPr lang="en-US" sz="2000" b="1" dirty="0">
                <a:solidFill>
                  <a:srgbClr val="F5F7FF"/>
                </a:solidFill>
                <a:latin typeface="Calibri" pitchFamily="34" charset="0"/>
                <a:ea typeface="Calibri" pitchFamily="34" charset="-122"/>
                <a:cs typeface="Calibri" pitchFamily="34" charset="-120"/>
              </a:rPr>
              <a:t>Team Quantum Headache</a:t>
            </a:r>
            <a:endParaRPr lang="en-US" sz="2000" dirty="0"/>
          </a:p>
        </p:txBody>
      </p:sp>
      <p:sp>
        <p:nvSpPr>
          <p:cNvPr id="9" name="Text 7"/>
          <p:cNvSpPr/>
          <p:nvPr/>
        </p:nvSpPr>
        <p:spPr>
          <a:xfrm>
            <a:off x="731520" y="5532120"/>
            <a:ext cx="5486400" cy="365760"/>
          </a:xfrm>
          <a:prstGeom prst="rect">
            <a:avLst/>
          </a:prstGeom>
          <a:noFill/>
          <a:ln/>
        </p:spPr>
        <p:txBody>
          <a:bodyPr wrap="square" lIns="0" tIns="0" rIns="0" bIns="0" rtlCol="0" anchor="ctr"/>
          <a:lstStyle/>
          <a:p>
            <a:pPr indent="0" marL="0">
              <a:buNone/>
            </a:pPr>
            <a:r>
              <a:rPr lang="en-US" sz="1400" dirty="0">
                <a:solidFill>
                  <a:srgbClr val="A9B4D0"/>
                </a:solidFill>
                <a:latin typeface="Calibri" pitchFamily="34" charset="0"/>
                <a:ea typeface="Calibri" pitchFamily="34" charset="-122"/>
                <a:cs typeface="Calibri" pitchFamily="34" charset="-120"/>
              </a:rPr>
              <a:t>5-minute demo · September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2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2 / 13   |   MOTIVATION</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From a city of users to interaction regions and one utility U</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group_interaction_region.png">    </p:cNvPr>
          <p:cNvPicPr>
            <a:picLocks noChangeAspect="1"/>
          </p:cNvPicPr>
          <p:nvPr/>
        </p:nvPicPr>
        <p:blipFill>
          <a:blip r:embed="rId1"/>
          <a:stretch>
            <a:fillRect/>
          </a:stretch>
        </p:blipFill>
        <p:spPr>
          <a:xfrm>
            <a:off x="548640" y="1417320"/>
            <a:ext cx="4297680" cy="4434840"/>
          </a:xfrm>
          <a:prstGeom prst="rect">
            <a:avLst/>
          </a:prstGeom>
        </p:spPr>
      </p:pic>
      <p:sp>
        <p:nvSpPr>
          <p:cNvPr id="9" name="Text 6"/>
          <p:cNvSpPr/>
          <p:nvPr/>
        </p:nvSpPr>
        <p:spPr>
          <a:xfrm>
            <a:off x="548640" y="5897880"/>
            <a:ext cx="448056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Toy model: hexagonal cells, 120° sectors. The green hexagon is one interaction region R: three sectors from three sites that overlap.</a:t>
            </a:r>
            <a:endParaRPr lang="en-US" sz="1050" dirty="0"/>
          </a:p>
        </p:txBody>
      </p:sp>
      <p:sp>
        <p:nvSpPr>
          <p:cNvPr id="10" name="Shape 7"/>
          <p:cNvSpPr/>
          <p:nvPr/>
        </p:nvSpPr>
        <p:spPr>
          <a:xfrm>
            <a:off x="5212080" y="1463040"/>
            <a:ext cx="6583680" cy="1783080"/>
          </a:xfrm>
          <a:prstGeom prst="roundRect">
            <a:avLst>
              <a:gd name="adj" fmla="val 4103"/>
            </a:avLst>
          </a:prstGeom>
          <a:solidFill>
            <a:srgbClr val="141B33"/>
          </a:solidFill>
          <a:ln w="12700">
            <a:solidFill>
              <a:srgbClr val="141B33"/>
            </a:solidFill>
            <a:prstDash val="solid"/>
          </a:ln>
        </p:spPr>
      </p:sp>
      <p:sp>
        <p:nvSpPr>
          <p:cNvPr id="11" name="Text 8"/>
          <p:cNvSpPr/>
          <p:nvPr/>
        </p:nvSpPr>
        <p:spPr>
          <a:xfrm>
            <a:off x="5394960" y="1554480"/>
            <a:ext cx="6217920" cy="1600200"/>
          </a:xfrm>
          <a:prstGeom prst="rect">
            <a:avLst/>
          </a:prstGeom>
          <a:noFill/>
          <a:ln/>
        </p:spPr>
        <p:txBody>
          <a:bodyPr wrap="square" lIns="635" tIns="635" rIns="635" bIns="635" rtlCol="0" anchor="ctr"/>
          <a:lstStyle/>
          <a:p>
            <a:pPr indent="0" marL="0">
              <a:buNone/>
            </a:pPr>
            <a:r>
              <a:rPr lang="en-US" sz="2200" b="1" dirty="0">
                <a:solidFill>
                  <a:srgbClr val="2BD4C2"/>
                </a:solidFill>
                <a:latin typeface="Calibri" pitchFamily="34" charset="0"/>
                <a:ea typeface="Calibri" pitchFamily="34" charset="-122"/>
                <a:cs typeface="Calibri" pitchFamily="34" charset="-120"/>
              </a:rPr>
              <a:t>U(t) = α·Q(t) − β·I(t) − γ·D(t)</a:t>
            </a:r>
            <a:endParaRPr lang="en-US" sz="2200" dirty="0"/>
          </a:p>
          <a:p>
            <a:pPr indent="0" marL="0">
              <a:buNone/>
            </a:pPr>
            <a:r>
              <a:rPr lang="en-US" sz="1300" dirty="0">
                <a:solidFill>
                  <a:srgbClr val="F5F7FF"/>
                </a:solidFill>
                <a:latin typeface="Calibri" pitchFamily="34" charset="0"/>
                <a:ea typeface="Calibri" pitchFamily="34" charset="-122"/>
                <a:cs typeface="Calibri" pitchFamily="34" charset="-120"/>
              </a:rPr>
              <a:t>Q reception quality · I interference · D unmet demand (dead zones) — each summed over users, weighted by demand w_p</a:t>
            </a:r>
            <a:endParaRPr lang="en-US" sz="2200" dirty="0"/>
          </a:p>
          <a:p>
            <a:pPr indent="0" marL="0">
              <a:buNone/>
            </a:pPr>
            <a:r>
              <a:rPr lang="en-US" sz="1300" dirty="0">
                <a:solidFill>
                  <a:srgbClr val="A9B4D0"/>
                </a:solidFill>
                <a:latin typeface="Calibri" pitchFamily="34" charset="0"/>
                <a:ea typeface="Calibri" pitchFamily="34" charset="-122"/>
                <a:cs typeface="Calibri" pitchFamily="34" charset="-120"/>
              </a:rPr>
              <a:t>Our leaf cost is −U with α = 1.5 (coverage c·t), β = 1 (tᵀ I t), γ = 0.3 (tilt penalty Σt)</a:t>
            </a:r>
            <a:endParaRPr lang="en-US" sz="2200" dirty="0"/>
          </a:p>
        </p:txBody>
      </p:sp>
      <p:sp>
        <p:nvSpPr>
          <p:cNvPr id="12" name="Text 9"/>
          <p:cNvSpPr/>
          <p:nvPr/>
        </p:nvSpPr>
        <p:spPr>
          <a:xfrm>
            <a:off x="5212080" y="3429000"/>
            <a:ext cx="6583680" cy="2468880"/>
          </a:xfrm>
          <a:prstGeom prst="rect">
            <a:avLst/>
          </a:prstGeom>
          <a:noFill/>
          <a:ln/>
        </p:spPr>
        <p:txBody>
          <a:bodyPr wrap="square" lIns="635" tIns="635" rIns="635" bIns="635" rtlCol="0" anchor="t"/>
          <a:lstStyle/>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The operator has spatial demand data: where the users are, where the dead zones are</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Each sector antenna gets one down-tilt; tilting down cuts interference on neighbours but shrinks coverage</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Every interaction region has its own optimum, and a city has thousands of regions</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Two ways to fail: one plan for the whole network (too coarse) or one job per region (too many jobs) → the hierarchy on the next slide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3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3 / 13   |   ARCHITECTURE</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Whole network: k-means groups, one QAOA job per group</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group_kmeans_grid.png">    </p:cNvPr>
          <p:cNvPicPr>
            <a:picLocks noChangeAspect="1"/>
          </p:cNvPicPr>
          <p:nvPr/>
        </p:nvPicPr>
        <p:blipFill>
          <a:blip r:embed="rId1"/>
          <a:stretch>
            <a:fillRect/>
          </a:stretch>
        </p:blipFill>
        <p:spPr>
          <a:xfrm>
            <a:off x="548640" y="1417320"/>
            <a:ext cx="3931920" cy="3566160"/>
          </a:xfrm>
          <a:prstGeom prst="rect">
            <a:avLst/>
          </a:prstGeom>
        </p:spPr>
      </p:pic>
      <p:sp>
        <p:nvSpPr>
          <p:cNvPr id="9" name="Text 6"/>
          <p:cNvSpPr/>
          <p:nvPr/>
        </p:nvSpPr>
        <p:spPr>
          <a:xfrm>
            <a:off x="548640" y="5029200"/>
            <a:ext cx="402336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k-means (k = 5) on the toy network: 48 regions, 5 colours = 5 groups = 5 QAOA jobs.</a:t>
            </a:r>
            <a:endParaRPr lang="en-US" sz="1050" dirty="0"/>
          </a:p>
        </p:txBody>
      </p:sp>
      <p:sp>
        <p:nvSpPr>
          <p:cNvPr id="10" name="Shape 7"/>
          <p:cNvSpPr/>
          <p:nvPr/>
        </p:nvSpPr>
        <p:spPr>
          <a:xfrm>
            <a:off x="4846320" y="1463040"/>
            <a:ext cx="2103120" cy="1051560"/>
          </a:xfrm>
          <a:prstGeom prst="roundRect">
            <a:avLst>
              <a:gd name="adj" fmla="val 5217"/>
            </a:avLst>
          </a:prstGeom>
          <a:solidFill>
            <a:srgbClr val="141B33"/>
          </a:solidFill>
          <a:ln w="12700">
            <a:solidFill>
              <a:srgbClr val="141B33"/>
            </a:solidFill>
            <a:prstDash val="solid"/>
          </a:ln>
        </p:spPr>
      </p:sp>
      <p:sp>
        <p:nvSpPr>
          <p:cNvPr id="11" name="Text 8"/>
          <p:cNvSpPr/>
          <p:nvPr/>
        </p:nvSpPr>
        <p:spPr>
          <a:xfrm>
            <a:off x="4919472" y="1463040"/>
            <a:ext cx="1956816" cy="1051560"/>
          </a:xfrm>
          <a:prstGeom prst="rect">
            <a:avLst/>
          </a:prstGeom>
          <a:noFill/>
          <a:ln/>
        </p:spPr>
        <p:txBody>
          <a:bodyPr wrap="square" lIns="381" tIns="381" rIns="381" bIns="381" rtlCol="0" anchor="ctr"/>
          <a:lstStyle/>
          <a:p>
            <a:pPr indent="0" marL="0">
              <a:buNone/>
            </a:pPr>
            <a:r>
              <a:rPr lang="en-US" sz="1200" b="1" dirty="0">
                <a:solidFill>
                  <a:srgbClr val="2BD4C2"/>
                </a:solidFill>
                <a:latin typeface="Calibri" pitchFamily="34" charset="0"/>
                <a:ea typeface="Calibri" pitchFamily="34" charset="-122"/>
                <a:cs typeface="Calibri" pitchFamily="34" charset="-120"/>
              </a:rPr>
              <a:t>1  Network data</a:t>
            </a:r>
            <a:endParaRPr lang="en-US" sz="1200" dirty="0"/>
          </a:p>
          <a:p>
            <a:pPr indent="0" marL="0">
              <a:buNone/>
            </a:pPr>
            <a:r>
              <a:rPr lang="en-US" sz="1050" dirty="0">
                <a:solidFill>
                  <a:srgbClr val="F5F7FF"/>
                </a:solidFill>
                <a:latin typeface="Calibri" pitchFamily="34" charset="0"/>
                <a:ea typeface="Calibri" pitchFamily="34" charset="-122"/>
                <a:cs typeface="Calibri" pitchFamily="34" charset="-120"/>
              </a:rPr>
              <a:t>users, demand, dead zones → feature vector x_r per region</a:t>
            </a:r>
            <a:endParaRPr lang="en-US" sz="1200" dirty="0"/>
          </a:p>
        </p:txBody>
      </p:sp>
      <p:sp>
        <p:nvSpPr>
          <p:cNvPr id="12" name="Shape 9"/>
          <p:cNvSpPr/>
          <p:nvPr/>
        </p:nvSpPr>
        <p:spPr>
          <a:xfrm>
            <a:off x="7269480" y="1463040"/>
            <a:ext cx="2103120" cy="1051560"/>
          </a:xfrm>
          <a:prstGeom prst="roundRect">
            <a:avLst>
              <a:gd name="adj" fmla="val 5217"/>
            </a:avLst>
          </a:prstGeom>
          <a:solidFill>
            <a:srgbClr val="141B33"/>
          </a:solidFill>
          <a:ln w="12700">
            <a:solidFill>
              <a:srgbClr val="141B33"/>
            </a:solidFill>
            <a:prstDash val="solid"/>
          </a:ln>
        </p:spPr>
      </p:sp>
      <p:sp>
        <p:nvSpPr>
          <p:cNvPr id="13" name="Text 10"/>
          <p:cNvSpPr/>
          <p:nvPr/>
        </p:nvSpPr>
        <p:spPr>
          <a:xfrm>
            <a:off x="7342632" y="1463040"/>
            <a:ext cx="1956816" cy="1051560"/>
          </a:xfrm>
          <a:prstGeom prst="rect">
            <a:avLst/>
          </a:prstGeom>
          <a:noFill/>
          <a:ln/>
        </p:spPr>
        <p:txBody>
          <a:bodyPr wrap="square" lIns="381" tIns="381" rIns="381" bIns="381" rtlCol="0" anchor="ctr"/>
          <a:lstStyle/>
          <a:p>
            <a:pPr indent="0" marL="0">
              <a:buNone/>
            </a:pPr>
            <a:r>
              <a:rPr lang="en-US" sz="1200" b="1" dirty="0">
                <a:solidFill>
                  <a:srgbClr val="2BD4C2"/>
                </a:solidFill>
                <a:latin typeface="Calibri" pitchFamily="34" charset="0"/>
                <a:ea typeface="Calibri" pitchFamily="34" charset="-122"/>
                <a:cs typeface="Calibri" pitchFamily="34" charset="-120"/>
              </a:rPr>
              <a:t>2  k-means, k = 5</a:t>
            </a:r>
            <a:endParaRPr lang="en-US" sz="1200" dirty="0"/>
          </a:p>
          <a:p>
            <a:pPr indent="0" marL="0">
              <a:buNone/>
            </a:pPr>
            <a:r>
              <a:rPr lang="en-US" sz="1050" dirty="0">
                <a:solidFill>
                  <a:srgbClr val="F5F7FF"/>
                </a:solidFill>
                <a:latin typeface="Calibri" pitchFamily="34" charset="0"/>
                <a:ea typeface="Calibri" pitchFamily="34" charset="-122"/>
                <a:cs typeface="Calibri" pitchFamily="34" charset="-120"/>
              </a:rPr>
              <a:t>regions with similar x_r share one group G_1 … G_5</a:t>
            </a:r>
            <a:endParaRPr lang="en-US" sz="1200" dirty="0"/>
          </a:p>
        </p:txBody>
      </p:sp>
      <p:sp>
        <p:nvSpPr>
          <p:cNvPr id="14" name="Shape 11"/>
          <p:cNvSpPr/>
          <p:nvPr/>
        </p:nvSpPr>
        <p:spPr>
          <a:xfrm>
            <a:off x="9692640" y="1463040"/>
            <a:ext cx="2103120" cy="1051560"/>
          </a:xfrm>
          <a:prstGeom prst="roundRect">
            <a:avLst>
              <a:gd name="adj" fmla="val 5217"/>
            </a:avLst>
          </a:prstGeom>
          <a:solidFill>
            <a:srgbClr val="141B33"/>
          </a:solidFill>
          <a:ln w="12700">
            <a:solidFill>
              <a:srgbClr val="141B33"/>
            </a:solidFill>
            <a:prstDash val="solid"/>
          </a:ln>
        </p:spPr>
      </p:sp>
      <p:sp>
        <p:nvSpPr>
          <p:cNvPr id="15" name="Text 12"/>
          <p:cNvSpPr/>
          <p:nvPr/>
        </p:nvSpPr>
        <p:spPr>
          <a:xfrm>
            <a:off x="9765792" y="1463040"/>
            <a:ext cx="1956816" cy="1051560"/>
          </a:xfrm>
          <a:prstGeom prst="rect">
            <a:avLst/>
          </a:prstGeom>
          <a:noFill/>
          <a:ln/>
        </p:spPr>
        <p:txBody>
          <a:bodyPr wrap="square" lIns="381" tIns="381" rIns="381" bIns="381" rtlCol="0" anchor="ctr"/>
          <a:lstStyle/>
          <a:p>
            <a:pPr indent="0" marL="0">
              <a:buNone/>
            </a:pPr>
            <a:r>
              <a:rPr lang="en-US" sz="1200" b="1" dirty="0">
                <a:solidFill>
                  <a:srgbClr val="2BD4C2"/>
                </a:solidFill>
                <a:latin typeface="Calibri" pitchFamily="34" charset="0"/>
                <a:ea typeface="Calibri" pitchFamily="34" charset="-122"/>
                <a:cs typeface="Calibri" pitchFamily="34" charset="-120"/>
              </a:rPr>
              <a:t>3  Group utility U_j</a:t>
            </a:r>
            <a:endParaRPr lang="en-US" sz="1200" dirty="0"/>
          </a:p>
          <a:p>
            <a:pPr indent="0" marL="0">
              <a:buNone/>
            </a:pPr>
            <a:r>
              <a:rPr lang="en-US" sz="1050" dirty="0">
                <a:solidFill>
                  <a:srgbClr val="F5F7FF"/>
                </a:solidFill>
                <a:latin typeface="Calibri" pitchFamily="34" charset="0"/>
                <a:ea typeface="Calibri" pitchFamily="34" charset="-122"/>
                <a:cs typeface="Calibri" pitchFamily="34" charset="-120"/>
              </a:rPr>
              <a:t>aggregate demand per group → one cost Hamiltonian H_C per group</a:t>
            </a:r>
            <a:endParaRPr lang="en-US" sz="1200" dirty="0"/>
          </a:p>
        </p:txBody>
      </p:sp>
      <p:sp>
        <p:nvSpPr>
          <p:cNvPr id="16" name="Shape 13"/>
          <p:cNvSpPr/>
          <p:nvPr/>
        </p:nvSpPr>
        <p:spPr>
          <a:xfrm>
            <a:off x="9692640" y="2834640"/>
            <a:ext cx="2103120" cy="1051560"/>
          </a:xfrm>
          <a:prstGeom prst="roundRect">
            <a:avLst>
              <a:gd name="adj" fmla="val 5217"/>
            </a:avLst>
          </a:prstGeom>
          <a:solidFill>
            <a:srgbClr val="141B33"/>
          </a:solidFill>
          <a:ln w="12700">
            <a:solidFill>
              <a:srgbClr val="141B33"/>
            </a:solidFill>
            <a:prstDash val="solid"/>
          </a:ln>
        </p:spPr>
      </p:sp>
      <p:sp>
        <p:nvSpPr>
          <p:cNvPr id="17" name="Text 14"/>
          <p:cNvSpPr/>
          <p:nvPr/>
        </p:nvSpPr>
        <p:spPr>
          <a:xfrm>
            <a:off x="9765792" y="2834640"/>
            <a:ext cx="1956816" cy="1051560"/>
          </a:xfrm>
          <a:prstGeom prst="rect">
            <a:avLst/>
          </a:prstGeom>
          <a:noFill/>
          <a:ln/>
        </p:spPr>
        <p:txBody>
          <a:bodyPr wrap="square" lIns="381" tIns="381" rIns="381" bIns="381" rtlCol="0" anchor="ctr"/>
          <a:lstStyle/>
          <a:p>
            <a:pPr indent="0" marL="0">
              <a:buNone/>
            </a:pPr>
            <a:r>
              <a:rPr lang="en-US" sz="1200" b="1" dirty="0">
                <a:solidFill>
                  <a:srgbClr val="2BD4C2"/>
                </a:solidFill>
                <a:latin typeface="Calibri" pitchFamily="34" charset="0"/>
                <a:ea typeface="Calibri" pitchFamily="34" charset="-122"/>
                <a:cs typeface="Calibri" pitchFamily="34" charset="-120"/>
              </a:rPr>
              <a:t>4  QAOA on Classiq</a:t>
            </a:r>
            <a:endParaRPr lang="en-US" sz="1200" dirty="0"/>
          </a:p>
          <a:p>
            <a:pPr indent="0" marL="0">
              <a:buNone/>
            </a:pPr>
            <a:r>
              <a:rPr lang="en-US" sz="1050" dirty="0">
                <a:solidFill>
                  <a:srgbClr val="F5F7FF"/>
                </a:solidFill>
                <a:latin typeface="Calibri" pitchFamily="34" charset="0"/>
                <a:ea typeface="Calibri" pitchFamily="34" charset="-122"/>
                <a:cs typeface="Calibri" pitchFamily="34" charset="-120"/>
              </a:rPr>
              <a:t>2 qubits per sector, angles warm-started from Wolfram (our leaf, next slides)</a:t>
            </a:r>
            <a:endParaRPr lang="en-US" sz="1200" dirty="0"/>
          </a:p>
        </p:txBody>
      </p:sp>
      <p:sp>
        <p:nvSpPr>
          <p:cNvPr id="18" name="Shape 15"/>
          <p:cNvSpPr/>
          <p:nvPr/>
        </p:nvSpPr>
        <p:spPr>
          <a:xfrm>
            <a:off x="7269480" y="2834640"/>
            <a:ext cx="2103120" cy="1051560"/>
          </a:xfrm>
          <a:prstGeom prst="roundRect">
            <a:avLst>
              <a:gd name="adj" fmla="val 5217"/>
            </a:avLst>
          </a:prstGeom>
          <a:solidFill>
            <a:srgbClr val="141B33"/>
          </a:solidFill>
          <a:ln w="12700">
            <a:solidFill>
              <a:srgbClr val="141B33"/>
            </a:solidFill>
            <a:prstDash val="solid"/>
          </a:ln>
        </p:spPr>
      </p:sp>
      <p:sp>
        <p:nvSpPr>
          <p:cNvPr id="19" name="Text 16"/>
          <p:cNvSpPr/>
          <p:nvPr/>
        </p:nvSpPr>
        <p:spPr>
          <a:xfrm>
            <a:off x="7342632" y="2834640"/>
            <a:ext cx="1956816" cy="1051560"/>
          </a:xfrm>
          <a:prstGeom prst="rect">
            <a:avLst/>
          </a:prstGeom>
          <a:noFill/>
          <a:ln/>
        </p:spPr>
        <p:txBody>
          <a:bodyPr wrap="square" lIns="381" tIns="381" rIns="381" bIns="381" rtlCol="0" anchor="ctr"/>
          <a:lstStyle/>
          <a:p>
            <a:pPr indent="0" marL="0">
              <a:buNone/>
            </a:pPr>
            <a:r>
              <a:rPr lang="en-US" sz="1200" b="1" dirty="0">
                <a:solidFill>
                  <a:srgbClr val="2BD4C2"/>
                </a:solidFill>
                <a:latin typeface="Calibri" pitchFamily="34" charset="0"/>
                <a:ea typeface="Calibri" pitchFamily="34" charset="-122"/>
                <a:cs typeface="Calibri" pitchFamily="34" charset="-120"/>
              </a:rPr>
              <a:t>5  Assign + evaluate</a:t>
            </a:r>
            <a:endParaRPr lang="en-US" sz="1200" dirty="0"/>
          </a:p>
          <a:p>
            <a:pPr indent="0" marL="0">
              <a:buNone/>
            </a:pPr>
            <a:r>
              <a:rPr lang="en-US" sz="1050" dirty="0">
                <a:solidFill>
                  <a:srgbClr val="F5F7FF"/>
                </a:solidFill>
                <a:latin typeface="Calibri" pitchFamily="34" charset="0"/>
                <a:ea typeface="Calibri" pitchFamily="34" charset="-122"/>
                <a:cs typeface="Calibri" pitchFamily="34" charset="-120"/>
              </a:rPr>
              <a:t>argmin plan to every region of the group; compute global U</a:t>
            </a:r>
            <a:endParaRPr lang="en-US" sz="1200" dirty="0"/>
          </a:p>
        </p:txBody>
      </p:sp>
      <p:sp>
        <p:nvSpPr>
          <p:cNvPr id="20" name="Shape 17"/>
          <p:cNvSpPr/>
          <p:nvPr/>
        </p:nvSpPr>
        <p:spPr>
          <a:xfrm>
            <a:off x="4846320" y="2834640"/>
            <a:ext cx="2103120" cy="1051560"/>
          </a:xfrm>
          <a:prstGeom prst="roundRect">
            <a:avLst>
              <a:gd name="adj" fmla="val 5217"/>
            </a:avLst>
          </a:prstGeom>
          <a:solidFill>
            <a:srgbClr val="141B33"/>
          </a:solidFill>
          <a:ln w="12700">
            <a:solidFill>
              <a:srgbClr val="141B33"/>
            </a:solidFill>
            <a:prstDash val="solid"/>
          </a:ln>
        </p:spPr>
      </p:sp>
      <p:sp>
        <p:nvSpPr>
          <p:cNvPr id="21" name="Text 18"/>
          <p:cNvSpPr/>
          <p:nvPr/>
        </p:nvSpPr>
        <p:spPr>
          <a:xfrm>
            <a:off x="4919472" y="2834640"/>
            <a:ext cx="1956816" cy="1051560"/>
          </a:xfrm>
          <a:prstGeom prst="rect">
            <a:avLst/>
          </a:prstGeom>
          <a:noFill/>
          <a:ln/>
        </p:spPr>
        <p:txBody>
          <a:bodyPr wrap="square" lIns="381" tIns="381" rIns="381" bIns="381" rtlCol="0" anchor="ctr"/>
          <a:lstStyle/>
          <a:p>
            <a:pPr indent="0" marL="0">
              <a:buNone/>
            </a:pPr>
            <a:r>
              <a:rPr lang="en-US" sz="1200" b="1" dirty="0">
                <a:solidFill>
                  <a:srgbClr val="2BD4C2"/>
                </a:solidFill>
                <a:latin typeface="Calibri" pitchFamily="34" charset="0"/>
                <a:ea typeface="Calibri" pitchFamily="34" charset="-122"/>
                <a:cs typeface="Calibri" pitchFamily="34" charset="-120"/>
              </a:rPr>
              <a:t>6  Refine</a:t>
            </a:r>
            <a:endParaRPr lang="en-US" sz="1200" dirty="0"/>
          </a:p>
          <a:p>
            <a:pPr indent="0" marL="0">
              <a:buNone/>
            </a:pPr>
            <a:r>
              <a:rPr lang="en-US" sz="1050" dirty="0">
                <a:solidFill>
                  <a:srgbClr val="F5F7FF"/>
                </a:solidFill>
                <a:latin typeface="Calibri" pitchFamily="34" charset="0"/>
                <a:ea typeface="Calibri" pitchFamily="34" charset="-122"/>
                <a:cs typeface="Calibri" pitchFamily="34" charset="-120"/>
              </a:rPr>
              <a:t>re-cluster the group with the most variation; stop when ΔU ≈ 0</a:t>
            </a:r>
            <a:endParaRPr lang="en-US" sz="1200" dirty="0"/>
          </a:p>
        </p:txBody>
      </p:sp>
      <p:sp>
        <p:nvSpPr>
          <p:cNvPr id="22" name="Shape 19"/>
          <p:cNvSpPr/>
          <p:nvPr/>
        </p:nvSpPr>
        <p:spPr>
          <a:xfrm>
            <a:off x="6949440" y="1988820"/>
            <a:ext cx="320040" cy="914"/>
          </a:xfrm>
          <a:prstGeom prst="line">
            <a:avLst/>
          </a:prstGeom>
          <a:noFill/>
          <a:ln w="19050">
            <a:solidFill>
              <a:srgbClr val="2BD4C2"/>
            </a:solidFill>
            <a:prstDash val="solid"/>
            <a:tailEnd type="triangle"/>
          </a:ln>
        </p:spPr>
      </p:sp>
      <p:sp>
        <p:nvSpPr>
          <p:cNvPr id="23" name="Shape 20"/>
          <p:cNvSpPr/>
          <p:nvPr/>
        </p:nvSpPr>
        <p:spPr>
          <a:xfrm>
            <a:off x="9372600" y="1988820"/>
            <a:ext cx="320040" cy="914"/>
          </a:xfrm>
          <a:prstGeom prst="line">
            <a:avLst/>
          </a:prstGeom>
          <a:noFill/>
          <a:ln w="19050">
            <a:solidFill>
              <a:srgbClr val="2BD4C2"/>
            </a:solidFill>
            <a:prstDash val="solid"/>
            <a:tailEnd type="triangle"/>
          </a:ln>
        </p:spPr>
      </p:sp>
      <p:sp>
        <p:nvSpPr>
          <p:cNvPr id="24" name="Shape 21"/>
          <p:cNvSpPr/>
          <p:nvPr/>
        </p:nvSpPr>
        <p:spPr>
          <a:xfrm>
            <a:off x="10744200" y="2514600"/>
            <a:ext cx="914" cy="320040"/>
          </a:xfrm>
          <a:prstGeom prst="line">
            <a:avLst/>
          </a:prstGeom>
          <a:noFill/>
          <a:ln w="19050">
            <a:solidFill>
              <a:srgbClr val="2BD4C2"/>
            </a:solidFill>
            <a:prstDash val="solid"/>
            <a:tailEnd type="triangle"/>
          </a:ln>
        </p:spPr>
      </p:sp>
      <p:sp>
        <p:nvSpPr>
          <p:cNvPr id="25" name="Shape 22"/>
          <p:cNvSpPr/>
          <p:nvPr/>
        </p:nvSpPr>
        <p:spPr>
          <a:xfrm>
            <a:off x="9372600" y="3360420"/>
            <a:ext cx="320040" cy="914"/>
          </a:xfrm>
          <a:prstGeom prst="line">
            <a:avLst/>
          </a:prstGeom>
          <a:noFill/>
          <a:ln w="19050">
            <a:solidFill>
              <a:srgbClr val="2BD4C2"/>
            </a:solidFill>
            <a:prstDash val="solid"/>
            <a:headEnd type="triangle"/>
          </a:ln>
        </p:spPr>
      </p:sp>
      <p:sp>
        <p:nvSpPr>
          <p:cNvPr id="26" name="Shape 23"/>
          <p:cNvSpPr/>
          <p:nvPr/>
        </p:nvSpPr>
        <p:spPr>
          <a:xfrm>
            <a:off x="6949440" y="3360420"/>
            <a:ext cx="320040" cy="914"/>
          </a:xfrm>
          <a:prstGeom prst="line">
            <a:avLst/>
          </a:prstGeom>
          <a:noFill/>
          <a:ln w="19050">
            <a:solidFill>
              <a:srgbClr val="2BD4C2"/>
            </a:solidFill>
            <a:prstDash val="solid"/>
            <a:headEnd type="triangle"/>
          </a:ln>
        </p:spPr>
      </p:sp>
      <p:sp>
        <p:nvSpPr>
          <p:cNvPr id="27" name="Shape 24"/>
          <p:cNvSpPr/>
          <p:nvPr/>
        </p:nvSpPr>
        <p:spPr>
          <a:xfrm>
            <a:off x="5897880" y="2514600"/>
            <a:ext cx="914" cy="320040"/>
          </a:xfrm>
          <a:prstGeom prst="line">
            <a:avLst/>
          </a:prstGeom>
          <a:noFill/>
          <a:ln w="19050">
            <a:solidFill>
              <a:srgbClr val="2BD4C2"/>
            </a:solidFill>
            <a:prstDash val="solid"/>
            <a:headEnd type="triangle"/>
          </a:ln>
        </p:spPr>
      </p:sp>
      <p:sp>
        <p:nvSpPr>
          <p:cNvPr id="28" name="Shape 25"/>
          <p:cNvSpPr/>
          <p:nvPr/>
        </p:nvSpPr>
        <p:spPr>
          <a:xfrm>
            <a:off x="4846320" y="4114800"/>
            <a:ext cx="6949440" cy="1234440"/>
          </a:xfrm>
          <a:prstGeom prst="roundRect">
            <a:avLst>
              <a:gd name="adj" fmla="val 5926"/>
            </a:avLst>
          </a:prstGeom>
          <a:solidFill>
            <a:srgbClr val="141B33"/>
          </a:solidFill>
          <a:ln w="12700">
            <a:solidFill>
              <a:srgbClr val="141B33"/>
            </a:solidFill>
            <a:prstDash val="solid"/>
          </a:ln>
        </p:spPr>
      </p:sp>
      <p:sp>
        <p:nvSpPr>
          <p:cNvPr id="29" name="Text 26"/>
          <p:cNvSpPr/>
          <p:nvPr/>
        </p:nvSpPr>
        <p:spPr>
          <a:xfrm>
            <a:off x="4983480" y="4160520"/>
            <a:ext cx="6675120" cy="1143000"/>
          </a:xfrm>
          <a:prstGeom prst="rect">
            <a:avLst/>
          </a:prstGeom>
          <a:noFill/>
          <a:ln/>
        </p:spPr>
        <p:txBody>
          <a:bodyPr wrap="square" lIns="635" tIns="635" rIns="635" bIns="635" rtlCol="0" anchor="t"/>
          <a:lstStyle/>
          <a:p>
            <a:pPr indent="0" marL="0">
              <a:buNone/>
            </a:pPr>
            <a:r>
              <a:rPr lang="en-US" sz="1300" b="1" dirty="0">
                <a:solidFill>
                  <a:srgbClr val="2BD4C2"/>
                </a:solidFill>
                <a:latin typeface="Calibri" pitchFamily="34" charset="0"/>
                <a:ea typeface="Calibri" pitchFamily="34" charset="-122"/>
                <a:cs typeface="Calibri" pitchFamily="34" charset="-120"/>
              </a:rPr>
              <a:t>Two stated assumptions</a:t>
            </a:r>
            <a:endParaRPr lang="en-US" sz="1300" dirty="0"/>
          </a:p>
          <a:p>
            <a:pPr indent="0" marL="0">
              <a:buNone/>
            </a:pPr>
            <a:r>
              <a:rPr lang="en-US" sz="1150" dirty="0">
                <a:solidFill>
                  <a:srgbClr val="F5F7FF"/>
                </a:solidFill>
                <a:latin typeface="Calibri" pitchFamily="34" charset="0"/>
                <a:ea typeface="Calibri" pitchFamily="34" charset="-122"/>
                <a:cs typeface="Calibri" pitchFamily="34" charset="-120"/>
              </a:rPr>
              <a:t>1. Regions in one group are similar enough to share a coarse plan — step 6 relaxes this level by level (5 → 25 → 125 groups).</a:t>
            </a:r>
            <a:endParaRPr lang="en-US" sz="1300" dirty="0"/>
          </a:p>
          <a:p>
            <a:pPr indent="0" marL="0">
              <a:buNone/>
            </a:pPr>
            <a:r>
              <a:rPr lang="en-US" sz="1150" dirty="0">
                <a:solidFill>
                  <a:srgbClr val="F5F7FF"/>
                </a:solidFill>
                <a:latin typeface="Calibri" pitchFamily="34" charset="0"/>
                <a:ea typeface="Calibri" pitchFamily="34" charset="-122"/>
                <a:cs typeface="Calibri" pitchFamily="34" charset="-120"/>
              </a:rPr>
              <a:t>2. Interference between groups is ignored at each level — fixed by re-optimising boundary antennas with neighbours held fixed.</a:t>
            </a:r>
            <a:endParaRPr lang="en-US" sz="1300" dirty="0"/>
          </a:p>
        </p:txBody>
      </p:sp>
      <p:sp>
        <p:nvSpPr>
          <p:cNvPr id="30" name="Shape 27"/>
          <p:cNvSpPr/>
          <p:nvPr/>
        </p:nvSpPr>
        <p:spPr>
          <a:xfrm>
            <a:off x="548640" y="5486400"/>
            <a:ext cx="11247120" cy="502920"/>
          </a:xfrm>
          <a:prstGeom prst="roundRect">
            <a:avLst>
              <a:gd name="adj" fmla="val 10909"/>
            </a:avLst>
          </a:prstGeom>
          <a:solidFill>
            <a:srgbClr val="7C5CFF"/>
          </a:solidFill>
          <a:ln w="12700">
            <a:solidFill>
              <a:srgbClr val="7C5CFF"/>
            </a:solidFill>
            <a:prstDash val="solid"/>
          </a:ln>
        </p:spPr>
      </p:sp>
      <p:sp>
        <p:nvSpPr>
          <p:cNvPr id="31" name="Text 28"/>
          <p:cNvSpPr/>
          <p:nvPr/>
        </p:nvSpPr>
        <p:spPr>
          <a:xfrm>
            <a:off x="640080" y="5486400"/>
            <a:ext cx="11064240" cy="502920"/>
          </a:xfrm>
          <a:prstGeom prst="rect">
            <a:avLst/>
          </a:prstGeom>
          <a:noFill/>
          <a:ln/>
        </p:spPr>
        <p:txBody>
          <a:bodyPr wrap="square" lIns="381" tIns="381" rIns="381" bIns="381" rtlCol="0" anchor="ctr"/>
          <a:lstStyle/>
          <a:p>
            <a:pPr indent="0" marL="0">
              <a:buNone/>
            </a:pPr>
            <a:r>
              <a:rPr lang="en-US" sz="1150" dirty="0">
                <a:solidFill>
                  <a:srgbClr val="F5F7FF"/>
                </a:solidFill>
                <a:latin typeface="Calibri" pitchFamily="34" charset="0"/>
                <a:ea typeface="Calibri" pitchFamily="34" charset="-122"/>
                <a:cs typeface="Calibri" pitchFamily="34" charset="-120"/>
              </a:rPr>
              <a:t>Quantum work only where resolution is needed: ≤ 25 jobs per level = two batches of 15 parallel Classiq jobs. Classical: k-means + aggregation. Quantum: one warm-started QAOA per group.</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4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4 / 13   |   LEAF PROBLEM</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One leaf of the tree: 6 real Tel Aviv antennas, one down-tilt each</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map_small.jpg">    </p:cNvPr>
          <p:cNvPicPr>
            <a:picLocks noChangeAspect="1"/>
          </p:cNvPicPr>
          <p:nvPr/>
        </p:nvPicPr>
        <p:blipFill>
          <a:blip r:embed="rId1"/>
          <a:stretch>
            <a:fillRect/>
          </a:stretch>
        </p:blipFill>
        <p:spPr>
          <a:xfrm>
            <a:off x="548640" y="1417320"/>
            <a:ext cx="6949440" cy="3502152"/>
          </a:xfrm>
          <a:prstGeom prst="rect">
            <a:avLst/>
          </a:prstGeom>
        </p:spPr>
      </p:pic>
      <p:sp>
        <p:nvSpPr>
          <p:cNvPr id="9" name="Text 6"/>
          <p:cNvSpPr/>
          <p:nvPr/>
        </p:nvSpPr>
        <p:spPr>
          <a:xfrm>
            <a:off x="548640" y="4956048"/>
            <a:ext cx="694944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Two real 3-sector sites from OpenCelliD (Ayalon, Tel Aviv). Left: all tilts 0. Right: optimum plan — only A1 tilts to level 3.</a:t>
            </a:r>
            <a:endParaRPr lang="en-US" sz="1050" dirty="0"/>
          </a:p>
        </p:txBody>
      </p:sp>
      <p:sp>
        <p:nvSpPr>
          <p:cNvPr id="10" name="Text 7"/>
          <p:cNvSpPr/>
          <p:nvPr/>
        </p:nvSpPr>
        <p:spPr>
          <a:xfrm>
            <a:off x="7772400" y="1463040"/>
            <a:ext cx="4023360" cy="4206240"/>
          </a:xfrm>
          <a:prstGeom prst="rect">
            <a:avLst/>
          </a:prstGeom>
          <a:noFill/>
          <a:ln/>
        </p:spPr>
        <p:txBody>
          <a:bodyPr wrap="square" lIns="635" tIns="635" rIns="635" bIns="635" rtlCol="0" anchor="t"/>
          <a:lstStyle/>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6 sector antennas A0…A5, 4 tilt levels each → 4⁶ = 4096 plans</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Tilting down: less interference on neighbours, less coverage</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Cost(t) = tᵀ I t − 1.5 · c·t + 0.3 · Σt   (interference − coverage + penalty)</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Classical brute force: unique optimum −2.844 at (0,3,0,0,0,0)</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Real networks: 100s of antennas × 10 levels → intractable → quantum</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5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5 / 13   |   MODEL</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Encoding: 2 qubits per antenna, 12 qubits total</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sp>
        <p:nvSpPr>
          <p:cNvPr id="8" name="Shape 6"/>
          <p:cNvSpPr/>
          <p:nvPr/>
        </p:nvSpPr>
        <p:spPr>
          <a:xfrm>
            <a:off x="548640" y="1463040"/>
            <a:ext cx="5486400" cy="2148840"/>
          </a:xfrm>
          <a:prstGeom prst="roundRect">
            <a:avLst>
              <a:gd name="adj" fmla="val 3404"/>
            </a:avLst>
          </a:prstGeom>
          <a:solidFill>
            <a:srgbClr val="141B33"/>
          </a:solidFill>
          <a:ln w="12700">
            <a:solidFill>
              <a:srgbClr val="141B33"/>
            </a:solidFill>
            <a:prstDash val="solid"/>
          </a:ln>
        </p:spPr>
      </p:sp>
      <p:sp>
        <p:nvSpPr>
          <p:cNvPr id="9" name="Text 7"/>
          <p:cNvSpPr/>
          <p:nvPr/>
        </p:nvSpPr>
        <p:spPr>
          <a:xfrm>
            <a:off x="731520" y="1554480"/>
            <a:ext cx="5120640" cy="1965960"/>
          </a:xfrm>
          <a:prstGeom prst="rect">
            <a:avLst/>
          </a:prstGeom>
          <a:noFill/>
          <a:ln/>
        </p:spPr>
        <p:txBody>
          <a:bodyPr wrap="square" lIns="635" tIns="635" rIns="635" bIns="635" rtlCol="0" anchor="ctr"/>
          <a:lstStyle/>
          <a:p>
            <a:pPr indent="0" marL="0">
              <a:buNone/>
            </a:pPr>
            <a:r>
              <a:rPr lang="en-US" sz="2000" b="1" dirty="0">
                <a:solidFill>
                  <a:srgbClr val="2BD4C2"/>
                </a:solidFill>
                <a:latin typeface="Calibri" pitchFamily="34" charset="0"/>
                <a:ea typeface="Calibri" pitchFamily="34" charset="-122"/>
                <a:cs typeface="Calibri" pitchFamily="34" charset="-120"/>
              </a:rPr>
              <a:t>tiltᵢ = q₂ᵢ + 2·q₂ᵢ₊₁ ∈ {0,1,2,3}</a:t>
            </a:r>
            <a:endParaRPr lang="en-US" sz="2000" dirty="0"/>
          </a:p>
          <a:p>
            <a:pPr indent="0" marL="0">
              <a:buNone/>
            </a:pPr>
            <a:r>
              <a:rPr lang="en-US" sz="1400" dirty="0">
                <a:solidFill>
                  <a:srgbClr val="F5F7FF"/>
                </a:solidFill>
                <a:latin typeface="Calibri" pitchFamily="34" charset="0"/>
                <a:ea typeface="Calibri" pitchFamily="34" charset="-122"/>
                <a:cs typeface="Calibri" pitchFamily="34" charset="-120"/>
              </a:rPr>
              <a:t>qᵢ = (1 − Zᵢ)/2  →  Cost becomes a Pauli-Z polynomial</a:t>
            </a:r>
            <a:endParaRPr lang="en-US" sz="2000" dirty="0"/>
          </a:p>
          <a:p>
            <a:pPr indent="0" marL="0">
              <a:buNone/>
            </a:pPr>
            <a:r>
              <a:rPr lang="en-US" sz="1800" b="1" dirty="0">
                <a:solidFill>
                  <a:srgbClr val="F5F7FF"/>
                </a:solidFill>
                <a:latin typeface="Calibri" pitchFamily="34" charset="0"/>
                <a:ea typeface="Calibri" pitchFamily="34" charset="-122"/>
                <a:cs typeface="Calibri" pitchFamily="34" charset="-120"/>
              </a:rPr>
              <a:t>H_C = c₀·I + Σ hᵢ Zᵢ + Σ Jᵢⱼ ZᵢZⱼ</a:t>
            </a:r>
            <a:endParaRPr lang="en-US" sz="2000" dirty="0"/>
          </a:p>
          <a:p>
            <a:pPr indent="0" marL="0">
              <a:buNone/>
            </a:pPr>
            <a:r>
              <a:rPr lang="en-US" sz="1400" dirty="0">
                <a:solidFill>
                  <a:srgbClr val="A9B4D0"/>
                </a:solidFill>
                <a:latin typeface="Calibri" pitchFamily="34" charset="0"/>
                <a:ea typeface="Calibri" pitchFamily="34" charset="-122"/>
                <a:cs typeface="Calibri" pitchFamily="34" charset="-120"/>
              </a:rPr>
              <a:t>73 terms: 1 identity + 12 Z + 60 ZZ — strictly 2-local, no ZZZ</a:t>
            </a:r>
            <a:endParaRPr lang="en-US" sz="2000" dirty="0"/>
          </a:p>
        </p:txBody>
      </p:sp>
      <p:sp>
        <p:nvSpPr>
          <p:cNvPr id="10" name="Shape 8"/>
          <p:cNvSpPr/>
          <p:nvPr/>
        </p:nvSpPr>
        <p:spPr>
          <a:xfrm>
            <a:off x="548640" y="3840480"/>
            <a:ext cx="1737360" cy="1234440"/>
          </a:xfrm>
          <a:prstGeom prst="roundRect">
            <a:avLst>
              <a:gd name="adj" fmla="val 5926"/>
            </a:avLst>
          </a:prstGeom>
          <a:solidFill>
            <a:srgbClr val="141B33"/>
          </a:solidFill>
          <a:ln w="12700">
            <a:solidFill>
              <a:srgbClr val="141B33"/>
            </a:solidFill>
            <a:prstDash val="solid"/>
          </a:ln>
        </p:spPr>
      </p:sp>
      <p:sp>
        <p:nvSpPr>
          <p:cNvPr id="11" name="Text 9"/>
          <p:cNvSpPr/>
          <p:nvPr/>
        </p:nvSpPr>
        <p:spPr>
          <a:xfrm>
            <a:off x="548640" y="3950208"/>
            <a:ext cx="17373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12</a:t>
            </a:r>
            <a:endParaRPr lang="en-US" sz="3000" dirty="0"/>
          </a:p>
        </p:txBody>
      </p:sp>
      <p:sp>
        <p:nvSpPr>
          <p:cNvPr id="12" name="Text 10"/>
          <p:cNvSpPr/>
          <p:nvPr/>
        </p:nvSpPr>
        <p:spPr>
          <a:xfrm>
            <a:off x="640080" y="4572000"/>
            <a:ext cx="15544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qubits</a:t>
            </a:r>
            <a:endParaRPr lang="en-US" sz="1100" dirty="0"/>
          </a:p>
        </p:txBody>
      </p:sp>
      <p:sp>
        <p:nvSpPr>
          <p:cNvPr id="13" name="Shape 11"/>
          <p:cNvSpPr/>
          <p:nvPr/>
        </p:nvSpPr>
        <p:spPr>
          <a:xfrm>
            <a:off x="2423160" y="3840480"/>
            <a:ext cx="1737360" cy="1234440"/>
          </a:xfrm>
          <a:prstGeom prst="roundRect">
            <a:avLst>
              <a:gd name="adj" fmla="val 5926"/>
            </a:avLst>
          </a:prstGeom>
          <a:solidFill>
            <a:srgbClr val="141B33"/>
          </a:solidFill>
          <a:ln w="12700">
            <a:solidFill>
              <a:srgbClr val="141B33"/>
            </a:solidFill>
            <a:prstDash val="solid"/>
          </a:ln>
        </p:spPr>
      </p:sp>
      <p:sp>
        <p:nvSpPr>
          <p:cNvPr id="14" name="Text 12"/>
          <p:cNvSpPr/>
          <p:nvPr/>
        </p:nvSpPr>
        <p:spPr>
          <a:xfrm>
            <a:off x="2423160" y="3950208"/>
            <a:ext cx="17373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73</a:t>
            </a:r>
            <a:endParaRPr lang="en-US" sz="3000" dirty="0"/>
          </a:p>
        </p:txBody>
      </p:sp>
      <p:sp>
        <p:nvSpPr>
          <p:cNvPr id="15" name="Text 13"/>
          <p:cNvSpPr/>
          <p:nvPr/>
        </p:nvSpPr>
        <p:spPr>
          <a:xfrm>
            <a:off x="2514600" y="4572000"/>
            <a:ext cx="15544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Pauli terms</a:t>
            </a:r>
            <a:endParaRPr lang="en-US" sz="1100" dirty="0"/>
          </a:p>
        </p:txBody>
      </p:sp>
      <p:sp>
        <p:nvSpPr>
          <p:cNvPr id="16" name="Shape 14"/>
          <p:cNvSpPr/>
          <p:nvPr/>
        </p:nvSpPr>
        <p:spPr>
          <a:xfrm>
            <a:off x="4297680" y="3840480"/>
            <a:ext cx="1737360" cy="1234440"/>
          </a:xfrm>
          <a:prstGeom prst="roundRect">
            <a:avLst>
              <a:gd name="adj" fmla="val 5926"/>
            </a:avLst>
          </a:prstGeom>
          <a:solidFill>
            <a:srgbClr val="141B33"/>
          </a:solidFill>
          <a:ln w="12700">
            <a:solidFill>
              <a:srgbClr val="141B33"/>
            </a:solidFill>
            <a:prstDash val="solid"/>
          </a:ln>
        </p:spPr>
      </p:sp>
      <p:sp>
        <p:nvSpPr>
          <p:cNvPr id="17" name="Text 15"/>
          <p:cNvSpPr/>
          <p:nvPr/>
        </p:nvSpPr>
        <p:spPr>
          <a:xfrm>
            <a:off x="4297680" y="3950208"/>
            <a:ext cx="17373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2-local</a:t>
            </a:r>
            <a:endParaRPr lang="en-US" sz="3000" dirty="0"/>
          </a:p>
        </p:txBody>
      </p:sp>
      <p:sp>
        <p:nvSpPr>
          <p:cNvPr id="18" name="Text 16"/>
          <p:cNvSpPr/>
          <p:nvPr/>
        </p:nvSpPr>
        <p:spPr>
          <a:xfrm>
            <a:off x="4389120" y="4572000"/>
            <a:ext cx="15544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ZZ max weight</a:t>
            </a:r>
            <a:endParaRPr lang="en-US" sz="1100" dirty="0"/>
          </a:p>
        </p:txBody>
      </p:sp>
      <p:sp>
        <p:nvSpPr>
          <p:cNvPr id="19" name="Text 17"/>
          <p:cNvSpPr/>
          <p:nvPr/>
        </p:nvSpPr>
        <p:spPr>
          <a:xfrm>
            <a:off x="6309360" y="1463040"/>
            <a:ext cx="5486400" cy="3840480"/>
          </a:xfrm>
          <a:prstGeom prst="rect">
            <a:avLst/>
          </a:prstGeom>
          <a:noFill/>
          <a:ln/>
        </p:spPr>
        <p:txBody>
          <a:bodyPr wrap="square" lIns="635" tIns="635" rIns="635" bIns="635" rtlCol="0" anchor="t"/>
          <a:lstStyle/>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Why binary (2 qubits) and not one-hot (4 qubits) or a dense 5-qubit pack?</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Binary keeps H_C quadratic → only RZ and CX gates after ZZ decomposition</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Fits Classiq student edition comfortably; 15 parallel jobs used for sweeps</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QAOA layer: phase exp(+iγ H_C) then mixer RX(2β) on every qubit</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Verified by Walsh–Hadamard: Pauli table reproduces all 4096 costs exactly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6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6 / 13   |   GATES</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The circuit Classiq synthesised</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circuit_stats.png">    </p:cNvPr>
          <p:cNvPicPr>
            <a:picLocks noChangeAspect="1"/>
          </p:cNvPicPr>
          <p:nvPr/>
        </p:nvPicPr>
        <p:blipFill>
          <a:blip r:embed="rId1"/>
          <a:stretch>
            <a:fillRect/>
          </a:stretch>
        </p:blipFill>
        <p:spPr>
          <a:xfrm>
            <a:off x="548640" y="1417320"/>
            <a:ext cx="6766560" cy="3557016"/>
          </a:xfrm>
          <a:prstGeom prst="rect">
            <a:avLst/>
          </a:prstGeom>
        </p:spPr>
      </p:pic>
      <p:sp>
        <p:nvSpPr>
          <p:cNvPr id="9" name="Shape 6"/>
          <p:cNvSpPr/>
          <p:nvPr/>
        </p:nvSpPr>
        <p:spPr>
          <a:xfrm>
            <a:off x="7589520" y="1463040"/>
            <a:ext cx="2011680" cy="1234440"/>
          </a:xfrm>
          <a:prstGeom prst="roundRect">
            <a:avLst>
              <a:gd name="adj" fmla="val 5926"/>
            </a:avLst>
          </a:prstGeom>
          <a:solidFill>
            <a:srgbClr val="141B33"/>
          </a:solidFill>
          <a:ln w="12700">
            <a:solidFill>
              <a:srgbClr val="141B33"/>
            </a:solidFill>
            <a:prstDash val="solid"/>
          </a:ln>
        </p:spPr>
      </p:sp>
      <p:sp>
        <p:nvSpPr>
          <p:cNvPr id="10" name="Text 7"/>
          <p:cNvSpPr/>
          <p:nvPr/>
        </p:nvSpPr>
        <p:spPr>
          <a:xfrm>
            <a:off x="7589520" y="1572768"/>
            <a:ext cx="20116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59</a:t>
            </a:r>
            <a:endParaRPr lang="en-US" sz="3000" dirty="0"/>
          </a:p>
        </p:txBody>
      </p:sp>
      <p:sp>
        <p:nvSpPr>
          <p:cNvPr id="11" name="Text 8"/>
          <p:cNvSpPr/>
          <p:nvPr/>
        </p:nvSpPr>
        <p:spPr>
          <a:xfrm>
            <a:off x="7680960" y="2194560"/>
            <a:ext cx="18288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depth, p = 1</a:t>
            </a:r>
            <a:endParaRPr lang="en-US" sz="1100" dirty="0"/>
          </a:p>
        </p:txBody>
      </p:sp>
      <p:sp>
        <p:nvSpPr>
          <p:cNvPr id="12" name="Shape 9"/>
          <p:cNvSpPr/>
          <p:nvPr/>
        </p:nvSpPr>
        <p:spPr>
          <a:xfrm>
            <a:off x="9784080" y="1463040"/>
            <a:ext cx="2011680" cy="1234440"/>
          </a:xfrm>
          <a:prstGeom prst="roundRect">
            <a:avLst>
              <a:gd name="adj" fmla="val 5926"/>
            </a:avLst>
          </a:prstGeom>
          <a:solidFill>
            <a:srgbClr val="141B33"/>
          </a:solidFill>
          <a:ln w="12700">
            <a:solidFill>
              <a:srgbClr val="141B33"/>
            </a:solidFill>
            <a:prstDash val="solid"/>
          </a:ln>
        </p:spPr>
      </p:sp>
      <p:sp>
        <p:nvSpPr>
          <p:cNvPr id="13" name="Text 10"/>
          <p:cNvSpPr/>
          <p:nvPr/>
        </p:nvSpPr>
        <p:spPr>
          <a:xfrm>
            <a:off x="9784080" y="1572768"/>
            <a:ext cx="20116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114</a:t>
            </a:r>
            <a:endParaRPr lang="en-US" sz="3000" dirty="0"/>
          </a:p>
        </p:txBody>
      </p:sp>
      <p:sp>
        <p:nvSpPr>
          <p:cNvPr id="14" name="Text 11"/>
          <p:cNvSpPr/>
          <p:nvPr/>
        </p:nvSpPr>
        <p:spPr>
          <a:xfrm>
            <a:off x="9875520" y="2194560"/>
            <a:ext cx="18288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depth, p = 2</a:t>
            </a:r>
            <a:endParaRPr lang="en-US" sz="1100" dirty="0"/>
          </a:p>
        </p:txBody>
      </p:sp>
      <p:sp>
        <p:nvSpPr>
          <p:cNvPr id="15" name="Shape 12"/>
          <p:cNvSpPr/>
          <p:nvPr/>
        </p:nvSpPr>
        <p:spPr>
          <a:xfrm>
            <a:off x="7589520" y="2880360"/>
            <a:ext cx="2011680" cy="1234440"/>
          </a:xfrm>
          <a:prstGeom prst="roundRect">
            <a:avLst>
              <a:gd name="adj" fmla="val 5926"/>
            </a:avLst>
          </a:prstGeom>
          <a:solidFill>
            <a:srgbClr val="141B33"/>
          </a:solidFill>
          <a:ln w="12700">
            <a:solidFill>
              <a:srgbClr val="141B33"/>
            </a:solidFill>
            <a:prstDash val="solid"/>
          </a:ln>
        </p:spPr>
      </p:sp>
      <p:sp>
        <p:nvSpPr>
          <p:cNvPr id="16" name="Text 13"/>
          <p:cNvSpPr/>
          <p:nvPr/>
        </p:nvSpPr>
        <p:spPr>
          <a:xfrm>
            <a:off x="7589520" y="2990088"/>
            <a:ext cx="20116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92 CX</a:t>
            </a:r>
            <a:endParaRPr lang="en-US" sz="3000" dirty="0"/>
          </a:p>
        </p:txBody>
      </p:sp>
      <p:sp>
        <p:nvSpPr>
          <p:cNvPr id="17" name="Text 14"/>
          <p:cNvSpPr/>
          <p:nvPr/>
        </p:nvSpPr>
        <p:spPr>
          <a:xfrm>
            <a:off x="7680960" y="3611880"/>
            <a:ext cx="18288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+ 72 RZ + 12 H + 12 RX</a:t>
            </a:r>
            <a:endParaRPr lang="en-US" sz="1100" dirty="0"/>
          </a:p>
        </p:txBody>
      </p:sp>
      <p:sp>
        <p:nvSpPr>
          <p:cNvPr id="18" name="Shape 15"/>
          <p:cNvSpPr/>
          <p:nvPr/>
        </p:nvSpPr>
        <p:spPr>
          <a:xfrm>
            <a:off x="9784080" y="2880360"/>
            <a:ext cx="2011680" cy="1234440"/>
          </a:xfrm>
          <a:prstGeom prst="roundRect">
            <a:avLst>
              <a:gd name="adj" fmla="val 5926"/>
            </a:avLst>
          </a:prstGeom>
          <a:solidFill>
            <a:srgbClr val="141B33"/>
          </a:solidFill>
          <a:ln w="12700">
            <a:solidFill>
              <a:srgbClr val="141B33"/>
            </a:solidFill>
            <a:prstDash val="solid"/>
          </a:ln>
        </p:spPr>
      </p:sp>
      <p:sp>
        <p:nvSpPr>
          <p:cNvPr id="19" name="Text 16"/>
          <p:cNvSpPr/>
          <p:nvPr/>
        </p:nvSpPr>
        <p:spPr>
          <a:xfrm>
            <a:off x="9784080" y="2990088"/>
            <a:ext cx="20116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184 CX</a:t>
            </a:r>
            <a:endParaRPr lang="en-US" sz="3000" dirty="0"/>
          </a:p>
        </p:txBody>
      </p:sp>
      <p:sp>
        <p:nvSpPr>
          <p:cNvPr id="20" name="Text 17"/>
          <p:cNvSpPr/>
          <p:nvPr/>
        </p:nvSpPr>
        <p:spPr>
          <a:xfrm>
            <a:off x="9875520" y="3611880"/>
            <a:ext cx="18288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+ 144 RZ + 12 H + 24 RX</a:t>
            </a:r>
            <a:endParaRPr lang="en-US" sz="1100" dirty="0"/>
          </a:p>
        </p:txBody>
      </p:sp>
      <p:sp>
        <p:nvSpPr>
          <p:cNvPr id="21" name="Text 18"/>
          <p:cNvSpPr/>
          <p:nvPr/>
        </p:nvSpPr>
        <p:spPr>
          <a:xfrm>
            <a:off x="7589520" y="4297680"/>
            <a:ext cx="4206240" cy="173736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F5F7FF"/>
                </a:solidFill>
                <a:latin typeface="Calibri" pitchFamily="34" charset="0"/>
                <a:ea typeface="Calibri" pitchFamily="34" charset="-122"/>
                <a:cs typeface="Calibri" pitchFamily="34" charset="-120"/>
              </a:rPr>
              <a:t>Written in Qmod: QStruct of QArray[QNum[2], 6], phase(cost, γ), RX mixer</a:t>
            </a:r>
            <a:endParaRPr lang="en-US" sz="1250" dirty="0"/>
          </a:p>
          <a:p>
            <a:pPr marL="342900" indent="-342900">
              <a:spcAft>
                <a:spcPts val="600"/>
              </a:spcAft>
              <a:buSzPct val="100000"/>
              <a:buChar char="▸"/>
            </a:pPr>
            <a:r>
              <a:rPr lang="en-US" sz="1250" dirty="0">
                <a:solidFill>
                  <a:srgbClr val="F5F7FF"/>
                </a:solidFill>
                <a:latin typeface="Calibri" pitchFamily="34" charset="0"/>
                <a:ea typeface="Calibri" pitchFamily="34" charset="-122"/>
                <a:cs typeface="Calibri" pitchFamily="34" charset="-120"/>
              </a:rPr>
              <a:t>Exported as OpenQASM 3 (group/classiq/results/*.qasm) + hand-written QASM 2 layer</a:t>
            </a:r>
            <a:endParaRPr lang="en-US" sz="1250" dirty="0"/>
          </a:p>
          <a:p>
            <a:pPr marL="342900" indent="-342900">
              <a:spcAft>
                <a:spcPts val="600"/>
              </a:spcAft>
              <a:buSzPct val="100000"/>
              <a:buChar char="▸"/>
            </a:pPr>
            <a:r>
              <a:rPr lang="en-US" sz="1250" dirty="0">
                <a:solidFill>
                  <a:srgbClr val="F5F7FF"/>
                </a:solidFill>
                <a:latin typeface="Calibri" pitchFamily="34" charset="0"/>
                <a:ea typeface="Calibri" pitchFamily="34" charset="-122"/>
                <a:cs typeface="Calibri" pitchFamily="34" charset="-120"/>
              </a:rPr>
              <a:t>Same circuit re-simulated in Qiskit statevector: ⟨C⟩ = 1.9985 — identical to Wolfram</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7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7 / 13   |   SIMULATION</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Wolfram exact simulation: where the good angles are</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wolfram\img\landscape.png">    </p:cNvPr>
          <p:cNvPicPr>
            <a:picLocks noChangeAspect="1"/>
          </p:cNvPicPr>
          <p:nvPr/>
        </p:nvPicPr>
        <p:blipFill>
          <a:blip r:embed="rId1"/>
          <a:stretch>
            <a:fillRect/>
          </a:stretch>
        </p:blipFill>
        <p:spPr>
          <a:xfrm>
            <a:off x="548640" y="1417320"/>
            <a:ext cx="4846320" cy="4617720"/>
          </a:xfrm>
          <a:prstGeom prst="rect">
            <a:avLst/>
          </a:prstGeom>
        </p:spPr>
      </p:pic>
      <p:sp>
        <p:nvSpPr>
          <p:cNvPr id="9" name="Text 6"/>
          <p:cNvSpPr/>
          <p:nvPr/>
        </p:nvSpPr>
        <p:spPr>
          <a:xfrm>
            <a:off x="548640" y="6053328"/>
            <a:ext cx="484632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⟨C⟩(γ, β) for p = 1 over all 4096 amplitudes (statevector, no shot noise).</a:t>
            </a:r>
            <a:endParaRPr lang="en-US" sz="1050" dirty="0"/>
          </a:p>
        </p:txBody>
      </p:sp>
      <p:sp>
        <p:nvSpPr>
          <p:cNvPr id="10" name="Shape 7"/>
          <p:cNvSpPr/>
          <p:nvPr/>
        </p:nvSpPr>
        <p:spPr>
          <a:xfrm>
            <a:off x="5760720" y="1463040"/>
            <a:ext cx="2926080" cy="1234440"/>
          </a:xfrm>
          <a:prstGeom prst="roundRect">
            <a:avLst>
              <a:gd name="adj" fmla="val 5926"/>
            </a:avLst>
          </a:prstGeom>
          <a:solidFill>
            <a:srgbClr val="141B33"/>
          </a:solidFill>
          <a:ln w="12700">
            <a:solidFill>
              <a:srgbClr val="141B33"/>
            </a:solidFill>
            <a:prstDash val="solid"/>
          </a:ln>
        </p:spPr>
      </p:sp>
      <p:sp>
        <p:nvSpPr>
          <p:cNvPr id="11" name="Text 8"/>
          <p:cNvSpPr/>
          <p:nvPr/>
        </p:nvSpPr>
        <p:spPr>
          <a:xfrm>
            <a:off x="5760720" y="1572768"/>
            <a:ext cx="29260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(0.0654, 1.1293)</a:t>
            </a:r>
            <a:endParaRPr lang="en-US" sz="3000" dirty="0"/>
          </a:p>
        </p:txBody>
      </p:sp>
      <p:sp>
        <p:nvSpPr>
          <p:cNvPr id="12" name="Text 9"/>
          <p:cNvSpPr/>
          <p:nvPr/>
        </p:nvSpPr>
        <p:spPr>
          <a:xfrm>
            <a:off x="5852160" y="2194560"/>
            <a:ext cx="27432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optimal (γ, β), p = 1</a:t>
            </a:r>
            <a:endParaRPr lang="en-US" sz="1100" dirty="0"/>
          </a:p>
        </p:txBody>
      </p:sp>
      <p:sp>
        <p:nvSpPr>
          <p:cNvPr id="13" name="Shape 10"/>
          <p:cNvSpPr/>
          <p:nvPr/>
        </p:nvSpPr>
        <p:spPr>
          <a:xfrm>
            <a:off x="8869680" y="1463040"/>
            <a:ext cx="2926080" cy="1234440"/>
          </a:xfrm>
          <a:prstGeom prst="roundRect">
            <a:avLst>
              <a:gd name="adj" fmla="val 5926"/>
            </a:avLst>
          </a:prstGeom>
          <a:solidFill>
            <a:srgbClr val="141B33"/>
          </a:solidFill>
          <a:ln w="12700">
            <a:solidFill>
              <a:srgbClr val="141B33"/>
            </a:solidFill>
            <a:prstDash val="solid"/>
          </a:ln>
        </p:spPr>
      </p:sp>
      <p:sp>
        <p:nvSpPr>
          <p:cNvPr id="14" name="Text 11"/>
          <p:cNvSpPr/>
          <p:nvPr/>
        </p:nvSpPr>
        <p:spPr>
          <a:xfrm>
            <a:off x="8869680" y="1572768"/>
            <a:ext cx="29260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⟨C⟩ = 1.9985</a:t>
            </a:r>
            <a:endParaRPr lang="en-US" sz="3000" dirty="0"/>
          </a:p>
        </p:txBody>
      </p:sp>
      <p:sp>
        <p:nvSpPr>
          <p:cNvPr id="15" name="Text 12"/>
          <p:cNvSpPr/>
          <p:nvPr/>
        </p:nvSpPr>
        <p:spPr>
          <a:xfrm>
            <a:off x="8961120" y="2194560"/>
            <a:ext cx="27432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 = 1 (random: 35.5)</a:t>
            </a:r>
            <a:endParaRPr lang="en-US" sz="1100" dirty="0"/>
          </a:p>
        </p:txBody>
      </p:sp>
      <p:sp>
        <p:nvSpPr>
          <p:cNvPr id="16" name="Shape 13"/>
          <p:cNvSpPr/>
          <p:nvPr/>
        </p:nvSpPr>
        <p:spPr>
          <a:xfrm>
            <a:off x="5760720" y="2880360"/>
            <a:ext cx="2926080" cy="1234440"/>
          </a:xfrm>
          <a:prstGeom prst="roundRect">
            <a:avLst>
              <a:gd name="adj" fmla="val 5926"/>
            </a:avLst>
          </a:prstGeom>
          <a:solidFill>
            <a:srgbClr val="141B33"/>
          </a:solidFill>
          <a:ln w="12700">
            <a:solidFill>
              <a:srgbClr val="141B33"/>
            </a:solidFill>
            <a:prstDash val="solid"/>
          </a:ln>
        </p:spPr>
      </p:sp>
      <p:sp>
        <p:nvSpPr>
          <p:cNvPr id="17" name="Text 14"/>
          <p:cNvSpPr/>
          <p:nvPr/>
        </p:nvSpPr>
        <p:spPr>
          <a:xfrm>
            <a:off x="5760720" y="2990088"/>
            <a:ext cx="29260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⟨C⟩ = −0.3825</a:t>
            </a:r>
            <a:endParaRPr lang="en-US" sz="3000" dirty="0"/>
          </a:p>
        </p:txBody>
      </p:sp>
      <p:sp>
        <p:nvSpPr>
          <p:cNvPr id="18" name="Text 15"/>
          <p:cNvSpPr/>
          <p:nvPr/>
        </p:nvSpPr>
        <p:spPr>
          <a:xfrm>
            <a:off x="5852160" y="3611880"/>
            <a:ext cx="27432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 = 2, 4 angles</a:t>
            </a:r>
            <a:endParaRPr lang="en-US" sz="1100" dirty="0"/>
          </a:p>
        </p:txBody>
      </p:sp>
      <p:sp>
        <p:nvSpPr>
          <p:cNvPr id="19" name="Shape 16"/>
          <p:cNvSpPr/>
          <p:nvPr/>
        </p:nvSpPr>
        <p:spPr>
          <a:xfrm>
            <a:off x="8869680" y="2880360"/>
            <a:ext cx="2926080" cy="1234440"/>
          </a:xfrm>
          <a:prstGeom prst="roundRect">
            <a:avLst>
              <a:gd name="adj" fmla="val 5926"/>
            </a:avLst>
          </a:prstGeom>
          <a:solidFill>
            <a:srgbClr val="141B33"/>
          </a:solidFill>
          <a:ln w="12700">
            <a:solidFill>
              <a:srgbClr val="141B33"/>
            </a:solidFill>
            <a:prstDash val="solid"/>
          </a:ln>
        </p:spPr>
      </p:sp>
      <p:sp>
        <p:nvSpPr>
          <p:cNvPr id="20" name="Text 17"/>
          <p:cNvSpPr/>
          <p:nvPr/>
        </p:nvSpPr>
        <p:spPr>
          <a:xfrm>
            <a:off x="8869680" y="2990088"/>
            <a:ext cx="29260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−2.844</a:t>
            </a:r>
            <a:endParaRPr lang="en-US" sz="3000" dirty="0"/>
          </a:p>
        </p:txBody>
      </p:sp>
      <p:sp>
        <p:nvSpPr>
          <p:cNvPr id="21" name="Text 18"/>
          <p:cNvSpPr/>
          <p:nvPr/>
        </p:nvSpPr>
        <p:spPr>
          <a:xfrm>
            <a:off x="8961120" y="3611880"/>
            <a:ext cx="27432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ground state = classical optimum</a:t>
            </a:r>
            <a:endParaRPr lang="en-US" sz="1100" dirty="0"/>
          </a:p>
        </p:txBody>
      </p:sp>
      <p:sp>
        <p:nvSpPr>
          <p:cNvPr id="22" name="Text 19"/>
          <p:cNvSpPr/>
          <p:nvPr/>
        </p:nvSpPr>
        <p:spPr>
          <a:xfrm>
            <a:off x="5760720" y="4297680"/>
            <a:ext cx="6035040" cy="182880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Notebook + PDF + CDF + Markdown in group/wolfram/ (14 pages, 13 figures)</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Landscape is flat almost everywhere — a bad start sits on a plateau at ⟨C⟩ ≈ 35</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Angles found here are the warm start we hand to Classiq</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Also in the notebook: VQE (RY+CZ), Grover on a 2-antenna slice, 10-level scaling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8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8 / 13   |   RESULT</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What the quantum sampler buys us, and Classiq reproduces it</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quantum_gain.png">    </p:cNvPr>
          <p:cNvPicPr>
            <a:picLocks noChangeAspect="1"/>
          </p:cNvPicPr>
          <p:nvPr/>
        </p:nvPicPr>
        <p:blipFill>
          <a:blip r:embed="rId1"/>
          <a:stretch>
            <a:fillRect/>
          </a:stretch>
        </p:blipFill>
        <p:spPr>
          <a:xfrm>
            <a:off x="548640" y="1417320"/>
            <a:ext cx="5486400" cy="3090672"/>
          </a:xfrm>
          <a:prstGeom prst="rect">
            <a:avLst/>
          </a:prstGeom>
        </p:spPr>
      </p:pic>
      <p:pic>
        <p:nvPicPr>
          <p:cNvPr id="9" name="Image 1" descr="C:\Projects\Hackton\group\charts\wolfram_vs_classiq.png">    </p:cNvPr>
          <p:cNvPicPr>
            <a:picLocks noChangeAspect="1"/>
          </p:cNvPicPr>
          <p:nvPr/>
        </p:nvPicPr>
        <p:blipFill>
          <a:blip r:embed="rId2"/>
          <a:stretch>
            <a:fillRect/>
          </a:stretch>
        </p:blipFill>
        <p:spPr>
          <a:xfrm>
            <a:off x="6309360" y="1417320"/>
            <a:ext cx="5486400" cy="2240280"/>
          </a:xfrm>
          <a:prstGeom prst="rect">
            <a:avLst/>
          </a:prstGeom>
        </p:spPr>
      </p:pic>
      <p:sp>
        <p:nvSpPr>
          <p:cNvPr id="10" name="Text 6"/>
          <p:cNvSpPr/>
          <p:nvPr/>
        </p:nvSpPr>
        <p:spPr>
          <a:xfrm>
            <a:off x="6309360" y="3749040"/>
            <a:ext cx="5486400" cy="82296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F5F7FF"/>
                </a:solidFill>
                <a:latin typeface="Calibri" pitchFamily="34" charset="0"/>
                <a:ea typeface="Calibri" pitchFamily="34" charset="-122"/>
                <a:cs typeface="Calibri" pitchFamily="34" charset="-120"/>
              </a:rPr>
              <a:t>Best sampled bitstring in every Classiq run = the classical optimum (0,3,0,0,0,0)</a:t>
            </a:r>
            <a:endParaRPr lang="en-US" sz="1250" dirty="0"/>
          </a:p>
          <a:p>
            <a:pPr marL="342900" indent="-342900">
              <a:spcAft>
                <a:spcPts val="600"/>
              </a:spcAft>
              <a:buSzPct val="100000"/>
              <a:buChar char="▸"/>
            </a:pPr>
            <a:r>
              <a:rPr lang="en-US" sz="1250" dirty="0">
                <a:solidFill>
                  <a:srgbClr val="F5F7FF"/>
                </a:solidFill>
                <a:latin typeface="Calibri" pitchFamily="34" charset="0"/>
                <a:ea typeface="Calibri" pitchFamily="34" charset="-122"/>
                <a:cs typeface="Calibri" pitchFamily="34" charset="-120"/>
              </a:rPr>
              <a:t>p = 2: ⟨C⟩ = −0.466 sampled vs −0.383 exact; 716 distinct plans in 4096 shots</a:t>
            </a:r>
            <a:endParaRPr lang="en-US" sz="1250" dirty="0"/>
          </a:p>
        </p:txBody>
      </p:sp>
      <p:sp>
        <p:nvSpPr>
          <p:cNvPr id="11" name="Shape 7"/>
          <p:cNvSpPr/>
          <p:nvPr/>
        </p:nvSpPr>
        <p:spPr>
          <a:xfrm>
            <a:off x="548640" y="4663440"/>
            <a:ext cx="2697480" cy="1234440"/>
          </a:xfrm>
          <a:prstGeom prst="roundRect">
            <a:avLst>
              <a:gd name="adj" fmla="val 5926"/>
            </a:avLst>
          </a:prstGeom>
          <a:solidFill>
            <a:srgbClr val="141B33"/>
          </a:solidFill>
          <a:ln w="12700">
            <a:solidFill>
              <a:srgbClr val="141B33"/>
            </a:solidFill>
            <a:prstDash val="solid"/>
          </a:ln>
        </p:spPr>
      </p:sp>
      <p:sp>
        <p:nvSpPr>
          <p:cNvPr id="12" name="Text 8"/>
          <p:cNvSpPr/>
          <p:nvPr/>
        </p:nvSpPr>
        <p:spPr>
          <a:xfrm>
            <a:off x="548640" y="4773168"/>
            <a:ext cx="26974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2.4% → 67%</a:t>
            </a:r>
            <a:endParaRPr lang="en-US" sz="3000" dirty="0"/>
          </a:p>
        </p:txBody>
      </p:sp>
      <p:sp>
        <p:nvSpPr>
          <p:cNvPr id="13" name="Text 9"/>
          <p:cNvSpPr/>
          <p:nvPr/>
        </p:nvSpPr>
        <p:spPr>
          <a:xfrm>
            <a:off x="640080" y="5394960"/>
            <a:ext cx="25146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P(cost &lt; 0): random → p = 2</a:t>
            </a:r>
            <a:endParaRPr lang="en-US" sz="1100" dirty="0"/>
          </a:p>
        </p:txBody>
      </p:sp>
      <p:sp>
        <p:nvSpPr>
          <p:cNvPr id="14" name="Shape 10"/>
          <p:cNvSpPr/>
          <p:nvPr/>
        </p:nvSpPr>
        <p:spPr>
          <a:xfrm>
            <a:off x="3383280" y="4663440"/>
            <a:ext cx="2697480" cy="1234440"/>
          </a:xfrm>
          <a:prstGeom prst="roundRect">
            <a:avLst>
              <a:gd name="adj" fmla="val 5926"/>
            </a:avLst>
          </a:prstGeom>
          <a:solidFill>
            <a:srgbClr val="141B33"/>
          </a:solidFill>
          <a:ln w="12700">
            <a:solidFill>
              <a:srgbClr val="141B33"/>
            </a:solidFill>
            <a:prstDash val="solid"/>
          </a:ln>
        </p:spPr>
      </p:sp>
      <p:sp>
        <p:nvSpPr>
          <p:cNvPr id="15" name="Text 11"/>
          <p:cNvSpPr/>
          <p:nvPr/>
        </p:nvSpPr>
        <p:spPr>
          <a:xfrm>
            <a:off x="3383280" y="4773168"/>
            <a:ext cx="26974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12270 → 342</a:t>
            </a:r>
            <a:endParaRPr lang="en-US" sz="3000" dirty="0"/>
          </a:p>
        </p:txBody>
      </p:sp>
      <p:sp>
        <p:nvSpPr>
          <p:cNvPr id="16" name="Text 12"/>
          <p:cNvSpPr/>
          <p:nvPr/>
        </p:nvSpPr>
        <p:spPr>
          <a:xfrm>
            <a:off x="3474720" y="5394960"/>
            <a:ext cx="25146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shots for 95% chance of the optimum</a:t>
            </a:r>
            <a:endParaRPr lang="en-US" sz="1100" dirty="0"/>
          </a:p>
        </p:txBody>
      </p:sp>
      <p:sp>
        <p:nvSpPr>
          <p:cNvPr id="17" name="Shape 13"/>
          <p:cNvSpPr/>
          <p:nvPr/>
        </p:nvSpPr>
        <p:spPr>
          <a:xfrm>
            <a:off x="6217920" y="4663440"/>
            <a:ext cx="2697480" cy="1234440"/>
          </a:xfrm>
          <a:prstGeom prst="roundRect">
            <a:avLst>
              <a:gd name="adj" fmla="val 5926"/>
            </a:avLst>
          </a:prstGeom>
          <a:solidFill>
            <a:srgbClr val="141B33"/>
          </a:solidFill>
          <a:ln w="12700">
            <a:solidFill>
              <a:srgbClr val="141B33"/>
            </a:solidFill>
            <a:prstDash val="solid"/>
          </a:ln>
        </p:spPr>
      </p:sp>
      <p:sp>
        <p:nvSpPr>
          <p:cNvPr id="18" name="Text 14"/>
          <p:cNvSpPr/>
          <p:nvPr/>
        </p:nvSpPr>
        <p:spPr>
          <a:xfrm>
            <a:off x="6217920" y="4773168"/>
            <a:ext cx="26974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2.020 vs 1.999</a:t>
            </a:r>
            <a:endParaRPr lang="en-US" sz="3000" dirty="0"/>
          </a:p>
        </p:txBody>
      </p:sp>
      <p:sp>
        <p:nvSpPr>
          <p:cNvPr id="19" name="Text 15"/>
          <p:cNvSpPr/>
          <p:nvPr/>
        </p:nvSpPr>
        <p:spPr>
          <a:xfrm>
            <a:off x="6309360" y="5394960"/>
            <a:ext cx="25146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⟨C⟩ p = 1: Classiq 4096 shots vs exact</a:t>
            </a:r>
            <a:endParaRPr lang="en-US" sz="1100" dirty="0"/>
          </a:p>
        </p:txBody>
      </p:sp>
      <p:sp>
        <p:nvSpPr>
          <p:cNvPr id="20" name="Shape 16"/>
          <p:cNvSpPr/>
          <p:nvPr/>
        </p:nvSpPr>
        <p:spPr>
          <a:xfrm>
            <a:off x="9052560" y="4663440"/>
            <a:ext cx="2697480" cy="1234440"/>
          </a:xfrm>
          <a:prstGeom prst="roundRect">
            <a:avLst>
              <a:gd name="adj" fmla="val 5926"/>
            </a:avLst>
          </a:prstGeom>
          <a:solidFill>
            <a:srgbClr val="141B33"/>
          </a:solidFill>
          <a:ln w="12700">
            <a:solidFill>
              <a:srgbClr val="141B33"/>
            </a:solidFill>
            <a:prstDash val="solid"/>
          </a:ln>
        </p:spPr>
      </p:sp>
      <p:sp>
        <p:nvSpPr>
          <p:cNvPr id="21" name="Text 17"/>
          <p:cNvSpPr/>
          <p:nvPr/>
        </p:nvSpPr>
        <p:spPr>
          <a:xfrm>
            <a:off x="9052560" y="4773168"/>
            <a:ext cx="26974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0.529 vs 0.530</a:t>
            </a:r>
            <a:endParaRPr lang="en-US" sz="3000" dirty="0"/>
          </a:p>
        </p:txBody>
      </p:sp>
      <p:sp>
        <p:nvSpPr>
          <p:cNvPr id="22" name="Text 18"/>
          <p:cNvSpPr/>
          <p:nvPr/>
        </p:nvSpPr>
        <p:spPr>
          <a:xfrm>
            <a:off x="9144000" y="5394960"/>
            <a:ext cx="25146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P(cost &lt; 0) p = 1: Classiq vs exact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9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9 / 13   |   VIDEO</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Demo: the QAOA distribution sharpening</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417320"/>
            <a:ext cx="7680960" cy="4572000"/>
          </a:xfrm>
          <a:prstGeom prst="rect">
            <a:avLst/>
          </a:prstGeom>
        </p:spPr>
      </p:pic>
      <p:sp>
        <p:nvSpPr>
          <p:cNvPr id="9" name="Text 6"/>
          <p:cNvSpPr/>
          <p:nvPr/>
        </p:nvSpPr>
        <p:spPr>
          <a:xfrm>
            <a:off x="8412480" y="1463040"/>
            <a:ext cx="3383280" cy="438912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120 frames, angles ramp from 0 to the p = 2 optimum</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Scatter: probability of each of the 4096 plans vs its cost</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Bars: P(cost &lt; 0) climbing to 0.67</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Black line: classical optimum −2.844</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Second clip: group/video/classiq_convergence.mp4 — COBYLA on Classiq, iteration by iteration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10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10 / 13   |   CLASSIQ</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Optimising on Classiq: warm start beats blind search</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417320"/>
            <a:ext cx="7315200" cy="3904488"/>
          </a:xfrm>
          <a:prstGeom prst="rect">
            <a:avLst/>
          </a:prstGeom>
        </p:spPr>
      </p:pic>
      <p:sp>
        <p:nvSpPr>
          <p:cNvPr id="9" name="Text 6"/>
          <p:cNvSpPr/>
          <p:nvPr/>
        </p:nvSpPr>
        <p:spPr>
          <a:xfrm>
            <a:off x="548640" y="5349240"/>
            <a:ext cx="731520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Click to play: 20 COBYLA iterations on the Classiq simulator, one 4096-shot job each (11 s).</a:t>
            </a:r>
            <a:endParaRPr lang="en-US" sz="1050" dirty="0"/>
          </a:p>
        </p:txBody>
      </p:sp>
      <p:sp>
        <p:nvSpPr>
          <p:cNvPr id="10" name="Text 7"/>
          <p:cNvSpPr/>
          <p:nvPr/>
        </p:nvSpPr>
        <p:spPr>
          <a:xfrm>
            <a:off x="8138160" y="1463040"/>
            <a:ext cx="3657600" cy="420624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Start (0.20, 0.50): COBYLA stuck at ⟨C⟩ ≈ 35.5 — the plateau Wolfram predicted</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Start (0.02, 0.60): 20 Classiq jobs, ⟨C⟩ 21.6 → 7.0, still above warm start 2.0</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Shot noise (4096 shots) hides gradients; 15 parallel jobs let us sweep starts instead</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Takeaway: exact classical pre-simulation of small instances gives angles that transfer</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11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11 / 13   |   PROOF</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Lean 4 certificates: the classical facts are machine-checked</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sp>
        <p:nvSpPr>
          <p:cNvPr id="8" name="Shape 6"/>
          <p:cNvSpPr/>
          <p:nvPr/>
        </p:nvSpPr>
        <p:spPr>
          <a:xfrm>
            <a:off x="548640" y="1463040"/>
            <a:ext cx="11247120" cy="2743200"/>
          </a:xfrm>
          <a:prstGeom prst="roundRect">
            <a:avLst>
              <a:gd name="adj" fmla="val 2667"/>
            </a:avLst>
          </a:prstGeom>
          <a:solidFill>
            <a:srgbClr val="141B33"/>
          </a:solidFill>
          <a:ln w="12700">
            <a:solidFill>
              <a:srgbClr val="141B33"/>
            </a:solidFill>
            <a:prstDash val="solid"/>
          </a:ln>
        </p:spPr>
      </p:sp>
      <p:sp>
        <p:nvSpPr>
          <p:cNvPr id="9" name="Text 7"/>
          <p:cNvSpPr/>
          <p:nvPr/>
        </p:nvSpPr>
        <p:spPr>
          <a:xfrm>
            <a:off x="731520" y="1554480"/>
            <a:ext cx="10881360" cy="2560320"/>
          </a:xfrm>
          <a:prstGeom prst="rect">
            <a:avLst/>
          </a:prstGeom>
          <a:noFill/>
          <a:ln/>
        </p:spPr>
        <p:txBody>
          <a:bodyPr wrap="square" lIns="635" tIns="635" rIns="635" bIns="635" rtlCol="0" anchor="ctr"/>
          <a:lstStyle/>
          <a:p>
            <a:pPr indent="0" marL="0">
              <a:buNone/>
            </a:pPr>
            <a:r>
              <a:rPr lang="en-US" sz="1250" dirty="0">
                <a:solidFill>
                  <a:srgbClr val="2BD4C2"/>
                </a:solidFill>
                <a:latin typeface="Consolas" pitchFamily="34" charset="0"/>
                <a:ea typeface="Consolas" pitchFamily="34" charset="-122"/>
                <a:cs typeface="Consolas" pitchFamily="34" charset="-120"/>
              </a:rPr>
              <a:t>theorem decodeTilt_bijective : Function.Bijective (fun q : Fin 2 × Fin 2 =&gt; decodeTilt q.1 q.2)   -- 2 qubits ↔ 4 tilts</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costS_optTilt      : costS optTilt = -28440                                   -- cost ×10⁴ (decide)</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costS_lower_bound  : ∀ t : Fin 6 → Fin 4, -28440 ≤ costS t                       -- 4096 cases (native_decide)</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costS_unique       : ∀ t : Fin 6 → Fin 4, costS t = -28440 → t = optTilt          -- optimum is unique</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cost_phase_preserves_probability : ∀ γ c a, ‖exp(γ c i) · a‖² = ‖a‖²             -- phase layer keeps P</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two_smul_P0 / two_smul_P1 : 2•P0 = 1 + Z,  2•P1 = 1 − Z                        -- qubit → Pauli-Z</a:t>
            </a:r>
            <a:endParaRPr lang="en-US" sz="1250" dirty="0"/>
          </a:p>
        </p:txBody>
      </p:sp>
      <p:sp>
        <p:nvSpPr>
          <p:cNvPr id="10" name="Shape 8"/>
          <p:cNvSpPr/>
          <p:nvPr/>
        </p:nvSpPr>
        <p:spPr>
          <a:xfrm>
            <a:off x="548640" y="4434840"/>
            <a:ext cx="2651760" cy="1234440"/>
          </a:xfrm>
          <a:prstGeom prst="roundRect">
            <a:avLst>
              <a:gd name="adj" fmla="val 5926"/>
            </a:avLst>
          </a:prstGeom>
          <a:solidFill>
            <a:srgbClr val="141B33"/>
          </a:solidFill>
          <a:ln w="12700">
            <a:solidFill>
              <a:srgbClr val="141B33"/>
            </a:solidFill>
            <a:prstDash val="solid"/>
          </a:ln>
        </p:spPr>
      </p:sp>
      <p:sp>
        <p:nvSpPr>
          <p:cNvPr id="11" name="Text 9"/>
          <p:cNvSpPr/>
          <p:nvPr/>
        </p:nvSpPr>
        <p:spPr>
          <a:xfrm>
            <a:off x="548640" y="4544568"/>
            <a:ext cx="26517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0 sorry</a:t>
            </a:r>
            <a:endParaRPr lang="en-US" sz="3000" dirty="0"/>
          </a:p>
        </p:txBody>
      </p:sp>
      <p:sp>
        <p:nvSpPr>
          <p:cNvPr id="12" name="Text 10"/>
          <p:cNvSpPr/>
          <p:nvPr/>
        </p:nvSpPr>
        <p:spPr>
          <a:xfrm>
            <a:off x="640080" y="5166360"/>
            <a:ext cx="24688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lake build succeeded</a:t>
            </a:r>
            <a:endParaRPr lang="en-US" sz="1100" dirty="0"/>
          </a:p>
        </p:txBody>
      </p:sp>
      <p:sp>
        <p:nvSpPr>
          <p:cNvPr id="13" name="Shape 11"/>
          <p:cNvSpPr/>
          <p:nvPr/>
        </p:nvSpPr>
        <p:spPr>
          <a:xfrm>
            <a:off x="3337560" y="4434840"/>
            <a:ext cx="2651760" cy="1234440"/>
          </a:xfrm>
          <a:prstGeom prst="roundRect">
            <a:avLst>
              <a:gd name="adj" fmla="val 5926"/>
            </a:avLst>
          </a:prstGeom>
          <a:solidFill>
            <a:srgbClr val="141B33"/>
          </a:solidFill>
          <a:ln w="12700">
            <a:solidFill>
              <a:srgbClr val="141B33"/>
            </a:solidFill>
            <a:prstDash val="solid"/>
          </a:ln>
        </p:spPr>
      </p:sp>
      <p:sp>
        <p:nvSpPr>
          <p:cNvPr id="14" name="Text 12"/>
          <p:cNvSpPr/>
          <p:nvPr/>
        </p:nvSpPr>
        <p:spPr>
          <a:xfrm>
            <a:off x="3337560" y="4544568"/>
            <a:ext cx="26517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Mathlib</a:t>
            </a:r>
            <a:endParaRPr lang="en-US" sz="3000" dirty="0"/>
          </a:p>
        </p:txBody>
      </p:sp>
      <p:sp>
        <p:nvSpPr>
          <p:cNvPr id="15" name="Text 13"/>
          <p:cNvSpPr/>
          <p:nvPr/>
        </p:nvSpPr>
        <p:spPr>
          <a:xfrm>
            <a:off x="3429000" y="5166360"/>
            <a:ext cx="24688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Lean 4.33.1</a:t>
            </a:r>
            <a:endParaRPr lang="en-US" sz="1100" dirty="0"/>
          </a:p>
        </p:txBody>
      </p:sp>
      <p:sp>
        <p:nvSpPr>
          <p:cNvPr id="16" name="Text 14"/>
          <p:cNvSpPr/>
          <p:nvPr/>
        </p:nvSpPr>
        <p:spPr>
          <a:xfrm>
            <a:off x="6309360" y="4434840"/>
            <a:ext cx="5486400" cy="164592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group/lean/TiltQAOA.lean + build log</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Proves the optimum, its uniqueness and the encoding are exactly what the quantum runs report</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Quantum layer: unitarity of the phase operator, so QAOA never destroys probability mass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12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12 / 13   |   DESIGN CHOICE</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Why 2 qubits per sector, not a 5-qubit pack of 27 configurations</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group_qaoa5_convergence.png">    </p:cNvPr>
          <p:cNvPicPr>
            <a:picLocks noChangeAspect="1"/>
          </p:cNvPicPr>
          <p:nvPr/>
        </p:nvPicPr>
        <p:blipFill>
          <a:blip r:embed="rId1"/>
          <a:stretch>
            <a:fillRect/>
          </a:stretch>
        </p:blipFill>
        <p:spPr>
          <a:xfrm>
            <a:off x="548640" y="1417320"/>
            <a:ext cx="5120640" cy="3127248"/>
          </a:xfrm>
          <a:prstGeom prst="rect">
            <a:avLst/>
          </a:prstGeom>
        </p:spPr>
      </p:pic>
      <p:sp>
        <p:nvSpPr>
          <p:cNvPr id="9" name="Text 6"/>
          <p:cNvSpPr/>
          <p:nvPr/>
        </p:nvSpPr>
        <p:spPr>
          <a:xfrm>
            <a:off x="548640" y="4572000"/>
            <a:ext cx="512064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Group run, 5-qubit encoding (27 of 32 states valid): ⟨H_C⟩ converges in all 10 groups, but the sampled optimum is no more likely than uniform.</a:t>
            </a:r>
            <a:endParaRPr lang="en-US" sz="1050" dirty="0"/>
          </a:p>
        </p:txBody>
      </p:sp>
      <p:sp>
        <p:nvSpPr>
          <p:cNvPr id="10" name="Shape 7"/>
          <p:cNvSpPr/>
          <p:nvPr/>
        </p:nvSpPr>
        <p:spPr>
          <a:xfrm>
            <a:off x="548640" y="5029200"/>
            <a:ext cx="5120640" cy="868680"/>
          </a:xfrm>
          <a:prstGeom prst="roundRect">
            <a:avLst>
              <a:gd name="adj" fmla="val 8421"/>
            </a:avLst>
          </a:prstGeom>
          <a:solidFill>
            <a:srgbClr val="141B33"/>
          </a:solidFill>
          <a:ln w="12700">
            <a:solidFill>
              <a:srgbClr val="141B33"/>
            </a:solidFill>
            <a:prstDash val="solid"/>
          </a:ln>
        </p:spPr>
      </p:sp>
      <p:sp>
        <p:nvSpPr>
          <p:cNvPr id="11" name="Text 8"/>
          <p:cNvSpPr/>
          <p:nvPr/>
        </p:nvSpPr>
        <p:spPr>
          <a:xfrm>
            <a:off x="640080" y="5029200"/>
            <a:ext cx="4937760" cy="868680"/>
          </a:xfrm>
          <a:prstGeom prst="rect">
            <a:avLst/>
          </a:prstGeom>
          <a:noFill/>
          <a:ln/>
        </p:spPr>
        <p:txBody>
          <a:bodyPr wrap="square" lIns="381" tIns="381" rIns="381" bIns="381" rtlCol="0" anchor="ctr"/>
          <a:lstStyle/>
          <a:p>
            <a:pPr indent="0" marL="0">
              <a:buNone/>
            </a:pPr>
            <a:r>
              <a:rPr lang="en-US" sz="1150" dirty="0">
                <a:solidFill>
                  <a:srgbClr val="F5F7FF"/>
                </a:solidFill>
                <a:latin typeface="Calibri" pitchFamily="34" charset="0"/>
                <a:ea typeface="Calibri" pitchFamily="34" charset="-122"/>
                <a:cs typeface="Calibri" pitchFamily="34" charset="-120"/>
              </a:rPr>
              <a:t>The hierarchy is encoding-agnostic: keep k-means + refinement, swap the leaf solver. The group's own next step ("6-qubit encoding, constrained mixer") is this binary encoding — already run on Classiq and proven in Lean.</a:t>
            </a:r>
            <a:endParaRPr lang="en-US" sz="1150" dirty="0"/>
          </a:p>
        </p:txBody>
      </p:sp>
      <p:sp>
        <p:nvSpPr>
          <p:cNvPr id="12" name="Shape 9"/>
          <p:cNvSpPr/>
          <p:nvPr/>
        </p:nvSpPr>
        <p:spPr>
          <a:xfrm>
            <a:off x="5943600" y="1463040"/>
            <a:ext cx="2834640" cy="1234440"/>
          </a:xfrm>
          <a:prstGeom prst="roundRect">
            <a:avLst>
              <a:gd name="adj" fmla="val 5926"/>
            </a:avLst>
          </a:prstGeom>
          <a:solidFill>
            <a:srgbClr val="141B33"/>
          </a:solidFill>
          <a:ln w="12700">
            <a:solidFill>
              <a:srgbClr val="141B33"/>
            </a:solidFill>
            <a:prstDash val="solid"/>
          </a:ln>
        </p:spPr>
      </p:sp>
      <p:sp>
        <p:nvSpPr>
          <p:cNvPr id="13" name="Text 10"/>
          <p:cNvSpPr/>
          <p:nvPr/>
        </p:nvSpPr>
        <p:spPr>
          <a:xfrm>
            <a:off x="5943600" y="1572768"/>
            <a:ext cx="2834640" cy="640080"/>
          </a:xfrm>
          <a:prstGeom prst="rect">
            <a:avLst/>
          </a:prstGeom>
          <a:noFill/>
          <a:ln/>
        </p:spPr>
        <p:txBody>
          <a:bodyPr wrap="square" lIns="0" tIns="0" rIns="0" bIns="0" rtlCol="0" anchor="ctr"/>
          <a:lstStyle/>
          <a:p>
            <a:pPr algn="ctr" indent="0" marL="0">
              <a:buNone/>
            </a:pPr>
            <a:r>
              <a:rPr lang="en-US" sz="3000" b="1" dirty="0">
                <a:solidFill>
                  <a:srgbClr val="FF5C7A"/>
                </a:solidFill>
                <a:latin typeface="Calibri" pitchFamily="34" charset="0"/>
                <a:ea typeface="Calibri" pitchFamily="34" charset="-122"/>
                <a:cs typeface="Calibri" pitchFamily="34" charset="-120"/>
              </a:rPr>
              <a:t>0.5 – 1.2×</a:t>
            </a:r>
            <a:endParaRPr lang="en-US" sz="3000" dirty="0"/>
          </a:p>
        </p:txBody>
      </p:sp>
      <p:sp>
        <p:nvSpPr>
          <p:cNvPr id="14" name="Text 11"/>
          <p:cNvSpPr/>
          <p:nvPr/>
        </p:nvSpPr>
        <p:spPr>
          <a:xfrm>
            <a:off x="6035040" y="2194560"/>
            <a:ext cx="26517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P(optimum) / uniform, 5-qubit pack, p = 1, 3, 6</a:t>
            </a:r>
            <a:endParaRPr lang="en-US" sz="1100" dirty="0"/>
          </a:p>
        </p:txBody>
      </p:sp>
      <p:sp>
        <p:nvSpPr>
          <p:cNvPr id="15" name="Shape 12"/>
          <p:cNvSpPr/>
          <p:nvPr/>
        </p:nvSpPr>
        <p:spPr>
          <a:xfrm>
            <a:off x="8961120" y="1463040"/>
            <a:ext cx="2834640" cy="1234440"/>
          </a:xfrm>
          <a:prstGeom prst="roundRect">
            <a:avLst>
              <a:gd name="adj" fmla="val 5926"/>
            </a:avLst>
          </a:prstGeom>
          <a:solidFill>
            <a:srgbClr val="141B33"/>
          </a:solidFill>
          <a:ln w="12700">
            <a:solidFill>
              <a:srgbClr val="141B33"/>
            </a:solidFill>
            <a:prstDash val="solid"/>
          </a:ln>
        </p:spPr>
      </p:sp>
      <p:sp>
        <p:nvSpPr>
          <p:cNvPr id="16" name="Text 13"/>
          <p:cNvSpPr/>
          <p:nvPr/>
        </p:nvSpPr>
        <p:spPr>
          <a:xfrm>
            <a:off x="8961120" y="1572768"/>
            <a:ext cx="283464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27×</a:t>
            </a:r>
            <a:endParaRPr lang="en-US" sz="3000" dirty="0"/>
          </a:p>
        </p:txBody>
      </p:sp>
      <p:sp>
        <p:nvSpPr>
          <p:cNvPr id="17" name="Text 14"/>
          <p:cNvSpPr/>
          <p:nvPr/>
        </p:nvSpPr>
        <p:spPr>
          <a:xfrm>
            <a:off x="9052560" y="2194560"/>
            <a:ext cx="26517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P(optimum) / uniform, 2 qubits per sector, p = 1</a:t>
            </a:r>
            <a:endParaRPr lang="en-US" sz="1100" dirty="0"/>
          </a:p>
        </p:txBody>
      </p:sp>
      <p:sp>
        <p:nvSpPr>
          <p:cNvPr id="18" name="Shape 15"/>
          <p:cNvSpPr/>
          <p:nvPr/>
        </p:nvSpPr>
        <p:spPr>
          <a:xfrm>
            <a:off x="5943600" y="2880360"/>
            <a:ext cx="2834640" cy="1234440"/>
          </a:xfrm>
          <a:prstGeom prst="roundRect">
            <a:avLst>
              <a:gd name="adj" fmla="val 5926"/>
            </a:avLst>
          </a:prstGeom>
          <a:solidFill>
            <a:srgbClr val="141B33"/>
          </a:solidFill>
          <a:ln w="12700">
            <a:solidFill>
              <a:srgbClr val="141B33"/>
            </a:solidFill>
            <a:prstDash val="solid"/>
          </a:ln>
        </p:spPr>
      </p:sp>
      <p:sp>
        <p:nvSpPr>
          <p:cNvPr id="19" name="Text 16"/>
          <p:cNvSpPr/>
          <p:nvPr/>
        </p:nvSpPr>
        <p:spPr>
          <a:xfrm>
            <a:off x="5943600" y="2990088"/>
            <a:ext cx="283464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15.6% → 3.0%</a:t>
            </a:r>
            <a:endParaRPr lang="en-US" sz="3000" dirty="0"/>
          </a:p>
        </p:txBody>
      </p:sp>
      <p:sp>
        <p:nvSpPr>
          <p:cNvPr id="20" name="Text 17"/>
          <p:cNvSpPr/>
          <p:nvPr/>
        </p:nvSpPr>
        <p:spPr>
          <a:xfrm>
            <a:off x="6035040" y="3611880"/>
            <a:ext cx="26517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invalid states, 5-qubit pack, uniform → p = 3</a:t>
            </a:r>
            <a:endParaRPr lang="en-US" sz="1100" dirty="0"/>
          </a:p>
        </p:txBody>
      </p:sp>
      <p:sp>
        <p:nvSpPr>
          <p:cNvPr id="21" name="Shape 18"/>
          <p:cNvSpPr/>
          <p:nvPr/>
        </p:nvSpPr>
        <p:spPr>
          <a:xfrm>
            <a:off x="8961120" y="2880360"/>
            <a:ext cx="2834640" cy="1234440"/>
          </a:xfrm>
          <a:prstGeom prst="roundRect">
            <a:avLst>
              <a:gd name="adj" fmla="val 5926"/>
            </a:avLst>
          </a:prstGeom>
          <a:solidFill>
            <a:srgbClr val="141B33"/>
          </a:solidFill>
          <a:ln w="12700">
            <a:solidFill>
              <a:srgbClr val="141B33"/>
            </a:solidFill>
            <a:prstDash val="solid"/>
          </a:ln>
        </p:spPr>
      </p:sp>
      <p:sp>
        <p:nvSpPr>
          <p:cNvPr id="22" name="Text 19"/>
          <p:cNvSpPr/>
          <p:nvPr/>
        </p:nvSpPr>
        <p:spPr>
          <a:xfrm>
            <a:off x="8961120" y="2990088"/>
            <a:ext cx="283464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0%</a:t>
            </a:r>
            <a:endParaRPr lang="en-US" sz="3000" dirty="0"/>
          </a:p>
        </p:txBody>
      </p:sp>
      <p:sp>
        <p:nvSpPr>
          <p:cNvPr id="23" name="Text 20"/>
          <p:cNvSpPr/>
          <p:nvPr/>
        </p:nvSpPr>
        <p:spPr>
          <a:xfrm>
            <a:off x="9052560" y="3611880"/>
            <a:ext cx="26517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invalid states, binary: every bitstring is a plan</a:t>
            </a:r>
            <a:endParaRPr lang="en-US" sz="1100" dirty="0"/>
          </a:p>
        </p:txBody>
      </p:sp>
      <p:sp>
        <p:nvSpPr>
          <p:cNvPr id="24" name="Text 21"/>
          <p:cNvSpPr/>
          <p:nvPr/>
        </p:nvSpPr>
        <p:spPr>
          <a:xfrm>
            <a:off x="5943600" y="4297680"/>
            <a:ext cx="5852160" cy="17373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F5F7FF"/>
                </a:solidFill>
                <a:latin typeface="Calibri" pitchFamily="34" charset="0"/>
                <a:ea typeface="Calibri" pitchFamily="34" charset="-122"/>
                <a:cs typeface="Calibri" pitchFamily="34" charset="-120"/>
              </a:rPr>
              <a:t>Dense pack: 5 penalised states out of 32, so the QAOA layers go into learning the penalty, not the utility</a:t>
            </a:r>
            <a:endParaRPr lang="en-US" sz="1200" dirty="0"/>
          </a:p>
          <a:p>
            <a:pPr marL="342900" indent="-342900">
              <a:spcAft>
                <a:spcPts val="600"/>
              </a:spcAft>
              <a:buSzPct val="100000"/>
              <a:buChar char="▸"/>
            </a:pPr>
            <a:r>
              <a:rPr lang="en-US" sz="1200" dirty="0">
                <a:solidFill>
                  <a:srgbClr val="F5F7FF"/>
                </a:solidFill>
                <a:latin typeface="Calibri" pitchFamily="34" charset="0"/>
                <a:ea typeface="Calibri" pitchFamily="34" charset="-122"/>
                <a:cs typeface="Calibri" pitchFamily="34" charset="-120"/>
              </a:rPr>
              <a:t>Circuit cost is not the issue: depth 56 on 5 qubits vs 59 on 12 qubits, RZ + CX in both</a:t>
            </a:r>
            <a:endParaRPr lang="en-US" sz="1200" dirty="0"/>
          </a:p>
          <a:p>
            <a:pPr marL="342900" indent="-342900">
              <a:spcAft>
                <a:spcPts val="600"/>
              </a:spcAft>
              <a:buSzPct val="100000"/>
              <a:buChar char="▸"/>
            </a:pPr>
            <a:r>
              <a:rPr lang="en-US" sz="1200" dirty="0">
                <a:solidFill>
                  <a:srgbClr val="F5F7FF"/>
                </a:solidFill>
                <a:latin typeface="Calibri" pitchFamily="34" charset="0"/>
                <a:ea typeface="Calibri" pitchFamily="34" charset="-122"/>
                <a:cs typeface="Calibri" pitchFamily="34" charset="-120"/>
              </a:rPr>
              <a:t>Binary per sector keeps H_C 2-local; P(cost &lt; 0) climbs 53% → 67% from p = 1 to 2</a:t>
            </a:r>
            <a:endParaRPr lang="en-US" sz="1200" dirty="0"/>
          </a:p>
          <a:p>
            <a:pPr marL="342900" indent="-342900">
              <a:spcAft>
                <a:spcPts val="600"/>
              </a:spcAft>
              <a:buSzPct val="100000"/>
              <a:buChar char="▸"/>
            </a:pPr>
            <a:r>
              <a:rPr lang="en-US" sz="1200" dirty="0">
                <a:solidFill>
                  <a:srgbClr val="F5F7FF"/>
                </a:solidFill>
                <a:latin typeface="Calibri" pitchFamily="34" charset="0"/>
                <a:ea typeface="Calibri" pitchFamily="34" charset="-122"/>
                <a:cs typeface="Calibri" pitchFamily="34" charset="-120"/>
              </a:rPr>
              <a:t>And it scales: 10 tilt levels = 4 qubits per sector, 24 qubits for 6 sectors, gate count grows quadratically</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13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13 / 13   |   BENCHMARK</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Benchmark: 84% of the ceiling with 4.8× fewer quantum jobs</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group_benchmark_bars.png">    </p:cNvPr>
          <p:cNvPicPr>
            <a:picLocks noChangeAspect="1"/>
          </p:cNvPicPr>
          <p:nvPr/>
        </p:nvPicPr>
        <p:blipFill>
          <a:blip r:embed="rId1"/>
          <a:stretch>
            <a:fillRect/>
          </a:stretch>
        </p:blipFill>
        <p:spPr>
          <a:xfrm>
            <a:off x="548640" y="1417320"/>
            <a:ext cx="5486400" cy="2715768"/>
          </a:xfrm>
          <a:prstGeom prst="rect">
            <a:avLst/>
          </a:prstGeom>
        </p:spPr>
      </p:pic>
      <p:pic>
        <p:nvPicPr>
          <p:cNvPr id="9" name="Image 1" descr="C:\Projects\Hackton\group\charts\group_benchmark_depth.png">    </p:cNvPr>
          <p:cNvPicPr>
            <a:picLocks noChangeAspect="1"/>
          </p:cNvPicPr>
          <p:nvPr/>
        </p:nvPicPr>
        <p:blipFill>
          <a:blip r:embed="rId2"/>
          <a:stretch>
            <a:fillRect/>
          </a:stretch>
        </p:blipFill>
        <p:spPr>
          <a:xfrm>
            <a:off x="6309360" y="1417320"/>
            <a:ext cx="5486400" cy="3154680"/>
          </a:xfrm>
          <a:prstGeom prst="rect">
            <a:avLst/>
          </a:prstGeom>
        </p:spPr>
      </p:pic>
      <p:sp>
        <p:nvSpPr>
          <p:cNvPr id="10" name="Text 6"/>
          <p:cNvSpPr/>
          <p:nvPr/>
        </p:nvSpPr>
        <p:spPr>
          <a:xfrm>
            <a:off x="548640" y="4160520"/>
            <a:ext cx="548640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Hierarchy + QAOA equals exact-27 and annealing on every group (10 / 10 optimal).</a:t>
            </a:r>
            <a:endParaRPr lang="en-US" sz="1050" dirty="0"/>
          </a:p>
        </p:txBody>
      </p:sp>
      <p:sp>
        <p:nvSpPr>
          <p:cNvPr id="11" name="Text 7"/>
          <p:cNvSpPr/>
          <p:nvPr/>
        </p:nvSpPr>
        <p:spPr>
          <a:xfrm>
            <a:off x="6309360" y="4590288"/>
            <a:ext cx="548640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Refinement 5 → 21 groups; cycle 3 (13 groups) already reaches 1.75 = 95% of the ceiling.</a:t>
            </a:r>
            <a:endParaRPr lang="en-US" sz="1050" dirty="0"/>
          </a:p>
        </p:txBody>
      </p:sp>
      <p:sp>
        <p:nvSpPr>
          <p:cNvPr id="12" name="Shape 8"/>
          <p:cNvSpPr/>
          <p:nvPr/>
        </p:nvSpPr>
        <p:spPr>
          <a:xfrm>
            <a:off x="548640" y="4937760"/>
            <a:ext cx="2377440" cy="1234440"/>
          </a:xfrm>
          <a:prstGeom prst="roundRect">
            <a:avLst>
              <a:gd name="adj" fmla="val 5926"/>
            </a:avLst>
          </a:prstGeom>
          <a:solidFill>
            <a:srgbClr val="141B33"/>
          </a:solidFill>
          <a:ln w="12700">
            <a:solidFill>
              <a:srgbClr val="141B33"/>
            </a:solidFill>
            <a:prstDash val="solid"/>
          </a:ln>
        </p:spPr>
      </p:sp>
      <p:sp>
        <p:nvSpPr>
          <p:cNvPr id="13" name="Text 9"/>
          <p:cNvSpPr/>
          <p:nvPr/>
        </p:nvSpPr>
        <p:spPr>
          <a:xfrm>
            <a:off x="548640" y="5047488"/>
            <a:ext cx="2377440" cy="640080"/>
          </a:xfrm>
          <a:prstGeom prst="rect">
            <a:avLst/>
          </a:prstGeom>
          <a:noFill/>
          <a:ln/>
        </p:spPr>
        <p:txBody>
          <a:bodyPr wrap="square" lIns="0" tIns="0" rIns="0" bIns="0" rtlCol="0" anchor="ctr"/>
          <a:lstStyle/>
          <a:p>
            <a:pPr algn="ctr" indent="0" marL="0">
              <a:buNone/>
            </a:pPr>
            <a:r>
              <a:rPr lang="en-US" sz="3000" b="1" dirty="0">
                <a:solidFill>
                  <a:srgbClr val="A9B4D0"/>
                </a:solidFill>
                <a:latin typeface="Calibri" pitchFamily="34" charset="0"/>
                <a:ea typeface="Calibri" pitchFamily="34" charset="-122"/>
                <a:cs typeface="Calibri" pitchFamily="34" charset="-120"/>
              </a:rPr>
              <a:t>1.379</a:t>
            </a:r>
            <a:endParaRPr lang="en-US" sz="3000" dirty="0"/>
          </a:p>
        </p:txBody>
      </p:sp>
      <p:sp>
        <p:nvSpPr>
          <p:cNvPr id="14" name="Text 10"/>
          <p:cNvSpPr/>
          <p:nvPr/>
        </p:nvSpPr>
        <p:spPr>
          <a:xfrm>
            <a:off x="640080" y="5669280"/>
            <a:ext cx="21945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one config for all · 1 job</a:t>
            </a:r>
            <a:endParaRPr lang="en-US" sz="1100" dirty="0"/>
          </a:p>
        </p:txBody>
      </p:sp>
      <p:sp>
        <p:nvSpPr>
          <p:cNvPr id="15" name="Shape 11"/>
          <p:cNvSpPr/>
          <p:nvPr/>
        </p:nvSpPr>
        <p:spPr>
          <a:xfrm>
            <a:off x="3063240" y="4937760"/>
            <a:ext cx="2377440" cy="1234440"/>
          </a:xfrm>
          <a:prstGeom prst="roundRect">
            <a:avLst>
              <a:gd name="adj" fmla="val 5926"/>
            </a:avLst>
          </a:prstGeom>
          <a:solidFill>
            <a:srgbClr val="141B33"/>
          </a:solidFill>
          <a:ln w="12700">
            <a:solidFill>
              <a:srgbClr val="141B33"/>
            </a:solidFill>
            <a:prstDash val="solid"/>
          </a:ln>
        </p:spPr>
      </p:sp>
      <p:sp>
        <p:nvSpPr>
          <p:cNvPr id="16" name="Text 12"/>
          <p:cNvSpPr/>
          <p:nvPr/>
        </p:nvSpPr>
        <p:spPr>
          <a:xfrm>
            <a:off x="3063240" y="5047488"/>
            <a:ext cx="237744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1.547</a:t>
            </a:r>
            <a:endParaRPr lang="en-US" sz="3000" dirty="0"/>
          </a:p>
        </p:txBody>
      </p:sp>
      <p:sp>
        <p:nvSpPr>
          <p:cNvPr id="17" name="Text 13"/>
          <p:cNvSpPr/>
          <p:nvPr/>
        </p:nvSpPr>
        <p:spPr>
          <a:xfrm>
            <a:off x="3154680" y="5669280"/>
            <a:ext cx="21945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hierarchy + QAOA · 10 jobs</a:t>
            </a:r>
            <a:endParaRPr lang="en-US" sz="1100" dirty="0"/>
          </a:p>
        </p:txBody>
      </p:sp>
      <p:sp>
        <p:nvSpPr>
          <p:cNvPr id="18" name="Shape 14"/>
          <p:cNvSpPr/>
          <p:nvPr/>
        </p:nvSpPr>
        <p:spPr>
          <a:xfrm>
            <a:off x="5577840" y="4937760"/>
            <a:ext cx="2377440" cy="1234440"/>
          </a:xfrm>
          <a:prstGeom prst="roundRect">
            <a:avLst>
              <a:gd name="adj" fmla="val 5926"/>
            </a:avLst>
          </a:prstGeom>
          <a:solidFill>
            <a:srgbClr val="141B33"/>
          </a:solidFill>
          <a:ln w="12700">
            <a:solidFill>
              <a:srgbClr val="141B33"/>
            </a:solidFill>
            <a:prstDash val="solid"/>
          </a:ln>
        </p:spPr>
      </p:sp>
      <p:sp>
        <p:nvSpPr>
          <p:cNvPr id="19" name="Text 15"/>
          <p:cNvSpPr/>
          <p:nvPr/>
        </p:nvSpPr>
        <p:spPr>
          <a:xfrm>
            <a:off x="5577840" y="5047488"/>
            <a:ext cx="237744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1.838</a:t>
            </a:r>
            <a:endParaRPr lang="en-US" sz="3000" dirty="0"/>
          </a:p>
        </p:txBody>
      </p:sp>
      <p:sp>
        <p:nvSpPr>
          <p:cNvPr id="20" name="Text 16"/>
          <p:cNvSpPr/>
          <p:nvPr/>
        </p:nvSpPr>
        <p:spPr>
          <a:xfrm>
            <a:off x="5669280" y="5669280"/>
            <a:ext cx="219456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per-region ceiling · 48 jobs</a:t>
            </a:r>
            <a:endParaRPr lang="en-US" sz="1100" dirty="0"/>
          </a:p>
        </p:txBody>
      </p:sp>
      <p:sp>
        <p:nvSpPr>
          <p:cNvPr id="21" name="Text 17"/>
          <p:cNvSpPr/>
          <p:nvPr/>
        </p:nvSpPr>
        <p:spPr>
          <a:xfrm>
            <a:off x="8183880" y="4846320"/>
            <a:ext cx="3611880" cy="1188720"/>
          </a:xfrm>
          <a:prstGeom prst="rect">
            <a:avLst/>
          </a:prstGeom>
          <a:noFill/>
          <a:ln/>
        </p:spPr>
        <p:txBody>
          <a:bodyPr wrap="square" lIns="381" tIns="381" rIns="381" bIns="381" rtlCol="0" anchor="ctr"/>
          <a:lstStyle/>
          <a:p>
            <a:pPr indent="0" marL="0">
              <a:buNone/>
            </a:pPr>
            <a:r>
              <a:rPr lang="en-US" sz="1150" dirty="0">
                <a:solidFill>
                  <a:srgbClr val="A9B4D0"/>
                </a:solidFill>
                <a:latin typeface="Calibri" pitchFamily="34" charset="0"/>
                <a:ea typeface="Calibri" pitchFamily="34" charset="-122"/>
                <a:cs typeface="Calibri" pitchFamily="34" charset="-120"/>
              </a:rPr>
              <a:t>Video: </a:t>
            </a:r>
            <a:pPr indent="0" marL="0">
              <a:buNone/>
            </a:pPr>
            <a:r>
              <a:rPr lang="en-US" sz="1150" u="sng" dirty="0">
                <a:solidFill>
                  <a:srgbClr val="2BD4C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youtu.be/OSEtTWnRQhc</a:t>
            </a:r>
            <a:pPr indent="0" marL="0">
              <a:buNone/>
            </a:pPr>
            <a:endParaRPr lang="en-US" sz="1150" dirty="0"/>
          </a:p>
          <a:p>
            <a:pPr indent="0" marL="0">
              <a:buNone/>
            </a:pPr>
            <a:r>
              <a:rPr lang="en-US" sz="1150" dirty="0">
                <a:solidFill>
                  <a:srgbClr val="A9B4D0"/>
                </a:solidFill>
                <a:latin typeface="Calibri" pitchFamily="34" charset="0"/>
                <a:ea typeface="Calibri" pitchFamily="34" charset="-122"/>
                <a:cs typeface="Calibri" pitchFamily="34" charset="-120"/>
              </a:rPr>
              <a:t>Code: </a:t>
            </a:r>
            <a:endParaRPr lang="en-US" sz="1150" dirty="0"/>
          </a:p>
          <a:p>
            <a:pPr indent="0" marL="0">
              <a:buNone/>
            </a:pPr>
            <a:r>
              <a:rPr lang="en-US" sz="1150" u="sng" dirty="0">
                <a:solidFill>
                  <a:srgbClr val="2BD4C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github.com/zuwasi/quantum-headache-antenna-tilt</a:t>
            </a:r>
            <a:pPr indent="0" marL="0">
              <a:buNone/>
            </a:pPr>
            <a:endParaRPr lang="en-US" sz="1150" dirty="0"/>
          </a:p>
          <a:p>
            <a:pPr indent="0" marL="0">
              <a:buNone/>
            </a:pPr>
            <a:r>
              <a:rPr lang="en-US" sz="1150" b="1" dirty="0">
                <a:solidFill>
                  <a:srgbClr val="F5F7FF"/>
                </a:solidFill>
                <a:latin typeface="Calibri" pitchFamily="34" charset="0"/>
                <a:ea typeface="Calibri" pitchFamily="34" charset="-122"/>
                <a:cs typeface="Calibri" pitchFamily="34" charset="-120"/>
              </a:rPr>
              <a:t>Team Quantum Headache — thank you. Questions?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Antenna Tilt with QAOA — QUBIT 2026</dc:title>
  <dc:subject>PptxGenJS Presentation</dc:subject>
  <dc:creator>Team Quantum Headache</dc:creator>
  <cp:lastModifiedBy>Team Quantum Headache</cp:lastModifiedBy>
  <cp:revision>1</cp:revision>
  <dcterms:created xsi:type="dcterms:W3CDTF">2026-09-09T07:29:42Z</dcterms:created>
  <dcterms:modified xsi:type="dcterms:W3CDTF">2026-09-09T07:29:42Z</dcterms:modified>
</cp:coreProperties>
</file>