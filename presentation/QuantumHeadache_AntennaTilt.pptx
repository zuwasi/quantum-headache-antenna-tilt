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One sentence: we optimise the down-tilt of 6 real Tel Aviv sector antennas with QAOA, ran it on Classiq, and verified every number two independent ways. Everything shown is reproducible from the group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0:20–1:00. Data: opencellid_il2.csv, two 3-sector sites, interference matrix from geometry. 4096 plans is small on purpose: it lets us check the quantum answer exactly. The real operator problem (hundreds of antennas, 10 levels) has no exact classical check — that is where QAOA is meant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1:00–1:40. Each antenna is a 2-bit number. Substituting q=(1−Z)/2 into the quadratic cost gives a Hamiltonian with only Z and ZZ terms — 73 in total, computed by gates/pauli_decomposition.py and checked against the full cost table. 2-local means the phase layer is 72 RZ rotations and CX ladders; no expensive multi-controlled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1:40–2:10. The Qmod program uses Classiq's phase() on a QNum arithmetic expression, so the compiler builds the ZZ ladder for us. Transpiled: 12 qubits, depth 59 for one layer. We exported QASM3 and cross-checked a hand-written QASM2 of the same layer with Qiskit — three engines, same expectation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2:10–2:50. Wolfram lets us do the full 4096-dimensional statevector and scan the whole (γ,β) plane. The optimum is a narrow valley; most of the plane is a plateau — that will matter on Classiq. These optimal angles are exported to JSON and used as warm start in the Classiq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2:50–3:20. The headline: a random plan is better than baseline 2.4% of the time; after one QAOA layer 53%; after two, 67%. The expected number of shots to see the exact optimum drops from over 12 000 to about 340. That is the gain, measured on the exact statevector and reproduced in shots on Classiq.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3:20–3:50. Switch to the live Classiq IDE / recorded screen here. Show the synthesised circuit and the histogram. The sampled expectation on the Classiq simulator agrees with Wolfram within shot noise and the most frequent low-cost sample is exactly the optimum.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3:50–4:10. Play the clip (about 5 s). If the video does not play in the imported Canva/Google Slides deck, use the MP4 directly from the group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4:10–4:30. Optimising angles on the sampler alone is hard: a random start sits on the plateau and COBYLA cannot see a gradient through shot noise. Warm-starting from the Wolfram angles gives the best result immediately. That is our practical recipe.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4:30–4:40. Judges asked for trust: the classical optimum, its uniqueness and the bit encoding are theorems in Lean 4 with Mathlib, checked by kernel decision procedures over all 4096 cases. No sorry.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4:40–4:47. Scaling story: binary encoding grows with log of the level count; the Hamiltonian stays quadratic so the circuit stays shallow. Grover is the long-term alternative but needs error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4:47–4:55. Whole-network story: cluster regions by a classical feature vector, k=5; each group is one QAOA job optimising its antennas jointly, 2 qubits per antenna; refine only where utility still improves. Our 12-qubit real-data run is one leaf. Two assumptions stated: shared plan within a group, no cross-group interference at a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4:55–5:00. Close: everything is reproducible from the group folder with wolframscript, python and lake.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7C5CFF"/>
          </a:solidFill>
          <a:ln w="12700">
            <a:solidFill>
              <a:srgbClr val="7C5CFF"/>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F5F7FF"/>
                </a:solidFill>
                <a:latin typeface="Calibri" pitchFamily="34" charset="0"/>
                <a:ea typeface="Calibri" pitchFamily="34" charset="-122"/>
                <a:cs typeface="Calibri" pitchFamily="34" charset="-120"/>
              </a:rPr>
              <a:t>1 / 13</a:t>
            </a:r>
            <a:endParaRPr lang="en-US" sz="2800" dirty="0"/>
          </a:p>
        </p:txBody>
      </p:sp>
      <p:sp>
        <p:nvSpPr>
          <p:cNvPr id="4" name="Shape 2"/>
          <p:cNvSpPr/>
          <p:nvPr/>
        </p:nvSpPr>
        <p:spPr>
          <a:xfrm>
            <a:off x="0" y="0"/>
            <a:ext cx="12188952" cy="228600"/>
          </a:xfrm>
          <a:prstGeom prst="rect">
            <a:avLst/>
          </a:prstGeom>
          <a:solidFill>
            <a:srgbClr val="7C5CFF"/>
          </a:solidFill>
          <a:ln/>
        </p:spPr>
      </p:sp>
      <p:sp>
        <p:nvSpPr>
          <p:cNvPr id="5" name="Text 3"/>
          <p:cNvSpPr/>
          <p:nvPr/>
        </p:nvSpPr>
        <p:spPr>
          <a:xfrm>
            <a:off x="731520" y="1463040"/>
            <a:ext cx="10515600" cy="365760"/>
          </a:xfrm>
          <a:prstGeom prst="rect">
            <a:avLst/>
          </a:prstGeom>
          <a:noFill/>
          <a:ln/>
        </p:spPr>
        <p:txBody>
          <a:bodyPr wrap="square" lIns="0" tIns="0" rIns="0" bIns="0" rtlCol="0" anchor="ctr"/>
          <a:lstStyle/>
          <a:p>
            <a:pPr indent="0" marL="0">
              <a:buNone/>
            </a:pPr>
            <a:r>
              <a:rPr lang="en-US" sz="1400" b="1" spc="300" kern="0" dirty="0">
                <a:solidFill>
                  <a:srgbClr val="2BD4C2"/>
                </a:solidFill>
                <a:latin typeface="Calibri" pitchFamily="34" charset="0"/>
                <a:ea typeface="Calibri" pitchFamily="34" charset="-122"/>
                <a:cs typeface="Calibri" pitchFamily="34" charset="-120"/>
              </a:rPr>
              <a:t>QUBIT 2026 HACKATHON · CHALLENGE: ANTENNA TILT</a:t>
            </a:r>
            <a:endParaRPr lang="en-US" sz="1400" dirty="0"/>
          </a:p>
        </p:txBody>
      </p:sp>
      <p:sp>
        <p:nvSpPr>
          <p:cNvPr id="6" name="Text 4"/>
          <p:cNvSpPr/>
          <p:nvPr/>
        </p:nvSpPr>
        <p:spPr>
          <a:xfrm>
            <a:off x="731520" y="1920240"/>
            <a:ext cx="10515600" cy="1828800"/>
          </a:xfrm>
          <a:prstGeom prst="rect">
            <a:avLst/>
          </a:prstGeom>
          <a:noFill/>
          <a:ln/>
        </p:spPr>
        <p:txBody>
          <a:bodyPr wrap="square" lIns="0" tIns="0" rIns="0" bIns="0" rtlCol="0" anchor="ctr"/>
          <a:lstStyle/>
          <a:p>
            <a:pPr indent="0" marL="0">
              <a:buNone/>
            </a:pPr>
            <a:r>
              <a:rPr lang="en-US" sz="4800" b="1" dirty="0">
                <a:solidFill>
                  <a:srgbClr val="F5F7FF"/>
                </a:solidFill>
                <a:latin typeface="Calibri" pitchFamily="34" charset="0"/>
                <a:ea typeface="Calibri" pitchFamily="34" charset="-122"/>
                <a:cs typeface="Calibri" pitchFamily="34" charset="-120"/>
              </a:rPr>
              <a:t>Tilting 6 Tel Aviv antennas</a:t>
            </a:r>
            <a:endParaRPr lang="en-US" sz="4800" dirty="0"/>
          </a:p>
          <a:p>
            <a:pPr indent="0" marL="0">
              <a:buNone/>
            </a:pPr>
            <a:r>
              <a:rPr lang="en-US" sz="4800" b="1" dirty="0">
                <a:solidFill>
                  <a:srgbClr val="F5F7FF"/>
                </a:solidFill>
                <a:latin typeface="Calibri" pitchFamily="34" charset="0"/>
                <a:ea typeface="Calibri" pitchFamily="34" charset="-122"/>
                <a:cs typeface="Calibri" pitchFamily="34" charset="-120"/>
              </a:rPr>
              <a:t>with a 12-qubit QAOA</a:t>
            </a:r>
            <a:endParaRPr lang="en-US" sz="4800" dirty="0"/>
          </a:p>
        </p:txBody>
      </p:sp>
      <p:sp>
        <p:nvSpPr>
          <p:cNvPr id="7" name="Text 5"/>
          <p:cNvSpPr/>
          <p:nvPr/>
        </p:nvSpPr>
        <p:spPr>
          <a:xfrm>
            <a:off x="731520" y="3840480"/>
            <a:ext cx="10515600" cy="548640"/>
          </a:xfrm>
          <a:prstGeom prst="rect">
            <a:avLst/>
          </a:prstGeom>
          <a:noFill/>
          <a:ln/>
        </p:spPr>
        <p:txBody>
          <a:bodyPr wrap="square" lIns="0" tIns="0" rIns="0" bIns="0" rtlCol="0" anchor="ctr"/>
          <a:lstStyle/>
          <a:p>
            <a:pPr indent="0" marL="0">
              <a:buNone/>
            </a:pPr>
            <a:r>
              <a:rPr lang="en-US" sz="1800" dirty="0">
                <a:solidFill>
                  <a:srgbClr val="A9B4D0"/>
                </a:solidFill>
                <a:latin typeface="Calibri" pitchFamily="34" charset="0"/>
                <a:ea typeface="Calibri" pitchFamily="34" charset="-122"/>
                <a:cs typeface="Calibri" pitchFamily="34" charset="-120"/>
              </a:rPr>
              <a:t>Real OpenCelliD data → cost Hamiltonian → Classiq circuit → Wolfram exact simulation → Lean 4 proof</a:t>
            </a:r>
            <a:endParaRPr lang="en-US" sz="1800" dirty="0"/>
          </a:p>
        </p:txBody>
      </p:sp>
      <p:sp>
        <p:nvSpPr>
          <p:cNvPr id="8" name="Text 6"/>
          <p:cNvSpPr/>
          <p:nvPr/>
        </p:nvSpPr>
        <p:spPr>
          <a:xfrm>
            <a:off x="731520" y="5120640"/>
            <a:ext cx="5486400" cy="457200"/>
          </a:xfrm>
          <a:prstGeom prst="rect">
            <a:avLst/>
          </a:prstGeom>
          <a:noFill/>
          <a:ln/>
        </p:spPr>
        <p:txBody>
          <a:bodyPr wrap="square" lIns="0" tIns="0" rIns="0" bIns="0" rtlCol="0" anchor="ctr"/>
          <a:lstStyle/>
          <a:p>
            <a:pPr indent="0" marL="0">
              <a:buNone/>
            </a:pPr>
            <a:r>
              <a:rPr lang="en-US" sz="2000" b="1" dirty="0">
                <a:solidFill>
                  <a:srgbClr val="F5F7FF"/>
                </a:solidFill>
                <a:latin typeface="Calibri" pitchFamily="34" charset="0"/>
                <a:ea typeface="Calibri" pitchFamily="34" charset="-122"/>
                <a:cs typeface="Calibri" pitchFamily="34" charset="-120"/>
              </a:rPr>
              <a:t>Team Quantum Headache</a:t>
            </a:r>
            <a:endParaRPr lang="en-US" sz="2000" dirty="0"/>
          </a:p>
        </p:txBody>
      </p:sp>
      <p:sp>
        <p:nvSpPr>
          <p:cNvPr id="9" name="Text 7"/>
          <p:cNvSpPr/>
          <p:nvPr/>
        </p:nvSpPr>
        <p:spPr>
          <a:xfrm>
            <a:off x="731520" y="5532120"/>
            <a:ext cx="5486400" cy="365760"/>
          </a:xfrm>
          <a:prstGeom prst="rect">
            <a:avLst/>
          </a:prstGeom>
          <a:noFill/>
          <a:ln/>
        </p:spPr>
        <p:txBody>
          <a:bodyPr wrap="square" lIns="0" tIns="0" rIns="0" bIns="0" rtlCol="0" anchor="ctr"/>
          <a:lstStyle/>
          <a:p>
            <a:pPr indent="0" marL="0">
              <a:buNone/>
            </a:pPr>
            <a:r>
              <a:rPr lang="en-US" sz="1400" dirty="0">
                <a:solidFill>
                  <a:srgbClr val="A9B4D0"/>
                </a:solidFill>
                <a:latin typeface="Calibri" pitchFamily="34" charset="0"/>
                <a:ea typeface="Calibri" pitchFamily="34" charset="-122"/>
                <a:cs typeface="Calibri" pitchFamily="34" charset="-120"/>
              </a:rPr>
              <a:t>5-minute demo ·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7C5CFF"/>
          </a:solidFill>
          <a:ln w="12700">
            <a:solidFill>
              <a:srgbClr val="7C5CFF"/>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F5F7FF"/>
                </a:solidFill>
                <a:latin typeface="Calibri" pitchFamily="34" charset="0"/>
                <a:ea typeface="Calibri" pitchFamily="34" charset="-122"/>
                <a:cs typeface="Calibri" pitchFamily="34" charset="-120"/>
              </a:rPr>
              <a:t>2 / 13</a:t>
            </a:r>
            <a:endParaRPr lang="en-US" sz="2800" dirty="0"/>
          </a:p>
        </p:txBody>
      </p:sp>
      <p:sp>
        <p:nvSpPr>
          <p:cNvPr id="4" name="Shape 2"/>
          <p:cNvSpPr/>
          <p:nvPr/>
        </p:nvSpPr>
        <p:spPr>
          <a:xfrm>
            <a:off x="0" y="0"/>
            <a:ext cx="164592" cy="6858000"/>
          </a:xfrm>
          <a:prstGeom prst="rect">
            <a:avLst/>
          </a:prstGeom>
          <a:solidFill>
            <a:srgbClr val="7C5CFF"/>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D4C2"/>
                </a:solidFill>
                <a:latin typeface="Calibri" pitchFamily="34" charset="0"/>
                <a:ea typeface="Calibri" pitchFamily="34" charset="-122"/>
                <a:cs typeface="Calibri" pitchFamily="34" charset="-120"/>
              </a:rPr>
              <a:t>SLIDE 2 / 13   |   PROBLEM</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200" b="1" dirty="0">
                <a:solidFill>
                  <a:srgbClr val="F5F7FF"/>
                </a:solidFill>
                <a:latin typeface="Calibri" pitchFamily="34" charset="0"/>
                <a:ea typeface="Calibri" pitchFamily="34" charset="-122"/>
                <a:cs typeface="Calibri" pitchFamily="34" charset="-120"/>
              </a:rPr>
              <a:t>The problem: pick one down-tilt per antenna</a:t>
            </a:r>
            <a:endParaRPr lang="en-US" sz="32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A9B4D0"/>
                </a:solidFill>
                <a:latin typeface="Calibri" pitchFamily="34" charset="0"/>
                <a:ea typeface="Calibri" pitchFamily="34" charset="-122"/>
                <a:cs typeface="Calibri" pitchFamily="34" charset="-120"/>
              </a:rPr>
              <a:t>Quantum Headache · QUBIT 2026 · Antenna Tilt</a:t>
            </a:r>
            <a:endParaRPr lang="en-US" sz="1000" dirty="0"/>
          </a:p>
        </p:txBody>
      </p:sp>
      <p:pic>
        <p:nvPicPr>
          <p:cNvPr id="8" name="Image 0" descr="C:\Projects\Hackton\group\charts\map_small.jpg">    </p:cNvPr>
          <p:cNvPicPr>
            <a:picLocks noChangeAspect="1"/>
          </p:cNvPicPr>
          <p:nvPr/>
        </p:nvPicPr>
        <p:blipFill>
          <a:blip r:embed="rId1"/>
          <a:stretch>
            <a:fillRect/>
          </a:stretch>
        </p:blipFill>
        <p:spPr>
          <a:xfrm>
            <a:off x="548640" y="1417320"/>
            <a:ext cx="6949440" cy="3502152"/>
          </a:xfrm>
          <a:prstGeom prst="rect">
            <a:avLst/>
          </a:prstGeom>
        </p:spPr>
      </p:pic>
      <p:sp>
        <p:nvSpPr>
          <p:cNvPr id="9" name="Text 6"/>
          <p:cNvSpPr/>
          <p:nvPr/>
        </p:nvSpPr>
        <p:spPr>
          <a:xfrm>
            <a:off x="548640" y="4956048"/>
            <a:ext cx="6949440" cy="320040"/>
          </a:xfrm>
          <a:prstGeom prst="rect">
            <a:avLst/>
          </a:prstGeom>
          <a:noFill/>
          <a:ln/>
        </p:spPr>
        <p:txBody>
          <a:bodyPr wrap="square" lIns="0" tIns="0" rIns="0" bIns="0" rtlCol="0" anchor="ctr"/>
          <a:lstStyle/>
          <a:p>
            <a:pPr indent="0" marL="0">
              <a:buNone/>
            </a:pPr>
            <a:r>
              <a:rPr lang="en-US" sz="1050" i="1" dirty="0">
                <a:solidFill>
                  <a:srgbClr val="A9B4D0"/>
                </a:solidFill>
                <a:latin typeface="Calibri" pitchFamily="34" charset="0"/>
                <a:ea typeface="Calibri" pitchFamily="34" charset="-122"/>
                <a:cs typeface="Calibri" pitchFamily="34" charset="-120"/>
              </a:rPr>
              <a:t>Two real 3-sector sites from OpenCelliD (Ayalon, Tel Aviv). Left: all tilts 0. Right: optimum plan — only A1 tilts to level 3.</a:t>
            </a:r>
            <a:endParaRPr lang="en-US" sz="1050" dirty="0"/>
          </a:p>
        </p:txBody>
      </p:sp>
      <p:sp>
        <p:nvSpPr>
          <p:cNvPr id="10" name="Text 7"/>
          <p:cNvSpPr/>
          <p:nvPr/>
        </p:nvSpPr>
        <p:spPr>
          <a:xfrm>
            <a:off x="7772400" y="1463040"/>
            <a:ext cx="4023360" cy="420624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F5F7FF"/>
                </a:solidFill>
                <a:latin typeface="Calibri" pitchFamily="34" charset="0"/>
                <a:ea typeface="Calibri" pitchFamily="34" charset="-122"/>
                <a:cs typeface="Calibri" pitchFamily="34" charset="-120"/>
              </a:rPr>
              <a:t>6 sector antennas A0…A5, 4 tilt levels each → 4⁶ = 4096 plans</a:t>
            </a:r>
            <a:endParaRPr lang="en-US" sz="1400" dirty="0"/>
          </a:p>
          <a:p>
            <a:pPr marL="342900" indent="-342900">
              <a:spcAft>
                <a:spcPts val="600"/>
              </a:spcAft>
              <a:buSzPct val="100000"/>
              <a:buChar char="▸"/>
            </a:pPr>
            <a:r>
              <a:rPr lang="en-US" sz="1400" dirty="0">
                <a:solidFill>
                  <a:srgbClr val="F5F7FF"/>
                </a:solidFill>
                <a:latin typeface="Calibri" pitchFamily="34" charset="0"/>
                <a:ea typeface="Calibri" pitchFamily="34" charset="-122"/>
                <a:cs typeface="Calibri" pitchFamily="34" charset="-120"/>
              </a:rPr>
              <a:t>Tilting down: less interference on neighbours, less coverage</a:t>
            </a:r>
            <a:endParaRPr lang="en-US" sz="1400" dirty="0"/>
          </a:p>
          <a:p>
            <a:pPr marL="342900" indent="-342900">
              <a:spcAft>
                <a:spcPts val="600"/>
              </a:spcAft>
              <a:buSzPct val="100000"/>
              <a:buChar char="▸"/>
            </a:pPr>
            <a:r>
              <a:rPr lang="en-US" sz="1400" dirty="0">
                <a:solidFill>
                  <a:srgbClr val="F5F7FF"/>
                </a:solidFill>
                <a:latin typeface="Calibri" pitchFamily="34" charset="0"/>
                <a:ea typeface="Calibri" pitchFamily="34" charset="-122"/>
                <a:cs typeface="Calibri" pitchFamily="34" charset="-120"/>
              </a:rPr>
              <a:t>Cost(t) = tᵀ I t − 1.5 · c·t + 0.3 · Σt   (interference − coverage + penalty)</a:t>
            </a:r>
            <a:endParaRPr lang="en-US" sz="1400" dirty="0"/>
          </a:p>
          <a:p>
            <a:pPr marL="342900" indent="-342900">
              <a:spcAft>
                <a:spcPts val="600"/>
              </a:spcAft>
              <a:buSzPct val="100000"/>
              <a:buChar char="▸"/>
            </a:pPr>
            <a:r>
              <a:rPr lang="en-US" sz="1400" dirty="0">
                <a:solidFill>
                  <a:srgbClr val="F5F7FF"/>
                </a:solidFill>
                <a:latin typeface="Calibri" pitchFamily="34" charset="0"/>
                <a:ea typeface="Calibri" pitchFamily="34" charset="-122"/>
                <a:cs typeface="Calibri" pitchFamily="34" charset="-120"/>
              </a:rPr>
              <a:t>Classical brute force: unique optimum −2.844 at (0,3,0,0,0,0)</a:t>
            </a:r>
            <a:endParaRPr lang="en-US" sz="1400" dirty="0"/>
          </a:p>
          <a:p>
            <a:pPr marL="342900" indent="-342900">
              <a:spcAft>
                <a:spcPts val="600"/>
              </a:spcAft>
              <a:buSzPct val="100000"/>
              <a:buChar char="▸"/>
            </a:pPr>
            <a:r>
              <a:rPr lang="en-US" sz="1400" dirty="0">
                <a:solidFill>
                  <a:srgbClr val="F5F7FF"/>
                </a:solidFill>
                <a:latin typeface="Calibri" pitchFamily="34" charset="0"/>
                <a:ea typeface="Calibri" pitchFamily="34" charset="-122"/>
                <a:cs typeface="Calibri" pitchFamily="34" charset="-120"/>
              </a:rPr>
              <a:t>Real networks: 100s of antennas × 10 levels → intractable → quantum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7C5CFF"/>
          </a:solidFill>
          <a:ln w="12700">
            <a:solidFill>
              <a:srgbClr val="7C5CFF"/>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F5F7FF"/>
                </a:solidFill>
                <a:latin typeface="Calibri" pitchFamily="34" charset="0"/>
                <a:ea typeface="Calibri" pitchFamily="34" charset="-122"/>
                <a:cs typeface="Calibri" pitchFamily="34" charset="-120"/>
              </a:rPr>
              <a:t>3 / 13</a:t>
            </a:r>
            <a:endParaRPr lang="en-US" sz="2800" dirty="0"/>
          </a:p>
        </p:txBody>
      </p:sp>
      <p:sp>
        <p:nvSpPr>
          <p:cNvPr id="4" name="Shape 2"/>
          <p:cNvSpPr/>
          <p:nvPr/>
        </p:nvSpPr>
        <p:spPr>
          <a:xfrm>
            <a:off x="0" y="0"/>
            <a:ext cx="164592" cy="6858000"/>
          </a:xfrm>
          <a:prstGeom prst="rect">
            <a:avLst/>
          </a:prstGeom>
          <a:solidFill>
            <a:srgbClr val="7C5CFF"/>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D4C2"/>
                </a:solidFill>
                <a:latin typeface="Calibri" pitchFamily="34" charset="0"/>
                <a:ea typeface="Calibri" pitchFamily="34" charset="-122"/>
                <a:cs typeface="Calibri" pitchFamily="34" charset="-120"/>
              </a:rPr>
              <a:t>SLIDE 3 / 13   |   MODEL</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200" b="1" dirty="0">
                <a:solidFill>
                  <a:srgbClr val="F5F7FF"/>
                </a:solidFill>
                <a:latin typeface="Calibri" pitchFamily="34" charset="0"/>
                <a:ea typeface="Calibri" pitchFamily="34" charset="-122"/>
                <a:cs typeface="Calibri" pitchFamily="34" charset="-120"/>
              </a:rPr>
              <a:t>Encoding: 2 qubits per antenna, 12 qubits total</a:t>
            </a:r>
            <a:endParaRPr lang="en-US" sz="32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A9B4D0"/>
                </a:solidFill>
                <a:latin typeface="Calibri" pitchFamily="34" charset="0"/>
                <a:ea typeface="Calibri" pitchFamily="34" charset="-122"/>
                <a:cs typeface="Calibri" pitchFamily="34" charset="-120"/>
              </a:rPr>
              <a:t>Quantum Headache · QUBIT 2026 · Antenna Tilt</a:t>
            </a:r>
            <a:endParaRPr lang="en-US" sz="1000" dirty="0"/>
          </a:p>
        </p:txBody>
      </p:sp>
      <p:sp>
        <p:nvSpPr>
          <p:cNvPr id="8" name="Shape 6"/>
          <p:cNvSpPr/>
          <p:nvPr/>
        </p:nvSpPr>
        <p:spPr>
          <a:xfrm>
            <a:off x="548640" y="1463040"/>
            <a:ext cx="5486400" cy="2148840"/>
          </a:xfrm>
          <a:prstGeom prst="roundRect">
            <a:avLst>
              <a:gd name="adj" fmla="val 3404"/>
            </a:avLst>
          </a:prstGeom>
          <a:solidFill>
            <a:srgbClr val="141B33"/>
          </a:solidFill>
          <a:ln w="12700">
            <a:solidFill>
              <a:srgbClr val="141B33"/>
            </a:solidFill>
            <a:prstDash val="solid"/>
          </a:ln>
        </p:spPr>
      </p:sp>
      <p:sp>
        <p:nvSpPr>
          <p:cNvPr id="9" name="Text 7"/>
          <p:cNvSpPr/>
          <p:nvPr/>
        </p:nvSpPr>
        <p:spPr>
          <a:xfrm>
            <a:off x="731520" y="1554480"/>
            <a:ext cx="5120640" cy="1965960"/>
          </a:xfrm>
          <a:prstGeom prst="rect">
            <a:avLst/>
          </a:prstGeom>
          <a:noFill/>
          <a:ln/>
        </p:spPr>
        <p:txBody>
          <a:bodyPr wrap="square" lIns="635" tIns="635" rIns="635" bIns="635" rtlCol="0" anchor="ctr"/>
          <a:lstStyle/>
          <a:p>
            <a:pPr indent="0" marL="0">
              <a:buNone/>
            </a:pPr>
            <a:r>
              <a:rPr lang="en-US" sz="2000" b="1" dirty="0">
                <a:solidFill>
                  <a:srgbClr val="2BD4C2"/>
                </a:solidFill>
                <a:latin typeface="Calibri" pitchFamily="34" charset="0"/>
                <a:ea typeface="Calibri" pitchFamily="34" charset="-122"/>
                <a:cs typeface="Calibri" pitchFamily="34" charset="-120"/>
              </a:rPr>
              <a:t>tiltᵢ = q₂ᵢ + 2·q₂ᵢ₊₁ ∈ {0,1,2,3}</a:t>
            </a:r>
            <a:endParaRPr lang="en-US" sz="2000" dirty="0"/>
          </a:p>
          <a:p>
            <a:pPr indent="0" marL="0">
              <a:buNone/>
            </a:pPr>
            <a:r>
              <a:rPr lang="en-US" sz="1400" dirty="0">
                <a:solidFill>
                  <a:srgbClr val="F5F7FF"/>
                </a:solidFill>
                <a:latin typeface="Calibri" pitchFamily="34" charset="0"/>
                <a:ea typeface="Calibri" pitchFamily="34" charset="-122"/>
                <a:cs typeface="Calibri" pitchFamily="34" charset="-120"/>
              </a:rPr>
              <a:t>qᵢ = (1 − Zᵢ)/2  →  Cost becomes a Pauli-Z polynomial</a:t>
            </a:r>
            <a:endParaRPr lang="en-US" sz="2000" dirty="0"/>
          </a:p>
          <a:p>
            <a:pPr indent="0" marL="0">
              <a:buNone/>
            </a:pPr>
            <a:r>
              <a:rPr lang="en-US" sz="1800" b="1" dirty="0">
                <a:solidFill>
                  <a:srgbClr val="F5F7FF"/>
                </a:solidFill>
                <a:latin typeface="Calibri" pitchFamily="34" charset="0"/>
                <a:ea typeface="Calibri" pitchFamily="34" charset="-122"/>
                <a:cs typeface="Calibri" pitchFamily="34" charset="-120"/>
              </a:rPr>
              <a:t>H_C = c₀·I + Σ hᵢ Zᵢ + Σ Jᵢⱼ ZᵢZⱼ</a:t>
            </a:r>
            <a:endParaRPr lang="en-US" sz="2000" dirty="0"/>
          </a:p>
          <a:p>
            <a:pPr indent="0" marL="0">
              <a:buNone/>
            </a:pPr>
            <a:r>
              <a:rPr lang="en-US" sz="1400" dirty="0">
                <a:solidFill>
                  <a:srgbClr val="A9B4D0"/>
                </a:solidFill>
                <a:latin typeface="Calibri" pitchFamily="34" charset="0"/>
                <a:ea typeface="Calibri" pitchFamily="34" charset="-122"/>
                <a:cs typeface="Calibri" pitchFamily="34" charset="-120"/>
              </a:rPr>
              <a:t>73 terms: 1 identity + 12 Z + 60 ZZ — strictly 2-local, no ZZZ</a:t>
            </a:r>
            <a:endParaRPr lang="en-US" sz="2000" dirty="0"/>
          </a:p>
        </p:txBody>
      </p:sp>
      <p:sp>
        <p:nvSpPr>
          <p:cNvPr id="10" name="Shape 8"/>
          <p:cNvSpPr/>
          <p:nvPr/>
        </p:nvSpPr>
        <p:spPr>
          <a:xfrm>
            <a:off x="548640" y="3840480"/>
            <a:ext cx="1737360" cy="1234440"/>
          </a:xfrm>
          <a:prstGeom prst="roundRect">
            <a:avLst>
              <a:gd name="adj" fmla="val 5926"/>
            </a:avLst>
          </a:prstGeom>
          <a:solidFill>
            <a:srgbClr val="141B33"/>
          </a:solidFill>
          <a:ln w="12700">
            <a:solidFill>
              <a:srgbClr val="141B33"/>
            </a:solidFill>
            <a:prstDash val="solid"/>
          </a:ln>
        </p:spPr>
      </p:sp>
      <p:sp>
        <p:nvSpPr>
          <p:cNvPr id="11" name="Text 9"/>
          <p:cNvSpPr/>
          <p:nvPr/>
        </p:nvSpPr>
        <p:spPr>
          <a:xfrm>
            <a:off x="548640" y="3950208"/>
            <a:ext cx="1737360" cy="640080"/>
          </a:xfrm>
          <a:prstGeom prst="rect">
            <a:avLst/>
          </a:prstGeom>
          <a:noFill/>
          <a:ln/>
        </p:spPr>
        <p:txBody>
          <a:bodyPr wrap="square" lIns="0" tIns="0" rIns="0" bIns="0" rtlCol="0" anchor="ctr"/>
          <a:lstStyle/>
          <a:p>
            <a:pPr algn="ctr" indent="0" marL="0">
              <a:buNone/>
            </a:pPr>
            <a:r>
              <a:rPr lang="en-US" sz="3000" b="1" dirty="0">
                <a:solidFill>
                  <a:srgbClr val="2BD4C2"/>
                </a:solidFill>
                <a:latin typeface="Calibri" pitchFamily="34" charset="0"/>
                <a:ea typeface="Calibri" pitchFamily="34" charset="-122"/>
                <a:cs typeface="Calibri" pitchFamily="34" charset="-120"/>
              </a:rPr>
              <a:t>12</a:t>
            </a:r>
            <a:endParaRPr lang="en-US" sz="3000" dirty="0"/>
          </a:p>
        </p:txBody>
      </p:sp>
      <p:sp>
        <p:nvSpPr>
          <p:cNvPr id="12" name="Text 10"/>
          <p:cNvSpPr/>
          <p:nvPr/>
        </p:nvSpPr>
        <p:spPr>
          <a:xfrm>
            <a:off x="640080" y="4572000"/>
            <a:ext cx="155448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qubits</a:t>
            </a:r>
            <a:endParaRPr lang="en-US" sz="1100" dirty="0"/>
          </a:p>
        </p:txBody>
      </p:sp>
      <p:sp>
        <p:nvSpPr>
          <p:cNvPr id="13" name="Shape 11"/>
          <p:cNvSpPr/>
          <p:nvPr/>
        </p:nvSpPr>
        <p:spPr>
          <a:xfrm>
            <a:off x="2423160" y="3840480"/>
            <a:ext cx="1737360" cy="1234440"/>
          </a:xfrm>
          <a:prstGeom prst="roundRect">
            <a:avLst>
              <a:gd name="adj" fmla="val 5926"/>
            </a:avLst>
          </a:prstGeom>
          <a:solidFill>
            <a:srgbClr val="141B33"/>
          </a:solidFill>
          <a:ln w="12700">
            <a:solidFill>
              <a:srgbClr val="141B33"/>
            </a:solidFill>
            <a:prstDash val="solid"/>
          </a:ln>
        </p:spPr>
      </p:sp>
      <p:sp>
        <p:nvSpPr>
          <p:cNvPr id="14" name="Text 12"/>
          <p:cNvSpPr/>
          <p:nvPr/>
        </p:nvSpPr>
        <p:spPr>
          <a:xfrm>
            <a:off x="2423160" y="3950208"/>
            <a:ext cx="1737360" cy="640080"/>
          </a:xfrm>
          <a:prstGeom prst="rect">
            <a:avLst/>
          </a:prstGeom>
          <a:noFill/>
          <a:ln/>
        </p:spPr>
        <p:txBody>
          <a:bodyPr wrap="square" lIns="0" tIns="0" rIns="0" bIns="0" rtlCol="0" anchor="ctr"/>
          <a:lstStyle/>
          <a:p>
            <a:pPr algn="ctr" indent="0" marL="0">
              <a:buNone/>
            </a:pPr>
            <a:r>
              <a:rPr lang="en-US" sz="3000" b="1" dirty="0">
                <a:solidFill>
                  <a:srgbClr val="2BD4C2"/>
                </a:solidFill>
                <a:latin typeface="Calibri" pitchFamily="34" charset="0"/>
                <a:ea typeface="Calibri" pitchFamily="34" charset="-122"/>
                <a:cs typeface="Calibri" pitchFamily="34" charset="-120"/>
              </a:rPr>
              <a:t>73</a:t>
            </a:r>
            <a:endParaRPr lang="en-US" sz="3000" dirty="0"/>
          </a:p>
        </p:txBody>
      </p:sp>
      <p:sp>
        <p:nvSpPr>
          <p:cNvPr id="15" name="Text 13"/>
          <p:cNvSpPr/>
          <p:nvPr/>
        </p:nvSpPr>
        <p:spPr>
          <a:xfrm>
            <a:off x="2514600" y="4572000"/>
            <a:ext cx="155448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Pauli terms</a:t>
            </a:r>
            <a:endParaRPr lang="en-US" sz="1100" dirty="0"/>
          </a:p>
        </p:txBody>
      </p:sp>
      <p:sp>
        <p:nvSpPr>
          <p:cNvPr id="16" name="Shape 14"/>
          <p:cNvSpPr/>
          <p:nvPr/>
        </p:nvSpPr>
        <p:spPr>
          <a:xfrm>
            <a:off x="4297680" y="3840480"/>
            <a:ext cx="1737360" cy="1234440"/>
          </a:xfrm>
          <a:prstGeom prst="roundRect">
            <a:avLst>
              <a:gd name="adj" fmla="val 5926"/>
            </a:avLst>
          </a:prstGeom>
          <a:solidFill>
            <a:srgbClr val="141B33"/>
          </a:solidFill>
          <a:ln w="12700">
            <a:solidFill>
              <a:srgbClr val="141B33"/>
            </a:solidFill>
            <a:prstDash val="solid"/>
          </a:ln>
        </p:spPr>
      </p:sp>
      <p:sp>
        <p:nvSpPr>
          <p:cNvPr id="17" name="Text 15"/>
          <p:cNvSpPr/>
          <p:nvPr/>
        </p:nvSpPr>
        <p:spPr>
          <a:xfrm>
            <a:off x="4297680" y="3950208"/>
            <a:ext cx="1737360" cy="640080"/>
          </a:xfrm>
          <a:prstGeom prst="rect">
            <a:avLst/>
          </a:prstGeom>
          <a:noFill/>
          <a:ln/>
        </p:spPr>
        <p:txBody>
          <a:bodyPr wrap="square" lIns="0" tIns="0" rIns="0" bIns="0" rtlCol="0" anchor="ctr"/>
          <a:lstStyle/>
          <a:p>
            <a:pPr algn="ctr" indent="0" marL="0">
              <a:buNone/>
            </a:pPr>
            <a:r>
              <a:rPr lang="en-US" sz="3000" b="1" dirty="0">
                <a:solidFill>
                  <a:srgbClr val="2BD4C2"/>
                </a:solidFill>
                <a:latin typeface="Calibri" pitchFamily="34" charset="0"/>
                <a:ea typeface="Calibri" pitchFamily="34" charset="-122"/>
                <a:cs typeface="Calibri" pitchFamily="34" charset="-120"/>
              </a:rPr>
              <a:t>2-local</a:t>
            </a:r>
            <a:endParaRPr lang="en-US" sz="3000" dirty="0"/>
          </a:p>
        </p:txBody>
      </p:sp>
      <p:sp>
        <p:nvSpPr>
          <p:cNvPr id="18" name="Text 16"/>
          <p:cNvSpPr/>
          <p:nvPr/>
        </p:nvSpPr>
        <p:spPr>
          <a:xfrm>
            <a:off x="4389120" y="4572000"/>
            <a:ext cx="155448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ZZ max weight</a:t>
            </a:r>
            <a:endParaRPr lang="en-US" sz="1100" dirty="0"/>
          </a:p>
        </p:txBody>
      </p:sp>
      <p:sp>
        <p:nvSpPr>
          <p:cNvPr id="19" name="Text 17"/>
          <p:cNvSpPr/>
          <p:nvPr/>
        </p:nvSpPr>
        <p:spPr>
          <a:xfrm>
            <a:off x="6309360" y="1463040"/>
            <a:ext cx="5486400" cy="384048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F5F7FF"/>
                </a:solidFill>
                <a:latin typeface="Calibri" pitchFamily="34" charset="0"/>
                <a:ea typeface="Calibri" pitchFamily="34" charset="-122"/>
                <a:cs typeface="Calibri" pitchFamily="34" charset="-120"/>
              </a:rPr>
              <a:t>Why binary (2 qubits) and not one-hot (4 qubits) or a dense 5-qubit pack?</a:t>
            </a:r>
            <a:endParaRPr lang="en-US" sz="1400" dirty="0"/>
          </a:p>
          <a:p>
            <a:pPr marL="342900" indent="-342900">
              <a:spcAft>
                <a:spcPts val="600"/>
              </a:spcAft>
              <a:buSzPct val="100000"/>
              <a:buChar char="▸"/>
            </a:pPr>
            <a:r>
              <a:rPr lang="en-US" sz="1400" dirty="0">
                <a:solidFill>
                  <a:srgbClr val="F5F7FF"/>
                </a:solidFill>
                <a:latin typeface="Calibri" pitchFamily="34" charset="0"/>
                <a:ea typeface="Calibri" pitchFamily="34" charset="-122"/>
                <a:cs typeface="Calibri" pitchFamily="34" charset="-120"/>
              </a:rPr>
              <a:t>Binary keeps H_C quadratic → only RZ and CX gates after ZZ decomposition</a:t>
            </a:r>
            <a:endParaRPr lang="en-US" sz="1400" dirty="0"/>
          </a:p>
          <a:p>
            <a:pPr marL="342900" indent="-342900">
              <a:spcAft>
                <a:spcPts val="600"/>
              </a:spcAft>
              <a:buSzPct val="100000"/>
              <a:buChar char="▸"/>
            </a:pPr>
            <a:r>
              <a:rPr lang="en-US" sz="1400" dirty="0">
                <a:solidFill>
                  <a:srgbClr val="F5F7FF"/>
                </a:solidFill>
                <a:latin typeface="Calibri" pitchFamily="34" charset="0"/>
                <a:ea typeface="Calibri" pitchFamily="34" charset="-122"/>
                <a:cs typeface="Calibri" pitchFamily="34" charset="-120"/>
              </a:rPr>
              <a:t>Fits Classiq student edition comfortably; 15 parallel jobs used for sweeps</a:t>
            </a:r>
            <a:endParaRPr lang="en-US" sz="1400" dirty="0"/>
          </a:p>
          <a:p>
            <a:pPr marL="342900" indent="-342900">
              <a:spcAft>
                <a:spcPts val="600"/>
              </a:spcAft>
              <a:buSzPct val="100000"/>
              <a:buChar char="▸"/>
            </a:pPr>
            <a:r>
              <a:rPr lang="en-US" sz="1400" dirty="0">
                <a:solidFill>
                  <a:srgbClr val="F5F7FF"/>
                </a:solidFill>
                <a:latin typeface="Calibri" pitchFamily="34" charset="0"/>
                <a:ea typeface="Calibri" pitchFamily="34" charset="-122"/>
                <a:cs typeface="Calibri" pitchFamily="34" charset="-120"/>
              </a:rPr>
              <a:t>QAOA layer: phase exp(+iγ H_C) then mixer RX(2β) on every qubit</a:t>
            </a:r>
            <a:endParaRPr lang="en-US" sz="1400" dirty="0"/>
          </a:p>
          <a:p>
            <a:pPr marL="342900" indent="-342900">
              <a:spcAft>
                <a:spcPts val="600"/>
              </a:spcAft>
              <a:buSzPct val="100000"/>
              <a:buChar char="▸"/>
            </a:pPr>
            <a:r>
              <a:rPr lang="en-US" sz="1400" dirty="0">
                <a:solidFill>
                  <a:srgbClr val="F5F7FF"/>
                </a:solidFill>
                <a:latin typeface="Calibri" pitchFamily="34" charset="0"/>
                <a:ea typeface="Calibri" pitchFamily="34" charset="-122"/>
                <a:cs typeface="Calibri" pitchFamily="34" charset="-120"/>
              </a:rPr>
              <a:t>Verified by Walsh–Hadamard: Pauli table reproduces all 4096 costs exactly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7C5CFF"/>
          </a:solidFill>
          <a:ln w="12700">
            <a:solidFill>
              <a:srgbClr val="7C5CFF"/>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F5F7FF"/>
                </a:solidFill>
                <a:latin typeface="Calibri" pitchFamily="34" charset="0"/>
                <a:ea typeface="Calibri" pitchFamily="34" charset="-122"/>
                <a:cs typeface="Calibri" pitchFamily="34" charset="-120"/>
              </a:rPr>
              <a:t>4 / 13</a:t>
            </a:r>
            <a:endParaRPr lang="en-US" sz="2800" dirty="0"/>
          </a:p>
        </p:txBody>
      </p:sp>
      <p:sp>
        <p:nvSpPr>
          <p:cNvPr id="4" name="Shape 2"/>
          <p:cNvSpPr/>
          <p:nvPr/>
        </p:nvSpPr>
        <p:spPr>
          <a:xfrm>
            <a:off x="0" y="0"/>
            <a:ext cx="164592" cy="6858000"/>
          </a:xfrm>
          <a:prstGeom prst="rect">
            <a:avLst/>
          </a:prstGeom>
          <a:solidFill>
            <a:srgbClr val="7C5CFF"/>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D4C2"/>
                </a:solidFill>
                <a:latin typeface="Calibri" pitchFamily="34" charset="0"/>
                <a:ea typeface="Calibri" pitchFamily="34" charset="-122"/>
                <a:cs typeface="Calibri" pitchFamily="34" charset="-120"/>
              </a:rPr>
              <a:t>SLIDE 4 / 13   |   GATES</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200" b="1" dirty="0">
                <a:solidFill>
                  <a:srgbClr val="F5F7FF"/>
                </a:solidFill>
                <a:latin typeface="Calibri" pitchFamily="34" charset="0"/>
                <a:ea typeface="Calibri" pitchFamily="34" charset="-122"/>
                <a:cs typeface="Calibri" pitchFamily="34" charset="-120"/>
              </a:rPr>
              <a:t>The circuit Classiq synthesised</a:t>
            </a:r>
            <a:endParaRPr lang="en-US" sz="32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A9B4D0"/>
                </a:solidFill>
                <a:latin typeface="Calibri" pitchFamily="34" charset="0"/>
                <a:ea typeface="Calibri" pitchFamily="34" charset="-122"/>
                <a:cs typeface="Calibri" pitchFamily="34" charset="-120"/>
              </a:rPr>
              <a:t>Quantum Headache · QUBIT 2026 · Antenna Tilt</a:t>
            </a:r>
            <a:endParaRPr lang="en-US" sz="1000" dirty="0"/>
          </a:p>
        </p:txBody>
      </p:sp>
      <p:pic>
        <p:nvPicPr>
          <p:cNvPr id="8" name="Image 0" descr="C:\Projects\Hackton\group\charts\circuit_stats.png">    </p:cNvPr>
          <p:cNvPicPr>
            <a:picLocks noChangeAspect="1"/>
          </p:cNvPicPr>
          <p:nvPr/>
        </p:nvPicPr>
        <p:blipFill>
          <a:blip r:embed="rId1"/>
          <a:stretch>
            <a:fillRect/>
          </a:stretch>
        </p:blipFill>
        <p:spPr>
          <a:xfrm>
            <a:off x="548640" y="1417320"/>
            <a:ext cx="6766560" cy="3557016"/>
          </a:xfrm>
          <a:prstGeom prst="rect">
            <a:avLst/>
          </a:prstGeom>
        </p:spPr>
      </p:pic>
      <p:sp>
        <p:nvSpPr>
          <p:cNvPr id="9" name="Shape 6"/>
          <p:cNvSpPr/>
          <p:nvPr/>
        </p:nvSpPr>
        <p:spPr>
          <a:xfrm>
            <a:off x="7589520" y="1463040"/>
            <a:ext cx="2011680" cy="1234440"/>
          </a:xfrm>
          <a:prstGeom prst="roundRect">
            <a:avLst>
              <a:gd name="adj" fmla="val 5926"/>
            </a:avLst>
          </a:prstGeom>
          <a:solidFill>
            <a:srgbClr val="141B33"/>
          </a:solidFill>
          <a:ln w="12700">
            <a:solidFill>
              <a:srgbClr val="141B33"/>
            </a:solidFill>
            <a:prstDash val="solid"/>
          </a:ln>
        </p:spPr>
      </p:sp>
      <p:sp>
        <p:nvSpPr>
          <p:cNvPr id="10" name="Text 7"/>
          <p:cNvSpPr/>
          <p:nvPr/>
        </p:nvSpPr>
        <p:spPr>
          <a:xfrm>
            <a:off x="7589520" y="1572768"/>
            <a:ext cx="2011680" cy="640080"/>
          </a:xfrm>
          <a:prstGeom prst="rect">
            <a:avLst/>
          </a:prstGeom>
          <a:noFill/>
          <a:ln/>
        </p:spPr>
        <p:txBody>
          <a:bodyPr wrap="square" lIns="0" tIns="0" rIns="0" bIns="0" rtlCol="0" anchor="ctr"/>
          <a:lstStyle/>
          <a:p>
            <a:pPr algn="ctr" indent="0" marL="0">
              <a:buNone/>
            </a:pPr>
            <a:r>
              <a:rPr lang="en-US" sz="3000" b="1" dirty="0">
                <a:solidFill>
                  <a:srgbClr val="2BD4C2"/>
                </a:solidFill>
                <a:latin typeface="Calibri" pitchFamily="34" charset="0"/>
                <a:ea typeface="Calibri" pitchFamily="34" charset="-122"/>
                <a:cs typeface="Calibri" pitchFamily="34" charset="-120"/>
              </a:rPr>
              <a:t>59</a:t>
            </a:r>
            <a:endParaRPr lang="en-US" sz="3000" dirty="0"/>
          </a:p>
        </p:txBody>
      </p:sp>
      <p:sp>
        <p:nvSpPr>
          <p:cNvPr id="11" name="Text 8"/>
          <p:cNvSpPr/>
          <p:nvPr/>
        </p:nvSpPr>
        <p:spPr>
          <a:xfrm>
            <a:off x="7680960" y="2194560"/>
            <a:ext cx="182880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depth, p = 1</a:t>
            </a:r>
            <a:endParaRPr lang="en-US" sz="1100" dirty="0"/>
          </a:p>
        </p:txBody>
      </p:sp>
      <p:sp>
        <p:nvSpPr>
          <p:cNvPr id="12" name="Shape 9"/>
          <p:cNvSpPr/>
          <p:nvPr/>
        </p:nvSpPr>
        <p:spPr>
          <a:xfrm>
            <a:off x="9784080" y="1463040"/>
            <a:ext cx="2011680" cy="1234440"/>
          </a:xfrm>
          <a:prstGeom prst="roundRect">
            <a:avLst>
              <a:gd name="adj" fmla="val 5926"/>
            </a:avLst>
          </a:prstGeom>
          <a:solidFill>
            <a:srgbClr val="141B33"/>
          </a:solidFill>
          <a:ln w="12700">
            <a:solidFill>
              <a:srgbClr val="141B33"/>
            </a:solidFill>
            <a:prstDash val="solid"/>
          </a:ln>
        </p:spPr>
      </p:sp>
      <p:sp>
        <p:nvSpPr>
          <p:cNvPr id="13" name="Text 10"/>
          <p:cNvSpPr/>
          <p:nvPr/>
        </p:nvSpPr>
        <p:spPr>
          <a:xfrm>
            <a:off x="9784080" y="1572768"/>
            <a:ext cx="2011680" cy="640080"/>
          </a:xfrm>
          <a:prstGeom prst="rect">
            <a:avLst/>
          </a:prstGeom>
          <a:noFill/>
          <a:ln/>
        </p:spPr>
        <p:txBody>
          <a:bodyPr wrap="square" lIns="0" tIns="0" rIns="0" bIns="0" rtlCol="0" anchor="ctr"/>
          <a:lstStyle/>
          <a:p>
            <a:pPr algn="ctr" indent="0" marL="0">
              <a:buNone/>
            </a:pPr>
            <a:r>
              <a:rPr lang="en-US" sz="3000" b="1" dirty="0">
                <a:solidFill>
                  <a:srgbClr val="2BD4C2"/>
                </a:solidFill>
                <a:latin typeface="Calibri" pitchFamily="34" charset="0"/>
                <a:ea typeface="Calibri" pitchFamily="34" charset="-122"/>
                <a:cs typeface="Calibri" pitchFamily="34" charset="-120"/>
              </a:rPr>
              <a:t>114</a:t>
            </a:r>
            <a:endParaRPr lang="en-US" sz="3000" dirty="0"/>
          </a:p>
        </p:txBody>
      </p:sp>
      <p:sp>
        <p:nvSpPr>
          <p:cNvPr id="14" name="Text 11"/>
          <p:cNvSpPr/>
          <p:nvPr/>
        </p:nvSpPr>
        <p:spPr>
          <a:xfrm>
            <a:off x="9875520" y="2194560"/>
            <a:ext cx="182880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depth, p = 2</a:t>
            </a:r>
            <a:endParaRPr lang="en-US" sz="1100" dirty="0"/>
          </a:p>
        </p:txBody>
      </p:sp>
      <p:sp>
        <p:nvSpPr>
          <p:cNvPr id="15" name="Shape 12"/>
          <p:cNvSpPr/>
          <p:nvPr/>
        </p:nvSpPr>
        <p:spPr>
          <a:xfrm>
            <a:off x="7589520" y="2880360"/>
            <a:ext cx="2011680" cy="1234440"/>
          </a:xfrm>
          <a:prstGeom prst="roundRect">
            <a:avLst>
              <a:gd name="adj" fmla="val 5926"/>
            </a:avLst>
          </a:prstGeom>
          <a:solidFill>
            <a:srgbClr val="141B33"/>
          </a:solidFill>
          <a:ln w="12700">
            <a:solidFill>
              <a:srgbClr val="141B33"/>
            </a:solidFill>
            <a:prstDash val="solid"/>
          </a:ln>
        </p:spPr>
      </p:sp>
      <p:sp>
        <p:nvSpPr>
          <p:cNvPr id="16" name="Text 13"/>
          <p:cNvSpPr/>
          <p:nvPr/>
        </p:nvSpPr>
        <p:spPr>
          <a:xfrm>
            <a:off x="7589520" y="2990088"/>
            <a:ext cx="2011680" cy="640080"/>
          </a:xfrm>
          <a:prstGeom prst="rect">
            <a:avLst/>
          </a:prstGeom>
          <a:noFill/>
          <a:ln/>
        </p:spPr>
        <p:txBody>
          <a:bodyPr wrap="square" lIns="0" tIns="0" rIns="0" bIns="0" rtlCol="0" anchor="ctr"/>
          <a:lstStyle/>
          <a:p>
            <a:pPr algn="ctr" indent="0" marL="0">
              <a:buNone/>
            </a:pPr>
            <a:r>
              <a:rPr lang="en-US" sz="3000" b="1" dirty="0">
                <a:solidFill>
                  <a:srgbClr val="FFB454"/>
                </a:solidFill>
                <a:latin typeface="Calibri" pitchFamily="34" charset="0"/>
                <a:ea typeface="Calibri" pitchFamily="34" charset="-122"/>
                <a:cs typeface="Calibri" pitchFamily="34" charset="-120"/>
              </a:rPr>
              <a:t>92 CX</a:t>
            </a:r>
            <a:endParaRPr lang="en-US" sz="3000" dirty="0"/>
          </a:p>
        </p:txBody>
      </p:sp>
      <p:sp>
        <p:nvSpPr>
          <p:cNvPr id="17" name="Text 14"/>
          <p:cNvSpPr/>
          <p:nvPr/>
        </p:nvSpPr>
        <p:spPr>
          <a:xfrm>
            <a:off x="7680960" y="3611880"/>
            <a:ext cx="182880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+ 72 RZ + 12 H + 12 RX</a:t>
            </a:r>
            <a:endParaRPr lang="en-US" sz="1100" dirty="0"/>
          </a:p>
        </p:txBody>
      </p:sp>
      <p:sp>
        <p:nvSpPr>
          <p:cNvPr id="18" name="Shape 15"/>
          <p:cNvSpPr/>
          <p:nvPr/>
        </p:nvSpPr>
        <p:spPr>
          <a:xfrm>
            <a:off x="9784080" y="2880360"/>
            <a:ext cx="2011680" cy="1234440"/>
          </a:xfrm>
          <a:prstGeom prst="roundRect">
            <a:avLst>
              <a:gd name="adj" fmla="val 5926"/>
            </a:avLst>
          </a:prstGeom>
          <a:solidFill>
            <a:srgbClr val="141B33"/>
          </a:solidFill>
          <a:ln w="12700">
            <a:solidFill>
              <a:srgbClr val="141B33"/>
            </a:solidFill>
            <a:prstDash val="solid"/>
          </a:ln>
        </p:spPr>
      </p:sp>
      <p:sp>
        <p:nvSpPr>
          <p:cNvPr id="19" name="Text 16"/>
          <p:cNvSpPr/>
          <p:nvPr/>
        </p:nvSpPr>
        <p:spPr>
          <a:xfrm>
            <a:off x="9784080" y="2990088"/>
            <a:ext cx="2011680" cy="640080"/>
          </a:xfrm>
          <a:prstGeom prst="rect">
            <a:avLst/>
          </a:prstGeom>
          <a:noFill/>
          <a:ln/>
        </p:spPr>
        <p:txBody>
          <a:bodyPr wrap="square" lIns="0" tIns="0" rIns="0" bIns="0" rtlCol="0" anchor="ctr"/>
          <a:lstStyle/>
          <a:p>
            <a:pPr algn="ctr" indent="0" marL="0">
              <a:buNone/>
            </a:pPr>
            <a:r>
              <a:rPr lang="en-US" sz="3000" b="1" dirty="0">
                <a:solidFill>
                  <a:srgbClr val="FFB454"/>
                </a:solidFill>
                <a:latin typeface="Calibri" pitchFamily="34" charset="0"/>
                <a:ea typeface="Calibri" pitchFamily="34" charset="-122"/>
                <a:cs typeface="Calibri" pitchFamily="34" charset="-120"/>
              </a:rPr>
              <a:t>184 CX</a:t>
            </a:r>
            <a:endParaRPr lang="en-US" sz="3000" dirty="0"/>
          </a:p>
        </p:txBody>
      </p:sp>
      <p:sp>
        <p:nvSpPr>
          <p:cNvPr id="20" name="Text 17"/>
          <p:cNvSpPr/>
          <p:nvPr/>
        </p:nvSpPr>
        <p:spPr>
          <a:xfrm>
            <a:off x="9875520" y="3611880"/>
            <a:ext cx="182880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+ 144 RZ + 12 H + 24 RX</a:t>
            </a:r>
            <a:endParaRPr lang="en-US" sz="1100" dirty="0"/>
          </a:p>
        </p:txBody>
      </p:sp>
      <p:sp>
        <p:nvSpPr>
          <p:cNvPr id="21" name="Text 18"/>
          <p:cNvSpPr/>
          <p:nvPr/>
        </p:nvSpPr>
        <p:spPr>
          <a:xfrm>
            <a:off x="7589520" y="4297680"/>
            <a:ext cx="4206240" cy="1737360"/>
          </a:xfrm>
          <a:prstGeom prst="rect">
            <a:avLst/>
          </a:prstGeom>
          <a:noFill/>
          <a:ln/>
        </p:spPr>
        <p:txBody>
          <a:bodyPr wrap="square" lIns="635" tIns="635" rIns="635" bIns="635" rtlCol="0" anchor="t"/>
          <a:lstStyle/>
          <a:p>
            <a:pPr marL="342900" indent="-342900">
              <a:spcAft>
                <a:spcPts val="600"/>
              </a:spcAft>
              <a:buSzPct val="100000"/>
              <a:buChar char="▸"/>
            </a:pPr>
            <a:r>
              <a:rPr lang="en-US" sz="1250" dirty="0">
                <a:solidFill>
                  <a:srgbClr val="F5F7FF"/>
                </a:solidFill>
                <a:latin typeface="Calibri" pitchFamily="34" charset="0"/>
                <a:ea typeface="Calibri" pitchFamily="34" charset="-122"/>
                <a:cs typeface="Calibri" pitchFamily="34" charset="-120"/>
              </a:rPr>
              <a:t>Written in Qmod: QStruct of QArray[QNum[2], 6], phase(cost, γ), RX mixer</a:t>
            </a:r>
            <a:endParaRPr lang="en-US" sz="1250" dirty="0"/>
          </a:p>
          <a:p>
            <a:pPr marL="342900" indent="-342900">
              <a:spcAft>
                <a:spcPts val="600"/>
              </a:spcAft>
              <a:buSzPct val="100000"/>
              <a:buChar char="▸"/>
            </a:pPr>
            <a:r>
              <a:rPr lang="en-US" sz="1250" dirty="0">
                <a:solidFill>
                  <a:srgbClr val="F5F7FF"/>
                </a:solidFill>
                <a:latin typeface="Calibri" pitchFamily="34" charset="0"/>
                <a:ea typeface="Calibri" pitchFamily="34" charset="-122"/>
                <a:cs typeface="Calibri" pitchFamily="34" charset="-120"/>
              </a:rPr>
              <a:t>Exported as OpenQASM 3 (group/classiq/results/*.qasm) + hand-written QASM 2 layer</a:t>
            </a:r>
            <a:endParaRPr lang="en-US" sz="1250" dirty="0"/>
          </a:p>
          <a:p>
            <a:pPr marL="342900" indent="-342900">
              <a:spcAft>
                <a:spcPts val="600"/>
              </a:spcAft>
              <a:buSzPct val="100000"/>
              <a:buChar char="▸"/>
            </a:pPr>
            <a:r>
              <a:rPr lang="en-US" sz="1250" dirty="0">
                <a:solidFill>
                  <a:srgbClr val="F5F7FF"/>
                </a:solidFill>
                <a:latin typeface="Calibri" pitchFamily="34" charset="0"/>
                <a:ea typeface="Calibri" pitchFamily="34" charset="-122"/>
                <a:cs typeface="Calibri" pitchFamily="34" charset="-120"/>
              </a:rPr>
              <a:t>Same circuit re-simulated in Qiskit statevector: ⟨C⟩ = 1.9985 — identical to Wolfram</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7C5CFF"/>
          </a:solidFill>
          <a:ln w="12700">
            <a:solidFill>
              <a:srgbClr val="7C5CFF"/>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F5F7FF"/>
                </a:solidFill>
                <a:latin typeface="Calibri" pitchFamily="34" charset="0"/>
                <a:ea typeface="Calibri" pitchFamily="34" charset="-122"/>
                <a:cs typeface="Calibri" pitchFamily="34" charset="-120"/>
              </a:rPr>
              <a:t>5 / 13</a:t>
            </a:r>
            <a:endParaRPr lang="en-US" sz="2800" dirty="0"/>
          </a:p>
        </p:txBody>
      </p:sp>
      <p:sp>
        <p:nvSpPr>
          <p:cNvPr id="4" name="Shape 2"/>
          <p:cNvSpPr/>
          <p:nvPr/>
        </p:nvSpPr>
        <p:spPr>
          <a:xfrm>
            <a:off x="0" y="0"/>
            <a:ext cx="164592" cy="6858000"/>
          </a:xfrm>
          <a:prstGeom prst="rect">
            <a:avLst/>
          </a:prstGeom>
          <a:solidFill>
            <a:srgbClr val="7C5CFF"/>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D4C2"/>
                </a:solidFill>
                <a:latin typeface="Calibri" pitchFamily="34" charset="0"/>
                <a:ea typeface="Calibri" pitchFamily="34" charset="-122"/>
                <a:cs typeface="Calibri" pitchFamily="34" charset="-120"/>
              </a:rPr>
              <a:t>SLIDE 5 / 13   |   SIMULATION</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200" b="1" dirty="0">
                <a:solidFill>
                  <a:srgbClr val="F5F7FF"/>
                </a:solidFill>
                <a:latin typeface="Calibri" pitchFamily="34" charset="0"/>
                <a:ea typeface="Calibri" pitchFamily="34" charset="-122"/>
                <a:cs typeface="Calibri" pitchFamily="34" charset="-120"/>
              </a:rPr>
              <a:t>Wolfram exact simulation: where the good angles are</a:t>
            </a:r>
            <a:endParaRPr lang="en-US" sz="32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A9B4D0"/>
                </a:solidFill>
                <a:latin typeface="Calibri" pitchFamily="34" charset="0"/>
                <a:ea typeface="Calibri" pitchFamily="34" charset="-122"/>
                <a:cs typeface="Calibri" pitchFamily="34" charset="-120"/>
              </a:rPr>
              <a:t>Quantum Headache · QUBIT 2026 · Antenna Tilt</a:t>
            </a:r>
            <a:endParaRPr lang="en-US" sz="1000" dirty="0"/>
          </a:p>
        </p:txBody>
      </p:sp>
      <p:pic>
        <p:nvPicPr>
          <p:cNvPr id="8" name="Image 0" descr="C:\Projects\Hackton\group\wolfram\img\landscape.png">    </p:cNvPr>
          <p:cNvPicPr>
            <a:picLocks noChangeAspect="1"/>
          </p:cNvPicPr>
          <p:nvPr/>
        </p:nvPicPr>
        <p:blipFill>
          <a:blip r:embed="rId1"/>
          <a:stretch>
            <a:fillRect/>
          </a:stretch>
        </p:blipFill>
        <p:spPr>
          <a:xfrm>
            <a:off x="548640" y="1417320"/>
            <a:ext cx="4846320" cy="4617720"/>
          </a:xfrm>
          <a:prstGeom prst="rect">
            <a:avLst/>
          </a:prstGeom>
        </p:spPr>
      </p:pic>
      <p:sp>
        <p:nvSpPr>
          <p:cNvPr id="9" name="Text 6"/>
          <p:cNvSpPr/>
          <p:nvPr/>
        </p:nvSpPr>
        <p:spPr>
          <a:xfrm>
            <a:off x="548640" y="6053328"/>
            <a:ext cx="4846320" cy="320040"/>
          </a:xfrm>
          <a:prstGeom prst="rect">
            <a:avLst/>
          </a:prstGeom>
          <a:noFill/>
          <a:ln/>
        </p:spPr>
        <p:txBody>
          <a:bodyPr wrap="square" lIns="0" tIns="0" rIns="0" bIns="0" rtlCol="0" anchor="ctr"/>
          <a:lstStyle/>
          <a:p>
            <a:pPr indent="0" marL="0">
              <a:buNone/>
            </a:pPr>
            <a:r>
              <a:rPr lang="en-US" sz="1050" i="1" dirty="0">
                <a:solidFill>
                  <a:srgbClr val="A9B4D0"/>
                </a:solidFill>
                <a:latin typeface="Calibri" pitchFamily="34" charset="0"/>
                <a:ea typeface="Calibri" pitchFamily="34" charset="-122"/>
                <a:cs typeface="Calibri" pitchFamily="34" charset="-120"/>
              </a:rPr>
              <a:t>⟨C⟩(γ, β) for p = 1 over all 4096 amplitudes (statevector, no shot noise).</a:t>
            </a:r>
            <a:endParaRPr lang="en-US" sz="1050" dirty="0"/>
          </a:p>
        </p:txBody>
      </p:sp>
      <p:sp>
        <p:nvSpPr>
          <p:cNvPr id="10" name="Shape 7"/>
          <p:cNvSpPr/>
          <p:nvPr/>
        </p:nvSpPr>
        <p:spPr>
          <a:xfrm>
            <a:off x="5760720" y="1463040"/>
            <a:ext cx="2926080" cy="1234440"/>
          </a:xfrm>
          <a:prstGeom prst="roundRect">
            <a:avLst>
              <a:gd name="adj" fmla="val 5926"/>
            </a:avLst>
          </a:prstGeom>
          <a:solidFill>
            <a:srgbClr val="141B33"/>
          </a:solidFill>
          <a:ln w="12700">
            <a:solidFill>
              <a:srgbClr val="141B33"/>
            </a:solidFill>
            <a:prstDash val="solid"/>
          </a:ln>
        </p:spPr>
      </p:sp>
      <p:sp>
        <p:nvSpPr>
          <p:cNvPr id="11" name="Text 8"/>
          <p:cNvSpPr/>
          <p:nvPr/>
        </p:nvSpPr>
        <p:spPr>
          <a:xfrm>
            <a:off x="5760720" y="1572768"/>
            <a:ext cx="2926080" cy="640080"/>
          </a:xfrm>
          <a:prstGeom prst="rect">
            <a:avLst/>
          </a:prstGeom>
          <a:noFill/>
          <a:ln/>
        </p:spPr>
        <p:txBody>
          <a:bodyPr wrap="square" lIns="0" tIns="0" rIns="0" bIns="0" rtlCol="0" anchor="ctr"/>
          <a:lstStyle/>
          <a:p>
            <a:pPr algn="ctr" indent="0" marL="0">
              <a:buNone/>
            </a:pPr>
            <a:r>
              <a:rPr lang="en-US" sz="3000" b="1" dirty="0">
                <a:solidFill>
                  <a:srgbClr val="2BD4C2"/>
                </a:solidFill>
                <a:latin typeface="Calibri" pitchFamily="34" charset="0"/>
                <a:ea typeface="Calibri" pitchFamily="34" charset="-122"/>
                <a:cs typeface="Calibri" pitchFamily="34" charset="-120"/>
              </a:rPr>
              <a:t>(0.0654, 1.1293)</a:t>
            </a:r>
            <a:endParaRPr lang="en-US" sz="3000" dirty="0"/>
          </a:p>
        </p:txBody>
      </p:sp>
      <p:sp>
        <p:nvSpPr>
          <p:cNvPr id="12" name="Text 9"/>
          <p:cNvSpPr/>
          <p:nvPr/>
        </p:nvSpPr>
        <p:spPr>
          <a:xfrm>
            <a:off x="5852160" y="2194560"/>
            <a:ext cx="274320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optimal (γ, β), p = 1</a:t>
            </a:r>
            <a:endParaRPr lang="en-US" sz="1100" dirty="0"/>
          </a:p>
        </p:txBody>
      </p:sp>
      <p:sp>
        <p:nvSpPr>
          <p:cNvPr id="13" name="Shape 10"/>
          <p:cNvSpPr/>
          <p:nvPr/>
        </p:nvSpPr>
        <p:spPr>
          <a:xfrm>
            <a:off x="8869680" y="1463040"/>
            <a:ext cx="2926080" cy="1234440"/>
          </a:xfrm>
          <a:prstGeom prst="roundRect">
            <a:avLst>
              <a:gd name="adj" fmla="val 5926"/>
            </a:avLst>
          </a:prstGeom>
          <a:solidFill>
            <a:srgbClr val="141B33"/>
          </a:solidFill>
          <a:ln w="12700">
            <a:solidFill>
              <a:srgbClr val="141B33"/>
            </a:solidFill>
            <a:prstDash val="solid"/>
          </a:ln>
        </p:spPr>
      </p:sp>
      <p:sp>
        <p:nvSpPr>
          <p:cNvPr id="14" name="Text 11"/>
          <p:cNvSpPr/>
          <p:nvPr/>
        </p:nvSpPr>
        <p:spPr>
          <a:xfrm>
            <a:off x="8869680" y="1572768"/>
            <a:ext cx="2926080" cy="640080"/>
          </a:xfrm>
          <a:prstGeom prst="rect">
            <a:avLst/>
          </a:prstGeom>
          <a:noFill/>
          <a:ln/>
        </p:spPr>
        <p:txBody>
          <a:bodyPr wrap="square" lIns="0" tIns="0" rIns="0" bIns="0" rtlCol="0" anchor="ctr"/>
          <a:lstStyle/>
          <a:p>
            <a:pPr algn="ctr" indent="0" marL="0">
              <a:buNone/>
            </a:pPr>
            <a:r>
              <a:rPr lang="en-US" sz="3000" b="1" dirty="0">
                <a:solidFill>
                  <a:srgbClr val="2BD4C2"/>
                </a:solidFill>
                <a:latin typeface="Calibri" pitchFamily="34" charset="0"/>
                <a:ea typeface="Calibri" pitchFamily="34" charset="-122"/>
                <a:cs typeface="Calibri" pitchFamily="34" charset="-120"/>
              </a:rPr>
              <a:t>⟨C⟩ = 1.9985</a:t>
            </a:r>
            <a:endParaRPr lang="en-US" sz="3000" dirty="0"/>
          </a:p>
        </p:txBody>
      </p:sp>
      <p:sp>
        <p:nvSpPr>
          <p:cNvPr id="15" name="Text 12"/>
          <p:cNvSpPr/>
          <p:nvPr/>
        </p:nvSpPr>
        <p:spPr>
          <a:xfrm>
            <a:off x="8961120" y="2194560"/>
            <a:ext cx="274320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p = 1 (random: 35.5)</a:t>
            </a:r>
            <a:endParaRPr lang="en-US" sz="1100" dirty="0"/>
          </a:p>
        </p:txBody>
      </p:sp>
      <p:sp>
        <p:nvSpPr>
          <p:cNvPr id="16" name="Shape 13"/>
          <p:cNvSpPr/>
          <p:nvPr/>
        </p:nvSpPr>
        <p:spPr>
          <a:xfrm>
            <a:off x="5760720" y="2880360"/>
            <a:ext cx="2926080" cy="1234440"/>
          </a:xfrm>
          <a:prstGeom prst="roundRect">
            <a:avLst>
              <a:gd name="adj" fmla="val 5926"/>
            </a:avLst>
          </a:prstGeom>
          <a:solidFill>
            <a:srgbClr val="141B33"/>
          </a:solidFill>
          <a:ln w="12700">
            <a:solidFill>
              <a:srgbClr val="141B33"/>
            </a:solidFill>
            <a:prstDash val="solid"/>
          </a:ln>
        </p:spPr>
      </p:sp>
      <p:sp>
        <p:nvSpPr>
          <p:cNvPr id="17" name="Text 14"/>
          <p:cNvSpPr/>
          <p:nvPr/>
        </p:nvSpPr>
        <p:spPr>
          <a:xfrm>
            <a:off x="5760720" y="2990088"/>
            <a:ext cx="2926080" cy="640080"/>
          </a:xfrm>
          <a:prstGeom prst="rect">
            <a:avLst/>
          </a:prstGeom>
          <a:noFill/>
          <a:ln/>
        </p:spPr>
        <p:txBody>
          <a:bodyPr wrap="square" lIns="0" tIns="0" rIns="0" bIns="0" rtlCol="0" anchor="ctr"/>
          <a:lstStyle/>
          <a:p>
            <a:pPr algn="ctr" indent="0" marL="0">
              <a:buNone/>
            </a:pPr>
            <a:r>
              <a:rPr lang="en-US" sz="3000" b="1" dirty="0">
                <a:solidFill>
                  <a:srgbClr val="FFB454"/>
                </a:solidFill>
                <a:latin typeface="Calibri" pitchFamily="34" charset="0"/>
                <a:ea typeface="Calibri" pitchFamily="34" charset="-122"/>
                <a:cs typeface="Calibri" pitchFamily="34" charset="-120"/>
              </a:rPr>
              <a:t>⟨C⟩ = −0.3825</a:t>
            </a:r>
            <a:endParaRPr lang="en-US" sz="3000" dirty="0"/>
          </a:p>
        </p:txBody>
      </p:sp>
      <p:sp>
        <p:nvSpPr>
          <p:cNvPr id="18" name="Text 15"/>
          <p:cNvSpPr/>
          <p:nvPr/>
        </p:nvSpPr>
        <p:spPr>
          <a:xfrm>
            <a:off x="5852160" y="3611880"/>
            <a:ext cx="274320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p = 2, 4 angles</a:t>
            </a:r>
            <a:endParaRPr lang="en-US" sz="1100" dirty="0"/>
          </a:p>
        </p:txBody>
      </p:sp>
      <p:sp>
        <p:nvSpPr>
          <p:cNvPr id="19" name="Shape 16"/>
          <p:cNvSpPr/>
          <p:nvPr/>
        </p:nvSpPr>
        <p:spPr>
          <a:xfrm>
            <a:off x="8869680" y="2880360"/>
            <a:ext cx="2926080" cy="1234440"/>
          </a:xfrm>
          <a:prstGeom prst="roundRect">
            <a:avLst>
              <a:gd name="adj" fmla="val 5926"/>
            </a:avLst>
          </a:prstGeom>
          <a:solidFill>
            <a:srgbClr val="141B33"/>
          </a:solidFill>
          <a:ln w="12700">
            <a:solidFill>
              <a:srgbClr val="141B33"/>
            </a:solidFill>
            <a:prstDash val="solid"/>
          </a:ln>
        </p:spPr>
      </p:sp>
      <p:sp>
        <p:nvSpPr>
          <p:cNvPr id="20" name="Text 17"/>
          <p:cNvSpPr/>
          <p:nvPr/>
        </p:nvSpPr>
        <p:spPr>
          <a:xfrm>
            <a:off x="8869680" y="2990088"/>
            <a:ext cx="2926080" cy="640080"/>
          </a:xfrm>
          <a:prstGeom prst="rect">
            <a:avLst/>
          </a:prstGeom>
          <a:noFill/>
          <a:ln/>
        </p:spPr>
        <p:txBody>
          <a:bodyPr wrap="square" lIns="0" tIns="0" rIns="0" bIns="0" rtlCol="0" anchor="ctr"/>
          <a:lstStyle/>
          <a:p>
            <a:pPr algn="ctr" indent="0" marL="0">
              <a:buNone/>
            </a:pPr>
            <a:r>
              <a:rPr lang="en-US" sz="3000" b="1" dirty="0">
                <a:solidFill>
                  <a:srgbClr val="FFB454"/>
                </a:solidFill>
                <a:latin typeface="Calibri" pitchFamily="34" charset="0"/>
                <a:ea typeface="Calibri" pitchFamily="34" charset="-122"/>
                <a:cs typeface="Calibri" pitchFamily="34" charset="-120"/>
              </a:rPr>
              <a:t>−2.844</a:t>
            </a:r>
            <a:endParaRPr lang="en-US" sz="3000" dirty="0"/>
          </a:p>
        </p:txBody>
      </p:sp>
      <p:sp>
        <p:nvSpPr>
          <p:cNvPr id="21" name="Text 18"/>
          <p:cNvSpPr/>
          <p:nvPr/>
        </p:nvSpPr>
        <p:spPr>
          <a:xfrm>
            <a:off x="8961120" y="3611880"/>
            <a:ext cx="274320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ground state = classical optimum</a:t>
            </a:r>
            <a:endParaRPr lang="en-US" sz="1100" dirty="0"/>
          </a:p>
        </p:txBody>
      </p:sp>
      <p:sp>
        <p:nvSpPr>
          <p:cNvPr id="22" name="Text 19"/>
          <p:cNvSpPr/>
          <p:nvPr/>
        </p:nvSpPr>
        <p:spPr>
          <a:xfrm>
            <a:off x="5760720" y="4297680"/>
            <a:ext cx="6035040" cy="182880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Notebook + PDF + CDF + Markdown in group/wolfram/ (14 pages, 13 figures)</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Landscape is flat almost everywhere — a bad start sits on a plateau at ⟨C⟩ ≈ 35</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Angles found here are the warm start we hand to Classiq</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Also in the notebook: VQE (RY+CZ), Grover on a 2-antenna slice, 10-level scaling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7C5CFF"/>
          </a:solidFill>
          <a:ln w="12700">
            <a:solidFill>
              <a:srgbClr val="7C5CFF"/>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F5F7FF"/>
                </a:solidFill>
                <a:latin typeface="Calibri" pitchFamily="34" charset="0"/>
                <a:ea typeface="Calibri" pitchFamily="34" charset="-122"/>
                <a:cs typeface="Calibri" pitchFamily="34" charset="-120"/>
              </a:rPr>
              <a:t>6 / 13</a:t>
            </a:r>
            <a:endParaRPr lang="en-US" sz="2800" dirty="0"/>
          </a:p>
        </p:txBody>
      </p:sp>
      <p:sp>
        <p:nvSpPr>
          <p:cNvPr id="4" name="Shape 2"/>
          <p:cNvSpPr/>
          <p:nvPr/>
        </p:nvSpPr>
        <p:spPr>
          <a:xfrm>
            <a:off x="0" y="0"/>
            <a:ext cx="164592" cy="6858000"/>
          </a:xfrm>
          <a:prstGeom prst="rect">
            <a:avLst/>
          </a:prstGeom>
          <a:solidFill>
            <a:srgbClr val="7C5CFF"/>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D4C2"/>
                </a:solidFill>
                <a:latin typeface="Calibri" pitchFamily="34" charset="0"/>
                <a:ea typeface="Calibri" pitchFamily="34" charset="-122"/>
                <a:cs typeface="Calibri" pitchFamily="34" charset="-120"/>
              </a:rPr>
              <a:t>SLIDE 6 / 13   |   RESULT</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200" b="1" dirty="0">
                <a:solidFill>
                  <a:srgbClr val="F5F7FF"/>
                </a:solidFill>
                <a:latin typeface="Calibri" pitchFamily="34" charset="0"/>
                <a:ea typeface="Calibri" pitchFamily="34" charset="-122"/>
                <a:cs typeface="Calibri" pitchFamily="34" charset="-120"/>
              </a:rPr>
              <a:t>What the quantum sampler buys us</a:t>
            </a:r>
            <a:endParaRPr lang="en-US" sz="32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A9B4D0"/>
                </a:solidFill>
                <a:latin typeface="Calibri" pitchFamily="34" charset="0"/>
                <a:ea typeface="Calibri" pitchFamily="34" charset="-122"/>
                <a:cs typeface="Calibri" pitchFamily="34" charset="-120"/>
              </a:rPr>
              <a:t>Quantum Headache · QUBIT 2026 · Antenna Tilt</a:t>
            </a:r>
            <a:endParaRPr lang="en-US" sz="1000" dirty="0"/>
          </a:p>
        </p:txBody>
      </p:sp>
      <p:pic>
        <p:nvPicPr>
          <p:cNvPr id="8" name="Image 0" descr="C:\Projects\Hackton\group\charts\quantum_gain.png">    </p:cNvPr>
          <p:cNvPicPr>
            <a:picLocks noChangeAspect="1"/>
          </p:cNvPicPr>
          <p:nvPr/>
        </p:nvPicPr>
        <p:blipFill>
          <a:blip r:embed="rId1"/>
          <a:stretch>
            <a:fillRect/>
          </a:stretch>
        </p:blipFill>
        <p:spPr>
          <a:xfrm>
            <a:off x="548640" y="1417320"/>
            <a:ext cx="5669280" cy="3191256"/>
          </a:xfrm>
          <a:prstGeom prst="rect">
            <a:avLst/>
          </a:prstGeom>
        </p:spPr>
      </p:pic>
      <p:pic>
        <p:nvPicPr>
          <p:cNvPr id="9" name="Image 1" descr="C:\Projects\Hackton\group\wolfram\img\shots.png">    </p:cNvPr>
          <p:cNvPicPr>
            <a:picLocks noChangeAspect="1"/>
          </p:cNvPicPr>
          <p:nvPr/>
        </p:nvPicPr>
        <p:blipFill>
          <a:blip r:embed="rId2"/>
          <a:stretch>
            <a:fillRect/>
          </a:stretch>
        </p:blipFill>
        <p:spPr>
          <a:xfrm>
            <a:off x="6355080" y="1417320"/>
            <a:ext cx="5440680" cy="2606040"/>
          </a:xfrm>
          <a:prstGeom prst="rect">
            <a:avLst/>
          </a:prstGeom>
        </p:spPr>
      </p:pic>
      <p:sp>
        <p:nvSpPr>
          <p:cNvPr id="10" name="Text 6"/>
          <p:cNvSpPr/>
          <p:nvPr/>
        </p:nvSpPr>
        <p:spPr>
          <a:xfrm>
            <a:off x="6355080" y="4041648"/>
            <a:ext cx="5440680" cy="320040"/>
          </a:xfrm>
          <a:prstGeom prst="rect">
            <a:avLst/>
          </a:prstGeom>
          <a:noFill/>
          <a:ln/>
        </p:spPr>
        <p:txBody>
          <a:bodyPr wrap="square" lIns="0" tIns="0" rIns="0" bIns="0" rtlCol="0" anchor="ctr"/>
          <a:lstStyle/>
          <a:p>
            <a:pPr indent="0" marL="0">
              <a:buNone/>
            </a:pPr>
            <a:r>
              <a:rPr lang="en-US" sz="1050" i="1" dirty="0">
                <a:solidFill>
                  <a:srgbClr val="A9B4D0"/>
                </a:solidFill>
                <a:latin typeface="Calibri" pitchFamily="34" charset="0"/>
                <a:ea typeface="Calibri" pitchFamily="34" charset="-122"/>
                <a:cs typeface="Calibri" pitchFamily="34" charset="-120"/>
              </a:rPr>
              <a:t>Shots needed for 95% chance of sampling the exact optimum (Wolfram).</a:t>
            </a:r>
            <a:endParaRPr lang="en-US" sz="1050" dirty="0"/>
          </a:p>
        </p:txBody>
      </p:sp>
      <p:sp>
        <p:nvSpPr>
          <p:cNvPr id="11" name="Shape 7"/>
          <p:cNvSpPr/>
          <p:nvPr/>
        </p:nvSpPr>
        <p:spPr>
          <a:xfrm>
            <a:off x="548640" y="4754880"/>
            <a:ext cx="2651760" cy="1234440"/>
          </a:xfrm>
          <a:prstGeom prst="roundRect">
            <a:avLst>
              <a:gd name="adj" fmla="val 5926"/>
            </a:avLst>
          </a:prstGeom>
          <a:solidFill>
            <a:srgbClr val="141B33"/>
          </a:solidFill>
          <a:ln w="12700">
            <a:solidFill>
              <a:srgbClr val="141B33"/>
            </a:solidFill>
            <a:prstDash val="solid"/>
          </a:ln>
        </p:spPr>
      </p:sp>
      <p:sp>
        <p:nvSpPr>
          <p:cNvPr id="12" name="Text 8"/>
          <p:cNvSpPr/>
          <p:nvPr/>
        </p:nvSpPr>
        <p:spPr>
          <a:xfrm>
            <a:off x="548640" y="4864608"/>
            <a:ext cx="2651760" cy="640080"/>
          </a:xfrm>
          <a:prstGeom prst="rect">
            <a:avLst/>
          </a:prstGeom>
          <a:noFill/>
          <a:ln/>
        </p:spPr>
        <p:txBody>
          <a:bodyPr wrap="square" lIns="0" tIns="0" rIns="0" bIns="0" rtlCol="0" anchor="ctr"/>
          <a:lstStyle/>
          <a:p>
            <a:pPr algn="ctr" indent="0" marL="0">
              <a:buNone/>
            </a:pPr>
            <a:r>
              <a:rPr lang="en-US" sz="3000" b="1" dirty="0">
                <a:solidFill>
                  <a:srgbClr val="2BD4C2"/>
                </a:solidFill>
                <a:latin typeface="Calibri" pitchFamily="34" charset="0"/>
                <a:ea typeface="Calibri" pitchFamily="34" charset="-122"/>
                <a:cs typeface="Calibri" pitchFamily="34" charset="-120"/>
              </a:rPr>
              <a:t>2.4% → 67%</a:t>
            </a:r>
            <a:endParaRPr lang="en-US" sz="3000" dirty="0"/>
          </a:p>
        </p:txBody>
      </p:sp>
      <p:sp>
        <p:nvSpPr>
          <p:cNvPr id="13" name="Text 9"/>
          <p:cNvSpPr/>
          <p:nvPr/>
        </p:nvSpPr>
        <p:spPr>
          <a:xfrm>
            <a:off x="640080" y="5486400"/>
            <a:ext cx="246888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P(cost &lt; 0), random → p = 2</a:t>
            </a:r>
            <a:endParaRPr lang="en-US" sz="1100" dirty="0"/>
          </a:p>
        </p:txBody>
      </p:sp>
      <p:sp>
        <p:nvSpPr>
          <p:cNvPr id="14" name="Shape 10"/>
          <p:cNvSpPr/>
          <p:nvPr/>
        </p:nvSpPr>
        <p:spPr>
          <a:xfrm>
            <a:off x="3337560" y="4754880"/>
            <a:ext cx="2651760" cy="1234440"/>
          </a:xfrm>
          <a:prstGeom prst="roundRect">
            <a:avLst>
              <a:gd name="adj" fmla="val 5926"/>
            </a:avLst>
          </a:prstGeom>
          <a:solidFill>
            <a:srgbClr val="141B33"/>
          </a:solidFill>
          <a:ln w="12700">
            <a:solidFill>
              <a:srgbClr val="141B33"/>
            </a:solidFill>
            <a:prstDash val="solid"/>
          </a:ln>
        </p:spPr>
      </p:sp>
      <p:sp>
        <p:nvSpPr>
          <p:cNvPr id="15" name="Text 11"/>
          <p:cNvSpPr/>
          <p:nvPr/>
        </p:nvSpPr>
        <p:spPr>
          <a:xfrm>
            <a:off x="3337560" y="4864608"/>
            <a:ext cx="2651760" cy="640080"/>
          </a:xfrm>
          <a:prstGeom prst="rect">
            <a:avLst/>
          </a:prstGeom>
          <a:noFill/>
          <a:ln/>
        </p:spPr>
        <p:txBody>
          <a:bodyPr wrap="square" lIns="0" tIns="0" rIns="0" bIns="0" rtlCol="0" anchor="ctr"/>
          <a:lstStyle/>
          <a:p>
            <a:pPr algn="ctr" indent="0" marL="0">
              <a:buNone/>
            </a:pPr>
            <a:r>
              <a:rPr lang="en-US" sz="3000" b="1" dirty="0">
                <a:solidFill>
                  <a:srgbClr val="2BD4C2"/>
                </a:solidFill>
                <a:latin typeface="Calibri" pitchFamily="34" charset="0"/>
                <a:ea typeface="Calibri" pitchFamily="34" charset="-122"/>
                <a:cs typeface="Calibri" pitchFamily="34" charset="-120"/>
              </a:rPr>
              <a:t>12270 → 342</a:t>
            </a:r>
            <a:endParaRPr lang="en-US" sz="3000" dirty="0"/>
          </a:p>
        </p:txBody>
      </p:sp>
      <p:sp>
        <p:nvSpPr>
          <p:cNvPr id="16" name="Text 12"/>
          <p:cNvSpPr/>
          <p:nvPr/>
        </p:nvSpPr>
        <p:spPr>
          <a:xfrm>
            <a:off x="3429000" y="5486400"/>
            <a:ext cx="246888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shots to hit optimum (95%)</a:t>
            </a:r>
            <a:endParaRPr lang="en-US" sz="1100" dirty="0"/>
          </a:p>
        </p:txBody>
      </p:sp>
      <p:sp>
        <p:nvSpPr>
          <p:cNvPr id="17" name="Text 13"/>
          <p:cNvSpPr/>
          <p:nvPr/>
        </p:nvSpPr>
        <p:spPr>
          <a:xfrm>
            <a:off x="6355080" y="4754880"/>
            <a:ext cx="5440680" cy="128016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Half of all samples at p = 1 and two-thirds at p = 2 are already better than the baseline</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Only 1–2 QAOA layers; more layers or larger p continue to sharpen the distribution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7C5CFF"/>
          </a:solidFill>
          <a:ln w="12700">
            <a:solidFill>
              <a:srgbClr val="7C5CFF"/>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F5F7FF"/>
                </a:solidFill>
                <a:latin typeface="Calibri" pitchFamily="34" charset="0"/>
                <a:ea typeface="Calibri" pitchFamily="34" charset="-122"/>
                <a:cs typeface="Calibri" pitchFamily="34" charset="-120"/>
              </a:rPr>
              <a:t>7 / 13</a:t>
            </a:r>
            <a:endParaRPr lang="en-US" sz="2800" dirty="0"/>
          </a:p>
        </p:txBody>
      </p:sp>
      <p:sp>
        <p:nvSpPr>
          <p:cNvPr id="4" name="Shape 2"/>
          <p:cNvSpPr/>
          <p:nvPr/>
        </p:nvSpPr>
        <p:spPr>
          <a:xfrm>
            <a:off x="0" y="0"/>
            <a:ext cx="164592" cy="6858000"/>
          </a:xfrm>
          <a:prstGeom prst="rect">
            <a:avLst/>
          </a:prstGeom>
          <a:solidFill>
            <a:srgbClr val="7C5CFF"/>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D4C2"/>
                </a:solidFill>
                <a:latin typeface="Calibri" pitchFamily="34" charset="0"/>
                <a:ea typeface="Calibri" pitchFamily="34" charset="-122"/>
                <a:cs typeface="Calibri" pitchFamily="34" charset="-120"/>
              </a:rPr>
              <a:t>SLIDE 7 / 13   |   CLASSIQ</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200" b="1" dirty="0">
                <a:solidFill>
                  <a:srgbClr val="F5F7FF"/>
                </a:solidFill>
                <a:latin typeface="Calibri" pitchFamily="34" charset="0"/>
                <a:ea typeface="Calibri" pitchFamily="34" charset="-122"/>
                <a:cs typeface="Calibri" pitchFamily="34" charset="-120"/>
              </a:rPr>
              <a:t>Same numbers from the Classiq simulator</a:t>
            </a:r>
            <a:endParaRPr lang="en-US" sz="32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A9B4D0"/>
                </a:solidFill>
                <a:latin typeface="Calibri" pitchFamily="34" charset="0"/>
                <a:ea typeface="Calibri" pitchFamily="34" charset="-122"/>
                <a:cs typeface="Calibri" pitchFamily="34" charset="-120"/>
              </a:rPr>
              <a:t>Quantum Headache · QUBIT 2026 · Antenna Tilt</a:t>
            </a:r>
            <a:endParaRPr lang="en-US" sz="1000" dirty="0"/>
          </a:p>
        </p:txBody>
      </p:sp>
      <p:pic>
        <p:nvPicPr>
          <p:cNvPr id="8" name="Image 0" descr="C:\Projects\Hackton\group\charts\wolfram_vs_classiq.png">    </p:cNvPr>
          <p:cNvPicPr>
            <a:picLocks noChangeAspect="1"/>
          </p:cNvPicPr>
          <p:nvPr/>
        </p:nvPicPr>
        <p:blipFill>
          <a:blip r:embed="rId1"/>
          <a:stretch>
            <a:fillRect/>
          </a:stretch>
        </p:blipFill>
        <p:spPr>
          <a:xfrm>
            <a:off x="548640" y="1417320"/>
            <a:ext cx="7315200" cy="2990088"/>
          </a:xfrm>
          <a:prstGeom prst="rect">
            <a:avLst/>
          </a:prstGeom>
        </p:spPr>
      </p:pic>
      <p:sp>
        <p:nvSpPr>
          <p:cNvPr id="9" name="Shape 6"/>
          <p:cNvSpPr/>
          <p:nvPr/>
        </p:nvSpPr>
        <p:spPr>
          <a:xfrm>
            <a:off x="8138160" y="1463040"/>
            <a:ext cx="3657600" cy="1234440"/>
          </a:xfrm>
          <a:prstGeom prst="roundRect">
            <a:avLst>
              <a:gd name="adj" fmla="val 5926"/>
            </a:avLst>
          </a:prstGeom>
          <a:solidFill>
            <a:srgbClr val="141B33"/>
          </a:solidFill>
          <a:ln w="12700">
            <a:solidFill>
              <a:srgbClr val="141B33"/>
            </a:solidFill>
            <a:prstDash val="solid"/>
          </a:ln>
        </p:spPr>
      </p:sp>
      <p:sp>
        <p:nvSpPr>
          <p:cNvPr id="10" name="Text 7"/>
          <p:cNvSpPr/>
          <p:nvPr/>
        </p:nvSpPr>
        <p:spPr>
          <a:xfrm>
            <a:off x="8138160" y="1572768"/>
            <a:ext cx="3657600" cy="640080"/>
          </a:xfrm>
          <a:prstGeom prst="rect">
            <a:avLst/>
          </a:prstGeom>
          <a:noFill/>
          <a:ln/>
        </p:spPr>
        <p:txBody>
          <a:bodyPr wrap="square" lIns="0" tIns="0" rIns="0" bIns="0" rtlCol="0" anchor="ctr"/>
          <a:lstStyle/>
          <a:p>
            <a:pPr algn="ctr" indent="0" marL="0">
              <a:buNone/>
            </a:pPr>
            <a:r>
              <a:rPr lang="en-US" sz="3000" b="1" dirty="0">
                <a:solidFill>
                  <a:srgbClr val="2BD4C2"/>
                </a:solidFill>
                <a:latin typeface="Calibri" pitchFamily="34" charset="0"/>
                <a:ea typeface="Calibri" pitchFamily="34" charset="-122"/>
                <a:cs typeface="Calibri" pitchFamily="34" charset="-120"/>
              </a:rPr>
              <a:t>2.0203 vs 1.9985</a:t>
            </a:r>
            <a:endParaRPr lang="en-US" sz="3000" dirty="0"/>
          </a:p>
        </p:txBody>
      </p:sp>
      <p:sp>
        <p:nvSpPr>
          <p:cNvPr id="11" name="Text 8"/>
          <p:cNvSpPr/>
          <p:nvPr/>
        </p:nvSpPr>
        <p:spPr>
          <a:xfrm>
            <a:off x="8229600" y="2194560"/>
            <a:ext cx="347472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⟨C⟩ p = 1, 4096 shots vs exact</a:t>
            </a:r>
            <a:endParaRPr lang="en-US" sz="1100" dirty="0"/>
          </a:p>
        </p:txBody>
      </p:sp>
      <p:sp>
        <p:nvSpPr>
          <p:cNvPr id="12" name="Shape 9"/>
          <p:cNvSpPr/>
          <p:nvPr/>
        </p:nvSpPr>
        <p:spPr>
          <a:xfrm>
            <a:off x="8138160" y="2880360"/>
            <a:ext cx="3657600" cy="1234440"/>
          </a:xfrm>
          <a:prstGeom prst="roundRect">
            <a:avLst>
              <a:gd name="adj" fmla="val 5926"/>
            </a:avLst>
          </a:prstGeom>
          <a:solidFill>
            <a:srgbClr val="141B33"/>
          </a:solidFill>
          <a:ln w="12700">
            <a:solidFill>
              <a:srgbClr val="141B33"/>
            </a:solidFill>
            <a:prstDash val="solid"/>
          </a:ln>
        </p:spPr>
      </p:sp>
      <p:sp>
        <p:nvSpPr>
          <p:cNvPr id="13" name="Text 10"/>
          <p:cNvSpPr/>
          <p:nvPr/>
        </p:nvSpPr>
        <p:spPr>
          <a:xfrm>
            <a:off x="8138160" y="2990088"/>
            <a:ext cx="3657600" cy="640080"/>
          </a:xfrm>
          <a:prstGeom prst="rect">
            <a:avLst/>
          </a:prstGeom>
          <a:noFill/>
          <a:ln/>
        </p:spPr>
        <p:txBody>
          <a:bodyPr wrap="square" lIns="0" tIns="0" rIns="0" bIns="0" rtlCol="0" anchor="ctr"/>
          <a:lstStyle/>
          <a:p>
            <a:pPr algn="ctr" indent="0" marL="0">
              <a:buNone/>
            </a:pPr>
            <a:r>
              <a:rPr lang="en-US" sz="3000" b="1" dirty="0">
                <a:solidFill>
                  <a:srgbClr val="2BD4C2"/>
                </a:solidFill>
                <a:latin typeface="Calibri" pitchFamily="34" charset="0"/>
                <a:ea typeface="Calibri" pitchFamily="34" charset="-122"/>
                <a:cs typeface="Calibri" pitchFamily="34" charset="-120"/>
              </a:rPr>
              <a:t>0.529 vs 0.530</a:t>
            </a:r>
            <a:endParaRPr lang="en-US" sz="3000" dirty="0"/>
          </a:p>
        </p:txBody>
      </p:sp>
      <p:sp>
        <p:nvSpPr>
          <p:cNvPr id="14" name="Text 11"/>
          <p:cNvSpPr/>
          <p:nvPr/>
        </p:nvSpPr>
        <p:spPr>
          <a:xfrm>
            <a:off x="8229600" y="3611880"/>
            <a:ext cx="347472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P(cost &lt; 0), p = 1</a:t>
            </a:r>
            <a:endParaRPr lang="en-US" sz="1100" dirty="0"/>
          </a:p>
        </p:txBody>
      </p:sp>
      <p:sp>
        <p:nvSpPr>
          <p:cNvPr id="15" name="Text 12"/>
          <p:cNvSpPr/>
          <p:nvPr/>
        </p:nvSpPr>
        <p:spPr>
          <a:xfrm>
            <a:off x="548640" y="4617720"/>
            <a:ext cx="11247120" cy="155448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Best sampled bitstring in every run = the classical optimum (0,3,0,0,0,0)</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p = 2: ⟨C⟩ = −0.466 sampled vs −0.383 exact, P(cost&lt;0) = 0.668 vs 0.67</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Results, QASM and per-iteration traces saved in group/classiq/results/</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Demo video: group/video/qaoa_distribution.mp4 (distribution sharpening as angles ramp)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7C5CFF"/>
          </a:solidFill>
          <a:ln w="12700">
            <a:solidFill>
              <a:srgbClr val="7C5CFF"/>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F5F7FF"/>
                </a:solidFill>
                <a:latin typeface="Calibri" pitchFamily="34" charset="0"/>
                <a:ea typeface="Calibri" pitchFamily="34" charset="-122"/>
                <a:cs typeface="Calibri" pitchFamily="34" charset="-120"/>
              </a:rPr>
              <a:t>8 / 13</a:t>
            </a:r>
            <a:endParaRPr lang="en-US" sz="2800" dirty="0"/>
          </a:p>
        </p:txBody>
      </p:sp>
      <p:sp>
        <p:nvSpPr>
          <p:cNvPr id="4" name="Shape 2"/>
          <p:cNvSpPr/>
          <p:nvPr/>
        </p:nvSpPr>
        <p:spPr>
          <a:xfrm>
            <a:off x="0" y="0"/>
            <a:ext cx="164592" cy="6858000"/>
          </a:xfrm>
          <a:prstGeom prst="rect">
            <a:avLst/>
          </a:prstGeom>
          <a:solidFill>
            <a:srgbClr val="7C5CFF"/>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D4C2"/>
                </a:solidFill>
                <a:latin typeface="Calibri" pitchFamily="34" charset="0"/>
                <a:ea typeface="Calibri" pitchFamily="34" charset="-122"/>
                <a:cs typeface="Calibri" pitchFamily="34" charset="-120"/>
              </a:rPr>
              <a:t>SLIDE 8 / 13   |   VIDEO</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200" b="1" dirty="0">
                <a:solidFill>
                  <a:srgbClr val="F5F7FF"/>
                </a:solidFill>
                <a:latin typeface="Calibri" pitchFamily="34" charset="0"/>
                <a:ea typeface="Calibri" pitchFamily="34" charset="-122"/>
                <a:cs typeface="Calibri" pitchFamily="34" charset="-120"/>
              </a:rPr>
              <a:t>Demo: the QAOA distribution sharpening</a:t>
            </a:r>
            <a:endParaRPr lang="en-US" sz="32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A9B4D0"/>
                </a:solidFill>
                <a:latin typeface="Calibri" pitchFamily="34" charset="0"/>
                <a:ea typeface="Calibri" pitchFamily="34" charset="-122"/>
                <a:cs typeface="Calibri" pitchFamily="34" charset="-120"/>
              </a:rPr>
              <a:t>Quantum Headache · QUBIT 2026 · Antenna Tilt</a:t>
            </a:r>
            <a:endParaRPr lang="en-US" sz="1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417320"/>
            <a:ext cx="7680960" cy="4572000"/>
          </a:xfrm>
          <a:prstGeom prst="rect">
            <a:avLst/>
          </a:prstGeom>
        </p:spPr>
      </p:pic>
      <p:sp>
        <p:nvSpPr>
          <p:cNvPr id="9" name="Text 6"/>
          <p:cNvSpPr/>
          <p:nvPr/>
        </p:nvSpPr>
        <p:spPr>
          <a:xfrm>
            <a:off x="8412480" y="1463040"/>
            <a:ext cx="3383280" cy="438912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120 frames, angles ramp from 0 to the p = 2 optimum</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Scatter: probability of each of the 4096 plans vs its cost</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Bars: P(cost &lt; 0) climbing to 0.67</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Black line: classical optimum −2.844</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Second clip: group/video/classiq_convergence.mp4 — COBYLA on Classiq, iteration by iteration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7C5CFF"/>
          </a:solidFill>
          <a:ln w="12700">
            <a:solidFill>
              <a:srgbClr val="7C5CFF"/>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F5F7FF"/>
                </a:solidFill>
                <a:latin typeface="Calibri" pitchFamily="34" charset="0"/>
                <a:ea typeface="Calibri" pitchFamily="34" charset="-122"/>
                <a:cs typeface="Calibri" pitchFamily="34" charset="-120"/>
              </a:rPr>
              <a:t>9 / 13</a:t>
            </a:r>
            <a:endParaRPr lang="en-US" sz="2800" dirty="0"/>
          </a:p>
        </p:txBody>
      </p:sp>
      <p:sp>
        <p:nvSpPr>
          <p:cNvPr id="4" name="Shape 2"/>
          <p:cNvSpPr/>
          <p:nvPr/>
        </p:nvSpPr>
        <p:spPr>
          <a:xfrm>
            <a:off x="0" y="0"/>
            <a:ext cx="164592" cy="6858000"/>
          </a:xfrm>
          <a:prstGeom prst="rect">
            <a:avLst/>
          </a:prstGeom>
          <a:solidFill>
            <a:srgbClr val="7C5CFF"/>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D4C2"/>
                </a:solidFill>
                <a:latin typeface="Calibri" pitchFamily="34" charset="0"/>
                <a:ea typeface="Calibri" pitchFamily="34" charset="-122"/>
                <a:cs typeface="Calibri" pitchFamily="34" charset="-120"/>
              </a:rPr>
              <a:t>SLIDE 9 / 13   |   CLASSIQ</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200" b="1" dirty="0">
                <a:solidFill>
                  <a:srgbClr val="F5F7FF"/>
                </a:solidFill>
                <a:latin typeface="Calibri" pitchFamily="34" charset="0"/>
                <a:ea typeface="Calibri" pitchFamily="34" charset="-122"/>
                <a:cs typeface="Calibri" pitchFamily="34" charset="-120"/>
              </a:rPr>
              <a:t>Optimising on Classiq: warm start beats blind search</a:t>
            </a:r>
            <a:endParaRPr lang="en-US" sz="32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A9B4D0"/>
                </a:solidFill>
                <a:latin typeface="Calibri" pitchFamily="34" charset="0"/>
                <a:ea typeface="Calibri" pitchFamily="34" charset="-122"/>
                <a:cs typeface="Calibri" pitchFamily="34" charset="-120"/>
              </a:rPr>
              <a:t>Quantum Headache · QUBIT 2026 · Antenna Tilt</a:t>
            </a:r>
            <a:endParaRPr lang="en-US" sz="1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417320"/>
            <a:ext cx="7315200" cy="3904488"/>
          </a:xfrm>
          <a:prstGeom prst="rect">
            <a:avLst/>
          </a:prstGeom>
        </p:spPr>
      </p:pic>
      <p:sp>
        <p:nvSpPr>
          <p:cNvPr id="9" name="Text 6"/>
          <p:cNvSpPr/>
          <p:nvPr/>
        </p:nvSpPr>
        <p:spPr>
          <a:xfrm>
            <a:off x="548640" y="5349240"/>
            <a:ext cx="7315200" cy="320040"/>
          </a:xfrm>
          <a:prstGeom prst="rect">
            <a:avLst/>
          </a:prstGeom>
          <a:noFill/>
          <a:ln/>
        </p:spPr>
        <p:txBody>
          <a:bodyPr wrap="square" lIns="0" tIns="0" rIns="0" bIns="0" rtlCol="0" anchor="ctr"/>
          <a:lstStyle/>
          <a:p>
            <a:pPr indent="0" marL="0">
              <a:buNone/>
            </a:pPr>
            <a:r>
              <a:rPr lang="en-US" sz="1050" i="1" dirty="0">
                <a:solidFill>
                  <a:srgbClr val="A9B4D0"/>
                </a:solidFill>
                <a:latin typeface="Calibri" pitchFamily="34" charset="0"/>
                <a:ea typeface="Calibri" pitchFamily="34" charset="-122"/>
                <a:cs typeface="Calibri" pitchFamily="34" charset="-120"/>
              </a:rPr>
              <a:t>Click to play: 20 COBYLA iterations on the Classiq simulator, one 4096-shot job each (11 s).</a:t>
            </a:r>
            <a:endParaRPr lang="en-US" sz="1050" dirty="0"/>
          </a:p>
        </p:txBody>
      </p:sp>
      <p:sp>
        <p:nvSpPr>
          <p:cNvPr id="10" name="Text 7"/>
          <p:cNvSpPr/>
          <p:nvPr/>
        </p:nvSpPr>
        <p:spPr>
          <a:xfrm>
            <a:off x="8138160" y="1463040"/>
            <a:ext cx="3657600" cy="420624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Start (0.20, 0.50): COBYLA stuck at ⟨C⟩ ≈ 35.5 — the plateau Wolfram predicted</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Start (0.02, 0.60): 20 Classiq jobs, ⟨C⟩ 21.6 → 7.0, still above warm start 2.0</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Shot noise (4096 shots) hides gradients; 15 parallel jobs let us sweep starts instead</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Takeaway: exact classical pre-simulation of small instances gives angles that transfer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7C5CFF"/>
          </a:solidFill>
          <a:ln w="12700">
            <a:solidFill>
              <a:srgbClr val="7C5CFF"/>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F5F7FF"/>
                </a:solidFill>
                <a:latin typeface="Calibri" pitchFamily="34" charset="0"/>
                <a:ea typeface="Calibri" pitchFamily="34" charset="-122"/>
                <a:cs typeface="Calibri" pitchFamily="34" charset="-120"/>
              </a:rPr>
              <a:t>10 / 13</a:t>
            </a:r>
            <a:endParaRPr lang="en-US" sz="2800" dirty="0"/>
          </a:p>
        </p:txBody>
      </p:sp>
      <p:sp>
        <p:nvSpPr>
          <p:cNvPr id="4" name="Shape 2"/>
          <p:cNvSpPr/>
          <p:nvPr/>
        </p:nvSpPr>
        <p:spPr>
          <a:xfrm>
            <a:off x="0" y="0"/>
            <a:ext cx="164592" cy="6858000"/>
          </a:xfrm>
          <a:prstGeom prst="rect">
            <a:avLst/>
          </a:prstGeom>
          <a:solidFill>
            <a:srgbClr val="7C5CFF"/>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D4C2"/>
                </a:solidFill>
                <a:latin typeface="Calibri" pitchFamily="34" charset="0"/>
                <a:ea typeface="Calibri" pitchFamily="34" charset="-122"/>
                <a:cs typeface="Calibri" pitchFamily="34" charset="-120"/>
              </a:rPr>
              <a:t>SLIDE 10 / 13   |   PROOF</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200" b="1" dirty="0">
                <a:solidFill>
                  <a:srgbClr val="F5F7FF"/>
                </a:solidFill>
                <a:latin typeface="Calibri" pitchFamily="34" charset="0"/>
                <a:ea typeface="Calibri" pitchFamily="34" charset="-122"/>
                <a:cs typeface="Calibri" pitchFamily="34" charset="-120"/>
              </a:rPr>
              <a:t>Lean 4 certificates: the classical facts are machine-checked</a:t>
            </a:r>
            <a:endParaRPr lang="en-US" sz="32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A9B4D0"/>
                </a:solidFill>
                <a:latin typeface="Calibri" pitchFamily="34" charset="0"/>
                <a:ea typeface="Calibri" pitchFamily="34" charset="-122"/>
                <a:cs typeface="Calibri" pitchFamily="34" charset="-120"/>
              </a:rPr>
              <a:t>Quantum Headache · QUBIT 2026 · Antenna Tilt</a:t>
            </a:r>
            <a:endParaRPr lang="en-US" sz="1000" dirty="0"/>
          </a:p>
        </p:txBody>
      </p:sp>
      <p:sp>
        <p:nvSpPr>
          <p:cNvPr id="8" name="Shape 6"/>
          <p:cNvSpPr/>
          <p:nvPr/>
        </p:nvSpPr>
        <p:spPr>
          <a:xfrm>
            <a:off x="548640" y="1463040"/>
            <a:ext cx="11247120" cy="2743200"/>
          </a:xfrm>
          <a:prstGeom prst="roundRect">
            <a:avLst>
              <a:gd name="adj" fmla="val 2667"/>
            </a:avLst>
          </a:prstGeom>
          <a:solidFill>
            <a:srgbClr val="141B33"/>
          </a:solidFill>
          <a:ln w="12700">
            <a:solidFill>
              <a:srgbClr val="141B33"/>
            </a:solidFill>
            <a:prstDash val="solid"/>
          </a:ln>
        </p:spPr>
      </p:sp>
      <p:sp>
        <p:nvSpPr>
          <p:cNvPr id="9" name="Text 7"/>
          <p:cNvSpPr/>
          <p:nvPr/>
        </p:nvSpPr>
        <p:spPr>
          <a:xfrm>
            <a:off x="731520" y="1554480"/>
            <a:ext cx="10881360" cy="2560320"/>
          </a:xfrm>
          <a:prstGeom prst="rect">
            <a:avLst/>
          </a:prstGeom>
          <a:noFill/>
          <a:ln/>
        </p:spPr>
        <p:txBody>
          <a:bodyPr wrap="square" lIns="635" tIns="635" rIns="635" bIns="635" rtlCol="0" anchor="ctr"/>
          <a:lstStyle/>
          <a:p>
            <a:pPr indent="0" marL="0">
              <a:buNone/>
            </a:pPr>
            <a:r>
              <a:rPr lang="en-US" sz="1250" dirty="0">
                <a:solidFill>
                  <a:srgbClr val="2BD4C2"/>
                </a:solidFill>
                <a:latin typeface="Consolas" pitchFamily="34" charset="0"/>
                <a:ea typeface="Consolas" pitchFamily="34" charset="-122"/>
                <a:cs typeface="Consolas" pitchFamily="34" charset="-120"/>
              </a:rPr>
              <a:t>theorem decodeTilt_bijective : Function.Bijective (fun q : Fin 2 × Fin 2 =&gt; decodeTilt q.1 q.2)   -- 2 qubits ↔ 4 tilts</a:t>
            </a:r>
            <a:endParaRPr lang="en-US" sz="1250" dirty="0"/>
          </a:p>
          <a:p>
            <a:pPr indent="0" marL="0">
              <a:buNone/>
            </a:pPr>
            <a:r>
              <a:rPr lang="en-US" sz="1250" dirty="0">
                <a:solidFill>
                  <a:srgbClr val="2BD4C2"/>
                </a:solidFill>
                <a:latin typeface="Consolas" pitchFamily="34" charset="0"/>
                <a:ea typeface="Consolas" pitchFamily="34" charset="-122"/>
                <a:cs typeface="Consolas" pitchFamily="34" charset="-120"/>
              </a:rPr>
              <a:t>theorem costS_optTilt      : costS optTilt = -28440                                   -- cost ×10⁴ (decide)</a:t>
            </a:r>
            <a:endParaRPr lang="en-US" sz="1250" dirty="0"/>
          </a:p>
          <a:p>
            <a:pPr indent="0" marL="0">
              <a:buNone/>
            </a:pPr>
            <a:r>
              <a:rPr lang="en-US" sz="1250" dirty="0">
                <a:solidFill>
                  <a:srgbClr val="2BD4C2"/>
                </a:solidFill>
                <a:latin typeface="Consolas" pitchFamily="34" charset="0"/>
                <a:ea typeface="Consolas" pitchFamily="34" charset="-122"/>
                <a:cs typeface="Consolas" pitchFamily="34" charset="-120"/>
              </a:rPr>
              <a:t>theorem costS_lower_bound  : ∀ t : Fin 6 → Fin 4, -28440 ≤ costS t                       -- 4096 cases (native_decide)</a:t>
            </a:r>
            <a:endParaRPr lang="en-US" sz="1250" dirty="0"/>
          </a:p>
          <a:p>
            <a:pPr indent="0" marL="0">
              <a:buNone/>
            </a:pPr>
            <a:r>
              <a:rPr lang="en-US" sz="1250" dirty="0">
                <a:solidFill>
                  <a:srgbClr val="2BD4C2"/>
                </a:solidFill>
                <a:latin typeface="Consolas" pitchFamily="34" charset="0"/>
                <a:ea typeface="Consolas" pitchFamily="34" charset="-122"/>
                <a:cs typeface="Consolas" pitchFamily="34" charset="-120"/>
              </a:rPr>
              <a:t>theorem costS_unique       : ∀ t : Fin 6 → Fin 4, costS t = -28440 → t = optTilt          -- optimum is unique</a:t>
            </a:r>
            <a:endParaRPr lang="en-US" sz="1250" dirty="0"/>
          </a:p>
          <a:p>
            <a:pPr indent="0" marL="0">
              <a:buNone/>
            </a:pPr>
            <a:r>
              <a:rPr lang="en-US" sz="1250" dirty="0">
                <a:solidFill>
                  <a:srgbClr val="2BD4C2"/>
                </a:solidFill>
                <a:latin typeface="Consolas" pitchFamily="34" charset="0"/>
                <a:ea typeface="Consolas" pitchFamily="34" charset="-122"/>
                <a:cs typeface="Consolas" pitchFamily="34" charset="-120"/>
              </a:rPr>
              <a:t>theorem cost_phase_preserves_probability : ∀ γ c a, ‖exp(γ c i) · a‖² = ‖a‖²             -- phase layer keeps P</a:t>
            </a:r>
            <a:endParaRPr lang="en-US" sz="1250" dirty="0"/>
          </a:p>
          <a:p>
            <a:pPr indent="0" marL="0">
              <a:buNone/>
            </a:pPr>
            <a:r>
              <a:rPr lang="en-US" sz="1250" dirty="0">
                <a:solidFill>
                  <a:srgbClr val="2BD4C2"/>
                </a:solidFill>
                <a:latin typeface="Consolas" pitchFamily="34" charset="0"/>
                <a:ea typeface="Consolas" pitchFamily="34" charset="-122"/>
                <a:cs typeface="Consolas" pitchFamily="34" charset="-120"/>
              </a:rPr>
              <a:t>theorem two_smul_P0 / two_smul_P1 : 2•P0 = 1 + Z,  2•P1 = 1 − Z                        -- qubit → Pauli-Z</a:t>
            </a:r>
            <a:endParaRPr lang="en-US" sz="1250" dirty="0"/>
          </a:p>
        </p:txBody>
      </p:sp>
      <p:sp>
        <p:nvSpPr>
          <p:cNvPr id="10" name="Shape 8"/>
          <p:cNvSpPr/>
          <p:nvPr/>
        </p:nvSpPr>
        <p:spPr>
          <a:xfrm>
            <a:off x="548640" y="4434840"/>
            <a:ext cx="2651760" cy="1234440"/>
          </a:xfrm>
          <a:prstGeom prst="roundRect">
            <a:avLst>
              <a:gd name="adj" fmla="val 5926"/>
            </a:avLst>
          </a:prstGeom>
          <a:solidFill>
            <a:srgbClr val="141B33"/>
          </a:solidFill>
          <a:ln w="12700">
            <a:solidFill>
              <a:srgbClr val="141B33"/>
            </a:solidFill>
            <a:prstDash val="solid"/>
          </a:ln>
        </p:spPr>
      </p:sp>
      <p:sp>
        <p:nvSpPr>
          <p:cNvPr id="11" name="Text 9"/>
          <p:cNvSpPr/>
          <p:nvPr/>
        </p:nvSpPr>
        <p:spPr>
          <a:xfrm>
            <a:off x="548640" y="4544568"/>
            <a:ext cx="2651760" cy="640080"/>
          </a:xfrm>
          <a:prstGeom prst="rect">
            <a:avLst/>
          </a:prstGeom>
          <a:noFill/>
          <a:ln/>
        </p:spPr>
        <p:txBody>
          <a:bodyPr wrap="square" lIns="0" tIns="0" rIns="0" bIns="0" rtlCol="0" anchor="ctr"/>
          <a:lstStyle/>
          <a:p>
            <a:pPr algn="ctr" indent="0" marL="0">
              <a:buNone/>
            </a:pPr>
            <a:r>
              <a:rPr lang="en-US" sz="3000" b="1" dirty="0">
                <a:solidFill>
                  <a:srgbClr val="2BD4C2"/>
                </a:solidFill>
                <a:latin typeface="Calibri" pitchFamily="34" charset="0"/>
                <a:ea typeface="Calibri" pitchFamily="34" charset="-122"/>
                <a:cs typeface="Calibri" pitchFamily="34" charset="-120"/>
              </a:rPr>
              <a:t>0 sorry</a:t>
            </a:r>
            <a:endParaRPr lang="en-US" sz="3000" dirty="0"/>
          </a:p>
        </p:txBody>
      </p:sp>
      <p:sp>
        <p:nvSpPr>
          <p:cNvPr id="12" name="Text 10"/>
          <p:cNvSpPr/>
          <p:nvPr/>
        </p:nvSpPr>
        <p:spPr>
          <a:xfrm>
            <a:off x="640080" y="5166360"/>
            <a:ext cx="246888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lake build succeeded</a:t>
            </a:r>
            <a:endParaRPr lang="en-US" sz="1100" dirty="0"/>
          </a:p>
        </p:txBody>
      </p:sp>
      <p:sp>
        <p:nvSpPr>
          <p:cNvPr id="13" name="Shape 11"/>
          <p:cNvSpPr/>
          <p:nvPr/>
        </p:nvSpPr>
        <p:spPr>
          <a:xfrm>
            <a:off x="3337560" y="4434840"/>
            <a:ext cx="2651760" cy="1234440"/>
          </a:xfrm>
          <a:prstGeom prst="roundRect">
            <a:avLst>
              <a:gd name="adj" fmla="val 5926"/>
            </a:avLst>
          </a:prstGeom>
          <a:solidFill>
            <a:srgbClr val="141B33"/>
          </a:solidFill>
          <a:ln w="12700">
            <a:solidFill>
              <a:srgbClr val="141B33"/>
            </a:solidFill>
            <a:prstDash val="solid"/>
          </a:ln>
        </p:spPr>
      </p:sp>
      <p:sp>
        <p:nvSpPr>
          <p:cNvPr id="14" name="Text 12"/>
          <p:cNvSpPr/>
          <p:nvPr/>
        </p:nvSpPr>
        <p:spPr>
          <a:xfrm>
            <a:off x="3337560" y="4544568"/>
            <a:ext cx="2651760" cy="640080"/>
          </a:xfrm>
          <a:prstGeom prst="rect">
            <a:avLst/>
          </a:prstGeom>
          <a:noFill/>
          <a:ln/>
        </p:spPr>
        <p:txBody>
          <a:bodyPr wrap="square" lIns="0" tIns="0" rIns="0" bIns="0" rtlCol="0" anchor="ctr"/>
          <a:lstStyle/>
          <a:p>
            <a:pPr algn="ctr" indent="0" marL="0">
              <a:buNone/>
            </a:pPr>
            <a:r>
              <a:rPr lang="en-US" sz="3000" b="1" dirty="0">
                <a:solidFill>
                  <a:srgbClr val="2BD4C2"/>
                </a:solidFill>
                <a:latin typeface="Calibri" pitchFamily="34" charset="0"/>
                <a:ea typeface="Calibri" pitchFamily="34" charset="-122"/>
                <a:cs typeface="Calibri" pitchFamily="34" charset="-120"/>
              </a:rPr>
              <a:t>Mathlib</a:t>
            </a:r>
            <a:endParaRPr lang="en-US" sz="3000" dirty="0"/>
          </a:p>
        </p:txBody>
      </p:sp>
      <p:sp>
        <p:nvSpPr>
          <p:cNvPr id="15" name="Text 13"/>
          <p:cNvSpPr/>
          <p:nvPr/>
        </p:nvSpPr>
        <p:spPr>
          <a:xfrm>
            <a:off x="3429000" y="5166360"/>
            <a:ext cx="2468880" cy="457200"/>
          </a:xfrm>
          <a:prstGeom prst="rect">
            <a:avLst/>
          </a:prstGeom>
          <a:noFill/>
          <a:ln/>
        </p:spPr>
        <p:txBody>
          <a:bodyPr wrap="square" lIns="0" tIns="0" rIns="0" bIns="0" rtlCol="0" anchor="ctr"/>
          <a:lstStyle/>
          <a:p>
            <a:pPr algn="ctr" indent="0" marL="0">
              <a:buNone/>
            </a:pPr>
            <a:r>
              <a:rPr lang="en-US" sz="1100" dirty="0">
                <a:solidFill>
                  <a:srgbClr val="A9B4D0"/>
                </a:solidFill>
                <a:latin typeface="Calibri" pitchFamily="34" charset="0"/>
                <a:ea typeface="Calibri" pitchFamily="34" charset="-122"/>
                <a:cs typeface="Calibri" pitchFamily="34" charset="-120"/>
              </a:rPr>
              <a:t>Lean 4.33.1</a:t>
            </a:r>
            <a:endParaRPr lang="en-US" sz="1100" dirty="0"/>
          </a:p>
        </p:txBody>
      </p:sp>
      <p:sp>
        <p:nvSpPr>
          <p:cNvPr id="16" name="Text 14"/>
          <p:cNvSpPr/>
          <p:nvPr/>
        </p:nvSpPr>
        <p:spPr>
          <a:xfrm>
            <a:off x="6309360" y="4434840"/>
            <a:ext cx="5486400" cy="164592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group/lean/TiltQAOA.lean + build log</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Proves the optimum, its uniqueness and the encoding are exactly what the quantum runs report</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Quantum layer: unitarity of the phase operator, so QAOA never destroys probability mass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7C5CFF"/>
          </a:solidFill>
          <a:ln w="12700">
            <a:solidFill>
              <a:srgbClr val="7C5CFF"/>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F5F7FF"/>
                </a:solidFill>
                <a:latin typeface="Calibri" pitchFamily="34" charset="0"/>
                <a:ea typeface="Calibri" pitchFamily="34" charset="-122"/>
                <a:cs typeface="Calibri" pitchFamily="34" charset="-120"/>
              </a:rPr>
              <a:t>11 / 13</a:t>
            </a:r>
            <a:endParaRPr lang="en-US" sz="2800" dirty="0"/>
          </a:p>
        </p:txBody>
      </p:sp>
      <p:sp>
        <p:nvSpPr>
          <p:cNvPr id="4" name="Shape 2"/>
          <p:cNvSpPr/>
          <p:nvPr/>
        </p:nvSpPr>
        <p:spPr>
          <a:xfrm>
            <a:off x="0" y="0"/>
            <a:ext cx="164592" cy="6858000"/>
          </a:xfrm>
          <a:prstGeom prst="rect">
            <a:avLst/>
          </a:prstGeom>
          <a:solidFill>
            <a:srgbClr val="7C5CFF"/>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D4C2"/>
                </a:solidFill>
                <a:latin typeface="Calibri" pitchFamily="34" charset="0"/>
                <a:ea typeface="Calibri" pitchFamily="34" charset="-122"/>
                <a:cs typeface="Calibri" pitchFamily="34" charset="-120"/>
              </a:rPr>
              <a:t>SLIDE 11 / 13   |   SCALE</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200" b="1" dirty="0">
                <a:solidFill>
                  <a:srgbClr val="F5F7FF"/>
                </a:solidFill>
                <a:latin typeface="Calibri" pitchFamily="34" charset="0"/>
                <a:ea typeface="Calibri" pitchFamily="34" charset="-122"/>
                <a:cs typeface="Calibri" pitchFamily="34" charset="-120"/>
              </a:rPr>
              <a:t>From 4 tilt levels to the operator's 10 — and beyond</a:t>
            </a:r>
            <a:endParaRPr lang="en-US" sz="32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A9B4D0"/>
                </a:solidFill>
                <a:latin typeface="Calibri" pitchFamily="34" charset="0"/>
                <a:ea typeface="Calibri" pitchFamily="34" charset="-122"/>
                <a:cs typeface="Calibri" pitchFamily="34" charset="-120"/>
              </a:rPr>
              <a:t>Quantum Headache · QUBIT 2026 · Antenna Tilt</a:t>
            </a:r>
            <a:endParaRPr lang="en-US" sz="1000" dirty="0"/>
          </a:p>
        </p:txBody>
      </p:sp>
      <p:pic>
        <p:nvPicPr>
          <p:cNvPr id="8" name="Image 0" descr="C:\Projects\Hackton\group\wolfram\img\levels.png">    </p:cNvPr>
          <p:cNvPicPr>
            <a:picLocks noChangeAspect="1"/>
          </p:cNvPicPr>
          <p:nvPr/>
        </p:nvPicPr>
        <p:blipFill>
          <a:blip r:embed="rId1"/>
          <a:stretch>
            <a:fillRect/>
          </a:stretch>
        </p:blipFill>
        <p:spPr>
          <a:xfrm>
            <a:off x="548640" y="1417320"/>
            <a:ext cx="6035040" cy="4096512"/>
          </a:xfrm>
          <a:prstGeom prst="rect">
            <a:avLst/>
          </a:prstGeom>
        </p:spPr>
      </p:pic>
      <p:sp>
        <p:nvSpPr>
          <p:cNvPr id="9" name="Text 6"/>
          <p:cNvSpPr/>
          <p:nvPr/>
        </p:nvSpPr>
        <p:spPr>
          <a:xfrm>
            <a:off x="6858000" y="1463040"/>
            <a:ext cx="4937760" cy="420624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10 levels → 4 qubits per antenna → 24 qubits for the same 6 antennas</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Hamiltonian stays 2-local: gate count grows quadratically, not exponentially</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100 antennas × 10 levels ≈ 400 qubits — QAOA depth stays p·O(n²)</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Grover alternative: quadratic speed-up, needs a fault-tolerant machine and an oracle for “cost &lt; threshold”; shown on a 16-state slice in the notebook</a:t>
            </a:r>
            <a:endParaRPr lang="en-US" sz="1300" dirty="0"/>
          </a:p>
          <a:p>
            <a:pPr marL="342900" indent="-342900">
              <a:spcAft>
                <a:spcPts val="600"/>
              </a:spcAft>
              <a:buSzPct val="100000"/>
              <a:buChar char="▸"/>
            </a:pPr>
            <a:r>
              <a:rPr lang="en-US" sz="1300" dirty="0">
                <a:solidFill>
                  <a:srgbClr val="F5F7FF"/>
                </a:solidFill>
                <a:latin typeface="Calibri" pitchFamily="34" charset="0"/>
                <a:ea typeface="Calibri" pitchFamily="34" charset="-122"/>
                <a:cs typeface="Calibri" pitchFamily="34" charset="-120"/>
              </a:rPr>
              <a:t>Next: run p = 1 on IonQ simulator backend via Classiq, then hardware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7C5CFF"/>
          </a:solidFill>
          <a:ln w="12700">
            <a:solidFill>
              <a:srgbClr val="7C5CFF"/>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F5F7FF"/>
                </a:solidFill>
                <a:latin typeface="Calibri" pitchFamily="34" charset="0"/>
                <a:ea typeface="Calibri" pitchFamily="34" charset="-122"/>
                <a:cs typeface="Calibri" pitchFamily="34" charset="-120"/>
              </a:rPr>
              <a:t>12 / 13</a:t>
            </a:r>
            <a:endParaRPr lang="en-US" sz="2800" dirty="0"/>
          </a:p>
        </p:txBody>
      </p:sp>
      <p:sp>
        <p:nvSpPr>
          <p:cNvPr id="4" name="Shape 2"/>
          <p:cNvSpPr/>
          <p:nvPr/>
        </p:nvSpPr>
        <p:spPr>
          <a:xfrm>
            <a:off x="0" y="0"/>
            <a:ext cx="164592" cy="6858000"/>
          </a:xfrm>
          <a:prstGeom prst="rect">
            <a:avLst/>
          </a:prstGeom>
          <a:solidFill>
            <a:srgbClr val="7C5CFF"/>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D4C2"/>
                </a:solidFill>
                <a:latin typeface="Calibri" pitchFamily="34" charset="0"/>
                <a:ea typeface="Calibri" pitchFamily="34" charset="-122"/>
                <a:cs typeface="Calibri" pitchFamily="34" charset="-120"/>
              </a:rPr>
              <a:t>SLIDE 12 / 13   |   ARCHITECTURE</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200" b="1" dirty="0">
                <a:solidFill>
                  <a:srgbClr val="F5F7FF"/>
                </a:solidFill>
                <a:latin typeface="Calibri" pitchFamily="34" charset="0"/>
                <a:ea typeface="Calibri" pitchFamily="34" charset="-122"/>
                <a:cs typeface="Calibri" pitchFamily="34" charset="-120"/>
              </a:rPr>
              <a:t>Whole network: coarse-to-fine k-means, one QAOA job per group</a:t>
            </a:r>
            <a:endParaRPr lang="en-US" sz="32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A9B4D0"/>
                </a:solidFill>
                <a:latin typeface="Calibri" pitchFamily="34" charset="0"/>
                <a:ea typeface="Calibri" pitchFamily="34" charset="-122"/>
                <a:cs typeface="Calibri" pitchFamily="34" charset="-120"/>
              </a:rPr>
              <a:t>Quantum Headache · QUBIT 2026 · Antenna Tilt</a:t>
            </a:r>
            <a:endParaRPr lang="en-US" sz="1000" dirty="0"/>
          </a:p>
        </p:txBody>
      </p:sp>
      <p:sp>
        <p:nvSpPr>
          <p:cNvPr id="8" name="Shape 6"/>
          <p:cNvSpPr/>
          <p:nvPr/>
        </p:nvSpPr>
        <p:spPr>
          <a:xfrm>
            <a:off x="2103120" y="1463040"/>
            <a:ext cx="3108960" cy="548640"/>
          </a:xfrm>
          <a:prstGeom prst="roundRect">
            <a:avLst>
              <a:gd name="adj" fmla="val 10000"/>
            </a:avLst>
          </a:prstGeom>
          <a:solidFill>
            <a:srgbClr val="141B33"/>
          </a:solidFill>
          <a:ln w="12700">
            <a:solidFill>
              <a:srgbClr val="141B33"/>
            </a:solidFill>
            <a:prstDash val="solid"/>
          </a:ln>
        </p:spPr>
      </p:sp>
      <p:sp>
        <p:nvSpPr>
          <p:cNvPr id="9" name="Text 7"/>
          <p:cNvSpPr/>
          <p:nvPr/>
        </p:nvSpPr>
        <p:spPr>
          <a:xfrm>
            <a:off x="2103120" y="1463040"/>
            <a:ext cx="3108960" cy="548640"/>
          </a:xfrm>
          <a:prstGeom prst="rect">
            <a:avLst/>
          </a:prstGeom>
          <a:noFill/>
          <a:ln/>
        </p:spPr>
        <p:txBody>
          <a:bodyPr wrap="square" lIns="254" tIns="254" rIns="254" bIns="254" rtlCol="0" anchor="ctr"/>
          <a:lstStyle/>
          <a:p>
            <a:pPr algn="ctr" indent="0" marL="0">
              <a:buNone/>
            </a:pPr>
            <a:r>
              <a:rPr lang="en-US" sz="1200" dirty="0">
                <a:solidFill>
                  <a:srgbClr val="F5F7FF"/>
                </a:solidFill>
                <a:latin typeface="Calibri" pitchFamily="34" charset="0"/>
                <a:ea typeface="Calibri" pitchFamily="34" charset="-122"/>
                <a:cs typeface="Calibri" pitchFamily="34" charset="-120"/>
              </a:rPr>
              <a:t>Whole network — feature vector x_r per region</a:t>
            </a:r>
            <a:endParaRPr lang="en-US" sz="1200" dirty="0"/>
          </a:p>
        </p:txBody>
      </p:sp>
      <p:sp>
        <p:nvSpPr>
          <p:cNvPr id="10" name="Text 8"/>
          <p:cNvSpPr/>
          <p:nvPr/>
        </p:nvSpPr>
        <p:spPr>
          <a:xfrm>
            <a:off x="5303520" y="1600200"/>
            <a:ext cx="1463040" cy="274320"/>
          </a:xfrm>
          <a:prstGeom prst="rect">
            <a:avLst/>
          </a:prstGeom>
          <a:noFill/>
          <a:ln/>
        </p:spPr>
        <p:txBody>
          <a:bodyPr wrap="square" lIns="0" tIns="0" rIns="0" bIns="0" rtlCol="0" anchor="ctr"/>
          <a:lstStyle/>
          <a:p>
            <a:pPr indent="0" marL="0">
              <a:buNone/>
            </a:pPr>
            <a:r>
              <a:rPr lang="en-US" sz="1000" dirty="0">
                <a:solidFill>
                  <a:srgbClr val="2BD4C2"/>
                </a:solidFill>
                <a:latin typeface="Calibri" pitchFamily="34" charset="0"/>
                <a:ea typeface="Calibri" pitchFamily="34" charset="-122"/>
                <a:cs typeface="Calibri" pitchFamily="34" charset="-120"/>
              </a:rPr>
              <a:t>k-means, k = 5</a:t>
            </a:r>
            <a:endParaRPr lang="en-US" sz="1000" dirty="0"/>
          </a:p>
        </p:txBody>
      </p:sp>
      <p:sp>
        <p:nvSpPr>
          <p:cNvPr id="11" name="Shape 9"/>
          <p:cNvSpPr/>
          <p:nvPr/>
        </p:nvSpPr>
        <p:spPr>
          <a:xfrm flipH="1">
            <a:off x="1005840" y="2011680"/>
            <a:ext cx="2651760" cy="594360"/>
          </a:xfrm>
          <a:prstGeom prst="line">
            <a:avLst/>
          </a:prstGeom>
          <a:noFill/>
          <a:ln w="12700">
            <a:solidFill>
              <a:srgbClr val="A9B4D0"/>
            </a:solidFill>
            <a:prstDash val="solid"/>
          </a:ln>
        </p:spPr>
      </p:sp>
      <p:sp>
        <p:nvSpPr>
          <p:cNvPr id="12" name="Shape 10"/>
          <p:cNvSpPr/>
          <p:nvPr/>
        </p:nvSpPr>
        <p:spPr>
          <a:xfrm>
            <a:off x="548640" y="2606040"/>
            <a:ext cx="914400" cy="457200"/>
          </a:xfrm>
          <a:prstGeom prst="roundRect">
            <a:avLst>
              <a:gd name="adj" fmla="val 12000"/>
            </a:avLst>
          </a:prstGeom>
          <a:solidFill>
            <a:srgbClr val="7C5CFF"/>
          </a:solidFill>
          <a:ln w="12700">
            <a:solidFill>
              <a:srgbClr val="7C5CFF"/>
            </a:solidFill>
            <a:prstDash val="solid"/>
          </a:ln>
        </p:spPr>
      </p:sp>
      <p:sp>
        <p:nvSpPr>
          <p:cNvPr id="13" name="Text 11"/>
          <p:cNvSpPr/>
          <p:nvPr/>
        </p:nvSpPr>
        <p:spPr>
          <a:xfrm>
            <a:off x="548640" y="2606040"/>
            <a:ext cx="914400" cy="457200"/>
          </a:xfrm>
          <a:prstGeom prst="rect">
            <a:avLst/>
          </a:prstGeom>
          <a:noFill/>
          <a:ln/>
        </p:spPr>
        <p:txBody>
          <a:bodyPr wrap="square" lIns="254" tIns="254" rIns="254" bIns="254" rtlCol="0" anchor="ctr"/>
          <a:lstStyle/>
          <a:p>
            <a:pPr algn="ctr" indent="0" marL="0">
              <a:buNone/>
            </a:pPr>
            <a:r>
              <a:rPr lang="en-US" sz="1300" dirty="0">
                <a:solidFill>
                  <a:srgbClr val="F5F7FF"/>
                </a:solidFill>
                <a:latin typeface="Calibri" pitchFamily="34" charset="0"/>
                <a:ea typeface="Calibri" pitchFamily="34" charset="-122"/>
                <a:cs typeface="Calibri" pitchFamily="34" charset="-120"/>
              </a:rPr>
              <a:t>G1</a:t>
            </a:r>
            <a:endParaRPr lang="en-US" sz="1300" dirty="0"/>
          </a:p>
        </p:txBody>
      </p:sp>
      <p:sp>
        <p:nvSpPr>
          <p:cNvPr id="14" name="Shape 12"/>
          <p:cNvSpPr/>
          <p:nvPr/>
        </p:nvSpPr>
        <p:spPr>
          <a:xfrm flipH="1">
            <a:off x="2331720" y="2011680"/>
            <a:ext cx="1325880" cy="594360"/>
          </a:xfrm>
          <a:prstGeom prst="line">
            <a:avLst/>
          </a:prstGeom>
          <a:noFill/>
          <a:ln w="12700">
            <a:solidFill>
              <a:srgbClr val="A9B4D0"/>
            </a:solidFill>
            <a:prstDash val="solid"/>
          </a:ln>
        </p:spPr>
      </p:sp>
      <p:sp>
        <p:nvSpPr>
          <p:cNvPr id="15" name="Shape 13"/>
          <p:cNvSpPr/>
          <p:nvPr/>
        </p:nvSpPr>
        <p:spPr>
          <a:xfrm>
            <a:off x="1874520" y="2606040"/>
            <a:ext cx="914400" cy="457200"/>
          </a:xfrm>
          <a:prstGeom prst="roundRect">
            <a:avLst>
              <a:gd name="adj" fmla="val 12000"/>
            </a:avLst>
          </a:prstGeom>
          <a:solidFill>
            <a:srgbClr val="141B33"/>
          </a:solidFill>
          <a:ln w="12700">
            <a:solidFill>
              <a:srgbClr val="141B33"/>
            </a:solidFill>
            <a:prstDash val="solid"/>
          </a:ln>
        </p:spPr>
      </p:sp>
      <p:sp>
        <p:nvSpPr>
          <p:cNvPr id="16" name="Text 14"/>
          <p:cNvSpPr/>
          <p:nvPr/>
        </p:nvSpPr>
        <p:spPr>
          <a:xfrm>
            <a:off x="1874520" y="2606040"/>
            <a:ext cx="914400" cy="457200"/>
          </a:xfrm>
          <a:prstGeom prst="rect">
            <a:avLst/>
          </a:prstGeom>
          <a:noFill/>
          <a:ln/>
        </p:spPr>
        <p:txBody>
          <a:bodyPr wrap="square" lIns="254" tIns="254" rIns="254" bIns="254" rtlCol="0" anchor="ctr"/>
          <a:lstStyle/>
          <a:p>
            <a:pPr algn="ctr" indent="0" marL="0">
              <a:buNone/>
            </a:pPr>
            <a:r>
              <a:rPr lang="en-US" sz="1300" dirty="0">
                <a:solidFill>
                  <a:srgbClr val="F5F7FF"/>
                </a:solidFill>
                <a:latin typeface="Calibri" pitchFamily="34" charset="0"/>
                <a:ea typeface="Calibri" pitchFamily="34" charset="-122"/>
                <a:cs typeface="Calibri" pitchFamily="34" charset="-120"/>
              </a:rPr>
              <a:t>G2</a:t>
            </a:r>
            <a:endParaRPr lang="en-US" sz="1300" dirty="0"/>
          </a:p>
        </p:txBody>
      </p:sp>
      <p:sp>
        <p:nvSpPr>
          <p:cNvPr id="17" name="Shape 15"/>
          <p:cNvSpPr/>
          <p:nvPr/>
        </p:nvSpPr>
        <p:spPr>
          <a:xfrm>
            <a:off x="3657600" y="2011680"/>
            <a:ext cx="0" cy="594360"/>
          </a:xfrm>
          <a:prstGeom prst="line">
            <a:avLst/>
          </a:prstGeom>
          <a:noFill/>
          <a:ln w="12700">
            <a:solidFill>
              <a:srgbClr val="A9B4D0"/>
            </a:solidFill>
            <a:prstDash val="solid"/>
          </a:ln>
        </p:spPr>
      </p:sp>
      <p:sp>
        <p:nvSpPr>
          <p:cNvPr id="18" name="Shape 16"/>
          <p:cNvSpPr/>
          <p:nvPr/>
        </p:nvSpPr>
        <p:spPr>
          <a:xfrm>
            <a:off x="3200400" y="2606040"/>
            <a:ext cx="914400" cy="457200"/>
          </a:xfrm>
          <a:prstGeom prst="roundRect">
            <a:avLst>
              <a:gd name="adj" fmla="val 12000"/>
            </a:avLst>
          </a:prstGeom>
          <a:solidFill>
            <a:srgbClr val="141B33"/>
          </a:solidFill>
          <a:ln w="12700">
            <a:solidFill>
              <a:srgbClr val="141B33"/>
            </a:solidFill>
            <a:prstDash val="solid"/>
          </a:ln>
        </p:spPr>
      </p:sp>
      <p:sp>
        <p:nvSpPr>
          <p:cNvPr id="19" name="Text 17"/>
          <p:cNvSpPr/>
          <p:nvPr/>
        </p:nvSpPr>
        <p:spPr>
          <a:xfrm>
            <a:off x="3200400" y="2606040"/>
            <a:ext cx="914400" cy="457200"/>
          </a:xfrm>
          <a:prstGeom prst="rect">
            <a:avLst/>
          </a:prstGeom>
          <a:noFill/>
          <a:ln/>
        </p:spPr>
        <p:txBody>
          <a:bodyPr wrap="square" lIns="254" tIns="254" rIns="254" bIns="254" rtlCol="0" anchor="ctr"/>
          <a:lstStyle/>
          <a:p>
            <a:pPr algn="ctr" indent="0" marL="0">
              <a:buNone/>
            </a:pPr>
            <a:r>
              <a:rPr lang="en-US" sz="1300" dirty="0">
                <a:solidFill>
                  <a:srgbClr val="F5F7FF"/>
                </a:solidFill>
                <a:latin typeface="Calibri" pitchFamily="34" charset="0"/>
                <a:ea typeface="Calibri" pitchFamily="34" charset="-122"/>
                <a:cs typeface="Calibri" pitchFamily="34" charset="-120"/>
              </a:rPr>
              <a:t>G3</a:t>
            </a:r>
            <a:endParaRPr lang="en-US" sz="1300" dirty="0"/>
          </a:p>
        </p:txBody>
      </p:sp>
      <p:sp>
        <p:nvSpPr>
          <p:cNvPr id="20" name="Shape 18"/>
          <p:cNvSpPr/>
          <p:nvPr/>
        </p:nvSpPr>
        <p:spPr>
          <a:xfrm>
            <a:off x="3657600" y="2011680"/>
            <a:ext cx="1325880" cy="594360"/>
          </a:xfrm>
          <a:prstGeom prst="line">
            <a:avLst/>
          </a:prstGeom>
          <a:noFill/>
          <a:ln w="12700">
            <a:solidFill>
              <a:srgbClr val="A9B4D0"/>
            </a:solidFill>
            <a:prstDash val="solid"/>
          </a:ln>
        </p:spPr>
      </p:sp>
      <p:sp>
        <p:nvSpPr>
          <p:cNvPr id="21" name="Shape 19"/>
          <p:cNvSpPr/>
          <p:nvPr/>
        </p:nvSpPr>
        <p:spPr>
          <a:xfrm>
            <a:off x="4526280" y="2606040"/>
            <a:ext cx="914400" cy="457200"/>
          </a:xfrm>
          <a:prstGeom prst="roundRect">
            <a:avLst>
              <a:gd name="adj" fmla="val 12000"/>
            </a:avLst>
          </a:prstGeom>
          <a:solidFill>
            <a:srgbClr val="141B33"/>
          </a:solidFill>
          <a:ln w="12700">
            <a:solidFill>
              <a:srgbClr val="141B33"/>
            </a:solidFill>
            <a:prstDash val="solid"/>
          </a:ln>
        </p:spPr>
      </p:sp>
      <p:sp>
        <p:nvSpPr>
          <p:cNvPr id="22" name="Text 20"/>
          <p:cNvSpPr/>
          <p:nvPr/>
        </p:nvSpPr>
        <p:spPr>
          <a:xfrm>
            <a:off x="4526280" y="2606040"/>
            <a:ext cx="914400" cy="457200"/>
          </a:xfrm>
          <a:prstGeom prst="rect">
            <a:avLst/>
          </a:prstGeom>
          <a:noFill/>
          <a:ln/>
        </p:spPr>
        <p:txBody>
          <a:bodyPr wrap="square" lIns="254" tIns="254" rIns="254" bIns="254" rtlCol="0" anchor="ctr"/>
          <a:lstStyle/>
          <a:p>
            <a:pPr algn="ctr" indent="0" marL="0">
              <a:buNone/>
            </a:pPr>
            <a:r>
              <a:rPr lang="en-US" sz="1300" dirty="0">
                <a:solidFill>
                  <a:srgbClr val="F5F7FF"/>
                </a:solidFill>
                <a:latin typeface="Calibri" pitchFamily="34" charset="0"/>
                <a:ea typeface="Calibri" pitchFamily="34" charset="-122"/>
                <a:cs typeface="Calibri" pitchFamily="34" charset="-120"/>
              </a:rPr>
              <a:t>G4</a:t>
            </a:r>
            <a:endParaRPr lang="en-US" sz="1300" dirty="0"/>
          </a:p>
        </p:txBody>
      </p:sp>
      <p:sp>
        <p:nvSpPr>
          <p:cNvPr id="23" name="Shape 21"/>
          <p:cNvSpPr/>
          <p:nvPr/>
        </p:nvSpPr>
        <p:spPr>
          <a:xfrm>
            <a:off x="3657600" y="2011680"/>
            <a:ext cx="2651760" cy="594360"/>
          </a:xfrm>
          <a:prstGeom prst="line">
            <a:avLst/>
          </a:prstGeom>
          <a:noFill/>
          <a:ln w="12700">
            <a:solidFill>
              <a:srgbClr val="A9B4D0"/>
            </a:solidFill>
            <a:prstDash val="solid"/>
          </a:ln>
        </p:spPr>
      </p:sp>
      <p:sp>
        <p:nvSpPr>
          <p:cNvPr id="24" name="Shape 22"/>
          <p:cNvSpPr/>
          <p:nvPr/>
        </p:nvSpPr>
        <p:spPr>
          <a:xfrm>
            <a:off x="5852160" y="2606040"/>
            <a:ext cx="914400" cy="457200"/>
          </a:xfrm>
          <a:prstGeom prst="roundRect">
            <a:avLst>
              <a:gd name="adj" fmla="val 12000"/>
            </a:avLst>
          </a:prstGeom>
          <a:solidFill>
            <a:srgbClr val="141B33"/>
          </a:solidFill>
          <a:ln w="12700">
            <a:solidFill>
              <a:srgbClr val="141B33"/>
            </a:solidFill>
            <a:prstDash val="solid"/>
          </a:ln>
        </p:spPr>
      </p:sp>
      <p:sp>
        <p:nvSpPr>
          <p:cNvPr id="25" name="Text 23"/>
          <p:cNvSpPr/>
          <p:nvPr/>
        </p:nvSpPr>
        <p:spPr>
          <a:xfrm>
            <a:off x="5852160" y="2606040"/>
            <a:ext cx="914400" cy="457200"/>
          </a:xfrm>
          <a:prstGeom prst="rect">
            <a:avLst/>
          </a:prstGeom>
          <a:noFill/>
          <a:ln/>
        </p:spPr>
        <p:txBody>
          <a:bodyPr wrap="square" lIns="254" tIns="254" rIns="254" bIns="254" rtlCol="0" anchor="ctr"/>
          <a:lstStyle/>
          <a:p>
            <a:pPr algn="ctr" indent="0" marL="0">
              <a:buNone/>
            </a:pPr>
            <a:r>
              <a:rPr lang="en-US" sz="1300" dirty="0">
                <a:solidFill>
                  <a:srgbClr val="F5F7FF"/>
                </a:solidFill>
                <a:latin typeface="Calibri" pitchFamily="34" charset="0"/>
                <a:ea typeface="Calibri" pitchFamily="34" charset="-122"/>
                <a:cs typeface="Calibri" pitchFamily="34" charset="-120"/>
              </a:rPr>
              <a:t>G5</a:t>
            </a:r>
            <a:endParaRPr lang="en-US" sz="1300" dirty="0"/>
          </a:p>
        </p:txBody>
      </p:sp>
      <p:sp>
        <p:nvSpPr>
          <p:cNvPr id="26" name="Text 24"/>
          <p:cNvSpPr/>
          <p:nvPr/>
        </p:nvSpPr>
        <p:spPr>
          <a:xfrm>
            <a:off x="3931920" y="3154680"/>
            <a:ext cx="2926080" cy="457200"/>
          </a:xfrm>
          <a:prstGeom prst="rect">
            <a:avLst/>
          </a:prstGeom>
          <a:noFill/>
          <a:ln/>
        </p:spPr>
        <p:txBody>
          <a:bodyPr wrap="square" lIns="0" tIns="0" rIns="0" bIns="0" rtlCol="0" anchor="ctr"/>
          <a:lstStyle/>
          <a:p>
            <a:pPr indent="0" marL="0">
              <a:buNone/>
            </a:pPr>
            <a:r>
              <a:rPr lang="en-US" sz="1000" dirty="0">
                <a:solidFill>
                  <a:srgbClr val="A9B4D0"/>
                </a:solidFill>
                <a:latin typeface="Calibri" pitchFamily="34" charset="0"/>
                <a:ea typeface="Calibri" pitchFamily="34" charset="-122"/>
                <a:cs typeface="Calibri" pitchFamily="34" charset="-120"/>
              </a:rPr>
              <a:t>each group: joint QAOA of its antennas · 2 qubits/antenna · 2-local H_C · one Classiq job (15 in parallel)</a:t>
            </a:r>
            <a:endParaRPr lang="en-US" sz="1000" dirty="0"/>
          </a:p>
        </p:txBody>
      </p:sp>
      <p:sp>
        <p:nvSpPr>
          <p:cNvPr id="27" name="Text 25"/>
          <p:cNvSpPr/>
          <p:nvPr/>
        </p:nvSpPr>
        <p:spPr>
          <a:xfrm>
            <a:off x="3931920" y="3840480"/>
            <a:ext cx="2926080" cy="274320"/>
          </a:xfrm>
          <a:prstGeom prst="rect">
            <a:avLst/>
          </a:prstGeom>
          <a:noFill/>
          <a:ln/>
        </p:spPr>
        <p:txBody>
          <a:bodyPr wrap="square" lIns="0" tIns="0" rIns="0" bIns="0" rtlCol="0" anchor="ctr"/>
          <a:lstStyle/>
          <a:p>
            <a:pPr indent="0" marL="0">
              <a:buNone/>
            </a:pPr>
            <a:r>
              <a:rPr lang="en-US" sz="1000" dirty="0">
                <a:solidFill>
                  <a:srgbClr val="2BD4C2"/>
                </a:solidFill>
                <a:latin typeface="Calibri" pitchFamily="34" charset="0"/>
                <a:ea typeface="Calibri" pitchFamily="34" charset="-122"/>
                <a:cs typeface="Calibri" pitchFamily="34" charset="-120"/>
              </a:rPr>
              <a:t>refine G1 where ΔU is still large</a:t>
            </a:r>
            <a:endParaRPr lang="en-US" sz="1000" dirty="0"/>
          </a:p>
        </p:txBody>
      </p:sp>
      <p:sp>
        <p:nvSpPr>
          <p:cNvPr id="28" name="Shape 26"/>
          <p:cNvSpPr/>
          <p:nvPr/>
        </p:nvSpPr>
        <p:spPr>
          <a:xfrm flipH="1">
            <a:off x="822960" y="3063240"/>
            <a:ext cx="182880" cy="731520"/>
          </a:xfrm>
          <a:prstGeom prst="line">
            <a:avLst/>
          </a:prstGeom>
          <a:noFill/>
          <a:ln w="12700">
            <a:solidFill>
              <a:srgbClr val="A9B4D0"/>
            </a:solidFill>
            <a:prstDash val="solid"/>
          </a:ln>
        </p:spPr>
      </p:sp>
      <p:sp>
        <p:nvSpPr>
          <p:cNvPr id="29" name="Shape 27"/>
          <p:cNvSpPr/>
          <p:nvPr/>
        </p:nvSpPr>
        <p:spPr>
          <a:xfrm>
            <a:off x="548640" y="3794760"/>
            <a:ext cx="548640" cy="411480"/>
          </a:xfrm>
          <a:prstGeom prst="roundRect">
            <a:avLst>
              <a:gd name="adj" fmla="val 13333"/>
            </a:avLst>
          </a:prstGeom>
          <a:solidFill>
            <a:srgbClr val="141B33"/>
          </a:solidFill>
          <a:ln w="12700">
            <a:solidFill>
              <a:srgbClr val="141B33"/>
            </a:solidFill>
            <a:prstDash val="solid"/>
          </a:ln>
        </p:spPr>
      </p:sp>
      <p:sp>
        <p:nvSpPr>
          <p:cNvPr id="30" name="Text 28"/>
          <p:cNvSpPr/>
          <p:nvPr/>
        </p:nvSpPr>
        <p:spPr>
          <a:xfrm>
            <a:off x="548640" y="3794760"/>
            <a:ext cx="548640" cy="411480"/>
          </a:xfrm>
          <a:prstGeom prst="rect">
            <a:avLst/>
          </a:prstGeom>
          <a:noFill/>
          <a:ln/>
        </p:spPr>
        <p:txBody>
          <a:bodyPr wrap="square" lIns="254" tIns="254" rIns="254" bIns="254" rtlCol="0" anchor="ctr"/>
          <a:lstStyle/>
          <a:p>
            <a:pPr algn="ctr" indent="0" marL="0">
              <a:buNone/>
            </a:pPr>
            <a:r>
              <a:rPr lang="en-US" sz="1100" dirty="0">
                <a:solidFill>
                  <a:srgbClr val="F5F7FF"/>
                </a:solidFill>
                <a:latin typeface="Calibri" pitchFamily="34" charset="0"/>
                <a:ea typeface="Calibri" pitchFamily="34" charset="-122"/>
                <a:cs typeface="Calibri" pitchFamily="34" charset="-120"/>
              </a:rPr>
              <a:t>G11</a:t>
            </a:r>
            <a:endParaRPr lang="en-US" sz="1100" dirty="0"/>
          </a:p>
        </p:txBody>
      </p:sp>
      <p:sp>
        <p:nvSpPr>
          <p:cNvPr id="31" name="Shape 29"/>
          <p:cNvSpPr/>
          <p:nvPr/>
        </p:nvSpPr>
        <p:spPr>
          <a:xfrm>
            <a:off x="1005840" y="3063240"/>
            <a:ext cx="457200" cy="731520"/>
          </a:xfrm>
          <a:prstGeom prst="line">
            <a:avLst/>
          </a:prstGeom>
          <a:noFill/>
          <a:ln w="12700">
            <a:solidFill>
              <a:srgbClr val="A9B4D0"/>
            </a:solidFill>
            <a:prstDash val="solid"/>
          </a:ln>
        </p:spPr>
      </p:sp>
      <p:sp>
        <p:nvSpPr>
          <p:cNvPr id="32" name="Shape 30"/>
          <p:cNvSpPr/>
          <p:nvPr/>
        </p:nvSpPr>
        <p:spPr>
          <a:xfrm>
            <a:off x="1188720" y="3794760"/>
            <a:ext cx="548640" cy="411480"/>
          </a:xfrm>
          <a:prstGeom prst="roundRect">
            <a:avLst>
              <a:gd name="adj" fmla="val 13333"/>
            </a:avLst>
          </a:prstGeom>
          <a:solidFill>
            <a:srgbClr val="7C5CFF"/>
          </a:solidFill>
          <a:ln w="12700">
            <a:solidFill>
              <a:srgbClr val="7C5CFF"/>
            </a:solidFill>
            <a:prstDash val="solid"/>
          </a:ln>
        </p:spPr>
      </p:sp>
      <p:sp>
        <p:nvSpPr>
          <p:cNvPr id="33" name="Text 31"/>
          <p:cNvSpPr/>
          <p:nvPr/>
        </p:nvSpPr>
        <p:spPr>
          <a:xfrm>
            <a:off x="1188720" y="3794760"/>
            <a:ext cx="548640" cy="411480"/>
          </a:xfrm>
          <a:prstGeom prst="rect">
            <a:avLst/>
          </a:prstGeom>
          <a:noFill/>
          <a:ln/>
        </p:spPr>
        <p:txBody>
          <a:bodyPr wrap="square" lIns="254" tIns="254" rIns="254" bIns="254" rtlCol="0" anchor="ctr"/>
          <a:lstStyle/>
          <a:p>
            <a:pPr algn="ctr" indent="0" marL="0">
              <a:buNone/>
            </a:pPr>
            <a:r>
              <a:rPr lang="en-US" sz="1100" dirty="0">
                <a:solidFill>
                  <a:srgbClr val="F5F7FF"/>
                </a:solidFill>
                <a:latin typeface="Calibri" pitchFamily="34" charset="0"/>
                <a:ea typeface="Calibri" pitchFamily="34" charset="-122"/>
                <a:cs typeface="Calibri" pitchFamily="34" charset="-120"/>
              </a:rPr>
              <a:t>G12</a:t>
            </a:r>
            <a:endParaRPr lang="en-US" sz="1100" dirty="0"/>
          </a:p>
        </p:txBody>
      </p:sp>
      <p:sp>
        <p:nvSpPr>
          <p:cNvPr id="34" name="Shape 32"/>
          <p:cNvSpPr/>
          <p:nvPr/>
        </p:nvSpPr>
        <p:spPr>
          <a:xfrm>
            <a:off x="1005840" y="3063240"/>
            <a:ext cx="1097280" cy="731520"/>
          </a:xfrm>
          <a:prstGeom prst="line">
            <a:avLst/>
          </a:prstGeom>
          <a:noFill/>
          <a:ln w="12700">
            <a:solidFill>
              <a:srgbClr val="A9B4D0"/>
            </a:solidFill>
            <a:prstDash val="solid"/>
          </a:ln>
        </p:spPr>
      </p:sp>
      <p:sp>
        <p:nvSpPr>
          <p:cNvPr id="35" name="Shape 33"/>
          <p:cNvSpPr/>
          <p:nvPr/>
        </p:nvSpPr>
        <p:spPr>
          <a:xfrm>
            <a:off x="1828800" y="3794760"/>
            <a:ext cx="548640" cy="411480"/>
          </a:xfrm>
          <a:prstGeom prst="roundRect">
            <a:avLst>
              <a:gd name="adj" fmla="val 13333"/>
            </a:avLst>
          </a:prstGeom>
          <a:solidFill>
            <a:srgbClr val="141B33"/>
          </a:solidFill>
          <a:ln w="12700">
            <a:solidFill>
              <a:srgbClr val="141B33"/>
            </a:solidFill>
            <a:prstDash val="solid"/>
          </a:ln>
        </p:spPr>
      </p:sp>
      <p:sp>
        <p:nvSpPr>
          <p:cNvPr id="36" name="Text 34"/>
          <p:cNvSpPr/>
          <p:nvPr/>
        </p:nvSpPr>
        <p:spPr>
          <a:xfrm>
            <a:off x="1828800" y="3794760"/>
            <a:ext cx="548640" cy="411480"/>
          </a:xfrm>
          <a:prstGeom prst="rect">
            <a:avLst/>
          </a:prstGeom>
          <a:noFill/>
          <a:ln/>
        </p:spPr>
        <p:txBody>
          <a:bodyPr wrap="square" lIns="254" tIns="254" rIns="254" bIns="254" rtlCol="0" anchor="ctr"/>
          <a:lstStyle/>
          <a:p>
            <a:pPr algn="ctr" indent="0" marL="0">
              <a:buNone/>
            </a:pPr>
            <a:r>
              <a:rPr lang="en-US" sz="1100" dirty="0">
                <a:solidFill>
                  <a:srgbClr val="F5F7FF"/>
                </a:solidFill>
                <a:latin typeface="Calibri" pitchFamily="34" charset="0"/>
                <a:ea typeface="Calibri" pitchFamily="34" charset="-122"/>
                <a:cs typeface="Calibri" pitchFamily="34" charset="-120"/>
              </a:rPr>
              <a:t>G13</a:t>
            </a:r>
            <a:endParaRPr lang="en-US" sz="1100" dirty="0"/>
          </a:p>
        </p:txBody>
      </p:sp>
      <p:sp>
        <p:nvSpPr>
          <p:cNvPr id="37" name="Shape 35"/>
          <p:cNvSpPr/>
          <p:nvPr/>
        </p:nvSpPr>
        <p:spPr>
          <a:xfrm>
            <a:off x="1005840" y="3063240"/>
            <a:ext cx="1737360" cy="731520"/>
          </a:xfrm>
          <a:prstGeom prst="line">
            <a:avLst/>
          </a:prstGeom>
          <a:noFill/>
          <a:ln w="12700">
            <a:solidFill>
              <a:srgbClr val="A9B4D0"/>
            </a:solidFill>
            <a:prstDash val="solid"/>
          </a:ln>
        </p:spPr>
      </p:sp>
      <p:sp>
        <p:nvSpPr>
          <p:cNvPr id="38" name="Shape 36"/>
          <p:cNvSpPr/>
          <p:nvPr/>
        </p:nvSpPr>
        <p:spPr>
          <a:xfrm>
            <a:off x="2468880" y="3794760"/>
            <a:ext cx="548640" cy="411480"/>
          </a:xfrm>
          <a:prstGeom prst="roundRect">
            <a:avLst>
              <a:gd name="adj" fmla="val 13333"/>
            </a:avLst>
          </a:prstGeom>
          <a:solidFill>
            <a:srgbClr val="141B33"/>
          </a:solidFill>
          <a:ln w="12700">
            <a:solidFill>
              <a:srgbClr val="141B33"/>
            </a:solidFill>
            <a:prstDash val="solid"/>
          </a:ln>
        </p:spPr>
      </p:sp>
      <p:sp>
        <p:nvSpPr>
          <p:cNvPr id="39" name="Text 37"/>
          <p:cNvSpPr/>
          <p:nvPr/>
        </p:nvSpPr>
        <p:spPr>
          <a:xfrm>
            <a:off x="2468880" y="3794760"/>
            <a:ext cx="548640" cy="411480"/>
          </a:xfrm>
          <a:prstGeom prst="rect">
            <a:avLst/>
          </a:prstGeom>
          <a:noFill/>
          <a:ln/>
        </p:spPr>
        <p:txBody>
          <a:bodyPr wrap="square" lIns="254" tIns="254" rIns="254" bIns="254" rtlCol="0" anchor="ctr"/>
          <a:lstStyle/>
          <a:p>
            <a:pPr algn="ctr" indent="0" marL="0">
              <a:buNone/>
            </a:pPr>
            <a:r>
              <a:rPr lang="en-US" sz="1100" dirty="0">
                <a:solidFill>
                  <a:srgbClr val="F5F7FF"/>
                </a:solidFill>
                <a:latin typeface="Calibri" pitchFamily="34" charset="0"/>
                <a:ea typeface="Calibri" pitchFamily="34" charset="-122"/>
                <a:cs typeface="Calibri" pitchFamily="34" charset="-120"/>
              </a:rPr>
              <a:t>G14</a:t>
            </a:r>
            <a:endParaRPr lang="en-US" sz="1100" dirty="0"/>
          </a:p>
        </p:txBody>
      </p:sp>
      <p:sp>
        <p:nvSpPr>
          <p:cNvPr id="40" name="Shape 38"/>
          <p:cNvSpPr/>
          <p:nvPr/>
        </p:nvSpPr>
        <p:spPr>
          <a:xfrm>
            <a:off x="1005840" y="3063240"/>
            <a:ext cx="2377440" cy="731520"/>
          </a:xfrm>
          <a:prstGeom prst="line">
            <a:avLst/>
          </a:prstGeom>
          <a:noFill/>
          <a:ln w="12700">
            <a:solidFill>
              <a:srgbClr val="A9B4D0"/>
            </a:solidFill>
            <a:prstDash val="solid"/>
          </a:ln>
        </p:spPr>
      </p:sp>
      <p:sp>
        <p:nvSpPr>
          <p:cNvPr id="41" name="Shape 39"/>
          <p:cNvSpPr/>
          <p:nvPr/>
        </p:nvSpPr>
        <p:spPr>
          <a:xfrm>
            <a:off x="3108960" y="3794760"/>
            <a:ext cx="548640" cy="411480"/>
          </a:xfrm>
          <a:prstGeom prst="roundRect">
            <a:avLst>
              <a:gd name="adj" fmla="val 13333"/>
            </a:avLst>
          </a:prstGeom>
          <a:solidFill>
            <a:srgbClr val="141B33"/>
          </a:solidFill>
          <a:ln w="12700">
            <a:solidFill>
              <a:srgbClr val="141B33"/>
            </a:solidFill>
            <a:prstDash val="solid"/>
          </a:ln>
        </p:spPr>
      </p:sp>
      <p:sp>
        <p:nvSpPr>
          <p:cNvPr id="42" name="Text 40"/>
          <p:cNvSpPr/>
          <p:nvPr/>
        </p:nvSpPr>
        <p:spPr>
          <a:xfrm>
            <a:off x="3108960" y="3794760"/>
            <a:ext cx="548640" cy="411480"/>
          </a:xfrm>
          <a:prstGeom prst="rect">
            <a:avLst/>
          </a:prstGeom>
          <a:noFill/>
          <a:ln/>
        </p:spPr>
        <p:txBody>
          <a:bodyPr wrap="square" lIns="254" tIns="254" rIns="254" bIns="254" rtlCol="0" anchor="ctr"/>
          <a:lstStyle/>
          <a:p>
            <a:pPr algn="ctr" indent="0" marL="0">
              <a:buNone/>
            </a:pPr>
            <a:r>
              <a:rPr lang="en-US" sz="1100" dirty="0">
                <a:solidFill>
                  <a:srgbClr val="F5F7FF"/>
                </a:solidFill>
                <a:latin typeface="Calibri" pitchFamily="34" charset="0"/>
                <a:ea typeface="Calibri" pitchFamily="34" charset="-122"/>
                <a:cs typeface="Calibri" pitchFamily="34" charset="-120"/>
              </a:rPr>
              <a:t>G15</a:t>
            </a:r>
            <a:endParaRPr lang="en-US" sz="1100" dirty="0"/>
          </a:p>
        </p:txBody>
      </p:sp>
      <p:sp>
        <p:nvSpPr>
          <p:cNvPr id="43" name="Shape 41"/>
          <p:cNvSpPr/>
          <p:nvPr/>
        </p:nvSpPr>
        <p:spPr>
          <a:xfrm>
            <a:off x="1463040" y="4206240"/>
            <a:ext cx="0" cy="365760"/>
          </a:xfrm>
          <a:prstGeom prst="line">
            <a:avLst/>
          </a:prstGeom>
          <a:noFill/>
          <a:ln w="12700">
            <a:solidFill>
              <a:srgbClr val="A9B4D0"/>
            </a:solidFill>
            <a:prstDash val="solid"/>
          </a:ln>
        </p:spPr>
      </p:sp>
      <p:sp>
        <p:nvSpPr>
          <p:cNvPr id="44" name="Shape 42"/>
          <p:cNvSpPr/>
          <p:nvPr/>
        </p:nvSpPr>
        <p:spPr>
          <a:xfrm>
            <a:off x="548640" y="4572000"/>
            <a:ext cx="6309360" cy="640080"/>
          </a:xfrm>
          <a:prstGeom prst="roundRect">
            <a:avLst>
              <a:gd name="adj" fmla="val 8571"/>
            </a:avLst>
          </a:prstGeom>
          <a:solidFill>
            <a:srgbClr val="7C5CFF"/>
          </a:solidFill>
          <a:ln w="12700">
            <a:solidFill>
              <a:srgbClr val="7C5CFF"/>
            </a:solidFill>
            <a:prstDash val="solid"/>
          </a:ln>
        </p:spPr>
      </p:sp>
      <p:sp>
        <p:nvSpPr>
          <p:cNvPr id="45" name="Text 43"/>
          <p:cNvSpPr/>
          <p:nvPr/>
        </p:nvSpPr>
        <p:spPr>
          <a:xfrm>
            <a:off x="548640" y="4572000"/>
            <a:ext cx="6309360" cy="640080"/>
          </a:xfrm>
          <a:prstGeom prst="rect">
            <a:avLst/>
          </a:prstGeom>
          <a:noFill/>
          <a:ln/>
        </p:spPr>
        <p:txBody>
          <a:bodyPr wrap="square" lIns="254" tIns="254" rIns="254" bIns="254" rtlCol="0" anchor="ctr"/>
          <a:lstStyle/>
          <a:p>
            <a:pPr algn="ctr" indent="0" marL="0">
              <a:buNone/>
            </a:pPr>
            <a:r>
              <a:rPr lang="en-US" sz="1200" dirty="0">
                <a:solidFill>
                  <a:srgbClr val="F5F7FF"/>
                </a:solidFill>
                <a:latin typeface="Calibri" pitchFamily="34" charset="0"/>
                <a:ea typeface="Calibri" pitchFamily="34" charset="-122"/>
                <a:cs typeface="Calibri" pitchFamily="34" charset="-120"/>
              </a:rPr>
              <a:t>our run = one leaf: 2 real sites, 6 sectors, 12 qubits, optimum −2.844 found and proven</a:t>
            </a:r>
            <a:endParaRPr lang="en-US" sz="1200" dirty="0"/>
          </a:p>
        </p:txBody>
      </p:sp>
      <p:sp>
        <p:nvSpPr>
          <p:cNvPr id="46" name="Text 44"/>
          <p:cNvSpPr/>
          <p:nvPr/>
        </p:nvSpPr>
        <p:spPr>
          <a:xfrm>
            <a:off x="548640" y="5349240"/>
            <a:ext cx="6309360" cy="274320"/>
          </a:xfrm>
          <a:prstGeom prst="rect">
            <a:avLst/>
          </a:prstGeom>
          <a:noFill/>
          <a:ln/>
        </p:spPr>
        <p:txBody>
          <a:bodyPr wrap="square" lIns="0" tIns="0" rIns="0" bIns="0" rtlCol="0" anchor="ctr"/>
          <a:lstStyle/>
          <a:p>
            <a:pPr indent="0" marL="0">
              <a:buNone/>
            </a:pPr>
            <a:r>
              <a:rPr lang="en-US" sz="1050" dirty="0">
                <a:solidFill>
                  <a:srgbClr val="A9B4D0"/>
                </a:solidFill>
                <a:latin typeface="Calibri" pitchFamily="34" charset="0"/>
                <a:ea typeface="Calibri" pitchFamily="34" charset="-122"/>
                <a:cs typeface="Calibri" pitchFamily="34" charset="-120"/>
              </a:rPr>
              <a:t>5 → 25 → 125 groups: distinct plans grow, jobs per level ≤ 25 → two batches of 15</a:t>
            </a:r>
            <a:endParaRPr lang="en-US" sz="1050" dirty="0"/>
          </a:p>
        </p:txBody>
      </p:sp>
      <p:sp>
        <p:nvSpPr>
          <p:cNvPr id="47" name="Shape 45"/>
          <p:cNvSpPr/>
          <p:nvPr/>
        </p:nvSpPr>
        <p:spPr>
          <a:xfrm>
            <a:off x="7223760" y="1463040"/>
            <a:ext cx="4572000" cy="2148840"/>
          </a:xfrm>
          <a:prstGeom prst="roundRect">
            <a:avLst>
              <a:gd name="adj" fmla="val 3404"/>
            </a:avLst>
          </a:prstGeom>
          <a:solidFill>
            <a:srgbClr val="141B33"/>
          </a:solidFill>
          <a:ln w="12700">
            <a:solidFill>
              <a:srgbClr val="141B33"/>
            </a:solidFill>
            <a:prstDash val="solid"/>
          </a:ln>
        </p:spPr>
      </p:sp>
      <p:sp>
        <p:nvSpPr>
          <p:cNvPr id="48" name="Text 46"/>
          <p:cNvSpPr/>
          <p:nvPr/>
        </p:nvSpPr>
        <p:spPr>
          <a:xfrm>
            <a:off x="7360920" y="1554480"/>
            <a:ext cx="4297680" cy="1965960"/>
          </a:xfrm>
          <a:prstGeom prst="rect">
            <a:avLst/>
          </a:prstGeom>
          <a:noFill/>
          <a:ln/>
        </p:spPr>
        <p:txBody>
          <a:bodyPr wrap="square" lIns="635" tIns="635" rIns="635" bIns="635" rtlCol="0" anchor="t"/>
          <a:lstStyle/>
          <a:p>
            <a:pPr indent="0" marL="0">
              <a:buNone/>
            </a:pPr>
            <a:r>
              <a:rPr lang="en-US" sz="1400" b="1" dirty="0">
                <a:solidFill>
                  <a:srgbClr val="2BD4C2"/>
                </a:solidFill>
                <a:latin typeface="Calibri" pitchFamily="34" charset="0"/>
                <a:ea typeface="Calibri" pitchFamily="34" charset="-122"/>
                <a:cs typeface="Calibri" pitchFamily="34" charset="-120"/>
              </a:rPr>
              <a:t>Two stated assumptions</a:t>
            </a:r>
            <a:endParaRPr lang="en-US" sz="1400" dirty="0"/>
          </a:p>
          <a:p>
            <a:pPr indent="0" marL="0">
              <a:buNone/>
            </a:pPr>
            <a:r>
              <a:rPr lang="en-US" sz="1200" dirty="0">
                <a:solidFill>
                  <a:srgbClr val="F5F7FF"/>
                </a:solidFill>
                <a:latin typeface="Calibri" pitchFamily="34" charset="0"/>
                <a:ea typeface="Calibri" pitchFamily="34" charset="-122"/>
                <a:cs typeface="Calibri" pitchFamily="34" charset="-120"/>
              </a:rPr>
              <a:t>1. Regions in one group are similar enough to share the coarse tilt plan — refinement relaxes this level by level.</a:t>
            </a:r>
            <a:endParaRPr lang="en-US" sz="1400" dirty="0"/>
          </a:p>
          <a:p>
            <a:pPr indent="0" marL="0">
              <a:buNone/>
            </a:pPr>
            <a:r>
              <a:rPr lang="en-US" sz="1200" dirty="0">
                <a:solidFill>
                  <a:srgbClr val="F5F7FF"/>
                </a:solidFill>
                <a:latin typeface="Calibri" pitchFamily="34" charset="0"/>
                <a:ea typeface="Calibri" pitchFamily="34" charset="-122"/>
                <a:cs typeface="Calibri" pitchFamily="34" charset="-120"/>
              </a:rPr>
              <a:t>2. Interference between groups is ignored at each level — fixed by re-optimising boundary antennas with neighbours held fixed.</a:t>
            </a:r>
            <a:endParaRPr lang="en-US" sz="1400" dirty="0"/>
          </a:p>
        </p:txBody>
      </p:sp>
      <p:sp>
        <p:nvSpPr>
          <p:cNvPr id="49" name="Text 47"/>
          <p:cNvSpPr/>
          <p:nvPr/>
        </p:nvSpPr>
        <p:spPr>
          <a:xfrm>
            <a:off x="7223760" y="3794760"/>
            <a:ext cx="4572000" cy="2194560"/>
          </a:xfrm>
          <a:prstGeom prst="rect">
            <a:avLst/>
          </a:prstGeom>
          <a:noFill/>
          <a:ln/>
        </p:spPr>
        <p:txBody>
          <a:bodyPr wrap="square" lIns="635" tIns="635" rIns="635" bIns="635" rtlCol="0" anchor="t"/>
          <a:lstStyle/>
          <a:p>
            <a:pPr marL="342900" indent="-342900">
              <a:spcAft>
                <a:spcPts val="600"/>
              </a:spcAft>
              <a:buSzPct val="100000"/>
              <a:buChar char="▸"/>
            </a:pPr>
            <a:r>
              <a:rPr lang="en-US" sz="1200" dirty="0">
                <a:solidFill>
                  <a:srgbClr val="F5F7FF"/>
                </a:solidFill>
                <a:latin typeface="Calibri" pitchFamily="34" charset="0"/>
                <a:ea typeface="Calibri" pitchFamily="34" charset="-122"/>
                <a:cs typeface="Calibri" pitchFamily="34" charset="-120"/>
              </a:rPr>
              <a:t>Group = antennas optimised jointly (the coupled ZZ problem) — that is where QAOA does work; a single shared 27-way choice would be brute-forced classically</a:t>
            </a:r>
            <a:endParaRPr lang="en-US" sz="1200" dirty="0"/>
          </a:p>
          <a:p>
            <a:pPr marL="342900" indent="-342900">
              <a:spcAft>
                <a:spcPts val="600"/>
              </a:spcAft>
              <a:buSzPct val="100000"/>
              <a:buChar char="▸"/>
            </a:pPr>
            <a:r>
              <a:rPr lang="en-US" sz="1200" dirty="0">
                <a:solidFill>
                  <a:srgbClr val="F5F7FF"/>
                </a:solidFill>
                <a:latin typeface="Calibri" pitchFamily="34" charset="0"/>
                <a:ea typeface="Calibri" pitchFamily="34" charset="-122"/>
                <a:cs typeface="Calibri" pitchFamily="34" charset="-120"/>
              </a:rPr>
              <a:t>Quantum budget per job stays what we ran today: 12 qubits = 6 antennas; 24 qubits = 6 antennas × 10 tilt levels</a:t>
            </a:r>
            <a:endParaRPr lang="en-US" sz="1200" dirty="0"/>
          </a:p>
          <a:p>
            <a:pPr marL="342900" indent="-342900">
              <a:spcAft>
                <a:spcPts val="600"/>
              </a:spcAft>
              <a:buSzPct val="100000"/>
              <a:buChar char="▸"/>
            </a:pPr>
            <a:r>
              <a:rPr lang="en-US" sz="1200" dirty="0">
                <a:solidFill>
                  <a:srgbClr val="F5F7FF"/>
                </a:solidFill>
                <a:latin typeface="Calibri" pitchFamily="34" charset="0"/>
                <a:ea typeface="Calibri" pitchFamily="34" charset="-122"/>
                <a:cs typeface="Calibri" pitchFamily="34" charset="-120"/>
              </a:rPr>
              <a:t>Classical: k-means + utility aggregation; quantum: one warm-started QAOA per group</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7C5CFF"/>
          </a:solidFill>
          <a:ln w="12700">
            <a:solidFill>
              <a:srgbClr val="7C5CFF"/>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F5F7FF"/>
                </a:solidFill>
                <a:latin typeface="Calibri" pitchFamily="34" charset="0"/>
                <a:ea typeface="Calibri" pitchFamily="34" charset="-122"/>
                <a:cs typeface="Calibri" pitchFamily="34" charset="-120"/>
              </a:rPr>
              <a:t>13 / 13</a:t>
            </a:r>
            <a:endParaRPr lang="en-US" sz="2800" dirty="0"/>
          </a:p>
        </p:txBody>
      </p:sp>
      <p:sp>
        <p:nvSpPr>
          <p:cNvPr id="4" name="Shape 2"/>
          <p:cNvSpPr/>
          <p:nvPr/>
        </p:nvSpPr>
        <p:spPr>
          <a:xfrm>
            <a:off x="0" y="0"/>
            <a:ext cx="164592" cy="6858000"/>
          </a:xfrm>
          <a:prstGeom prst="rect">
            <a:avLst/>
          </a:prstGeom>
          <a:solidFill>
            <a:srgbClr val="7C5CFF"/>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D4C2"/>
                </a:solidFill>
                <a:latin typeface="Calibri" pitchFamily="34" charset="0"/>
                <a:ea typeface="Calibri" pitchFamily="34" charset="-122"/>
                <a:cs typeface="Calibri" pitchFamily="34" charset="-120"/>
              </a:rPr>
              <a:t>SLIDE 13 / 13   |   SUMMARY</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200" b="1" dirty="0">
                <a:solidFill>
                  <a:srgbClr val="F5F7FF"/>
                </a:solidFill>
                <a:latin typeface="Calibri" pitchFamily="34" charset="0"/>
                <a:ea typeface="Calibri" pitchFamily="34" charset="-122"/>
                <a:cs typeface="Calibri" pitchFamily="34" charset="-120"/>
              </a:rPr>
              <a:t>Everything is in the group folder — reproducible end to end</a:t>
            </a:r>
            <a:endParaRPr lang="en-US" sz="32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A9B4D0"/>
                </a:solidFill>
                <a:latin typeface="Calibri" pitchFamily="34" charset="0"/>
                <a:ea typeface="Calibri" pitchFamily="34" charset="-122"/>
                <a:cs typeface="Calibri" pitchFamily="34" charset="-120"/>
              </a:rPr>
              <a:t>Quantum Headache · QUBIT 2026 · Antenna Tilt</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247120" cy="914400"/>
        </p:xfrm>
        <a:graphic>
          <a:graphicData uri="http://schemas.openxmlformats.org/drawingml/2006/table">
            <a:tbl>
              <a:tblPr/>
              <a:tblGrid>
                <a:gridCol w="3017520"/>
                <a:gridCol w="5486400"/>
                <a:gridCol w="2743200"/>
              </a:tblGrid>
              <a:tr h="0">
                <a:tc>
                  <a:txBody>
                    <a:bodyPr/>
                    <a:lstStyle/>
                    <a:p>
                      <a:pPr indent="0" marL="0">
                        <a:buNone/>
                      </a:pPr>
                      <a:r>
                        <a:rPr lang="en-US" sz="1200" b="1" dirty="0">
                          <a:solidFill>
                            <a:srgbClr val="2BD4C2"/>
                          </a:solidFill>
                          <a:latin typeface="Calibri" pitchFamily="34" charset="0"/>
                          <a:ea typeface="Calibri" pitchFamily="34" charset="-122"/>
                          <a:cs typeface="Calibri" pitchFamily="34" charset="-120"/>
                        </a:rPr>
                        <a:t>Artifact</a:t>
                      </a:r>
                      <a:endParaRPr lang="en-US" sz="1200" dirty="0">
                        <a:latin typeface="Calibri" charset="0"/>
                        <a:ea typeface="Calibri" charset="0"/>
                        <a:cs typeface="Calibri"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141B33"/>
                    </a:solidFill>
                  </a:tcPr>
                </a:tc>
                <a:tc>
                  <a:txBody>
                    <a:bodyPr/>
                    <a:lstStyle/>
                    <a:p>
                      <a:pPr indent="0" marL="0">
                        <a:buNone/>
                      </a:pPr>
                      <a:r>
                        <a:rPr lang="en-US" sz="1200" b="1" dirty="0">
                          <a:solidFill>
                            <a:srgbClr val="2BD4C2"/>
                          </a:solidFill>
                          <a:latin typeface="Calibri" pitchFamily="34" charset="0"/>
                          <a:ea typeface="Calibri" pitchFamily="34" charset="-122"/>
                          <a:cs typeface="Calibri" pitchFamily="34" charset="-120"/>
                        </a:rPr>
                        <a:t>Path (C:\Projects\Hackton\group\…)</a:t>
                      </a:r>
                      <a:endParaRPr lang="en-US" sz="1200" dirty="0">
                        <a:latin typeface="Calibri" charset="0"/>
                        <a:ea typeface="Calibri" charset="0"/>
                        <a:cs typeface="Calibri"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141B33"/>
                    </a:solidFill>
                  </a:tcPr>
                </a:tc>
                <a:tc>
                  <a:txBody>
                    <a:bodyPr/>
                    <a:lstStyle/>
                    <a:p>
                      <a:pPr indent="0" marL="0">
                        <a:buNone/>
                      </a:pPr>
                      <a:r>
                        <a:rPr lang="en-US" sz="1200" b="1" dirty="0">
                          <a:solidFill>
                            <a:srgbClr val="2BD4C2"/>
                          </a:solidFill>
                          <a:latin typeface="Calibri" pitchFamily="34" charset="0"/>
                          <a:ea typeface="Calibri" pitchFamily="34" charset="-122"/>
                          <a:cs typeface="Calibri" pitchFamily="34" charset="-120"/>
                        </a:rPr>
                        <a:t>Key number</a:t>
                      </a:r>
                      <a:endParaRPr lang="en-US" sz="1200" dirty="0">
                        <a:latin typeface="Calibri" charset="0"/>
                        <a:ea typeface="Calibri" charset="0"/>
                        <a:cs typeface="Calibri"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141B33"/>
                    </a:solidFill>
                  </a:tcPr>
                </a:tc>
              </a:tr>
              <a:tr h="0">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Classiq QAOA program + results</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classiq\qaoa_tilt_classiq.py, classiq\results\*.json/*.qasm</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⟨C⟩ 2.020 (p1), −0.466 (p2)</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r>
              <a:tr h="0">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Pauli decomposition + QASM layer</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gates\pauli_terms.json, gates\qaoa_layer_schedule.qasm</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73 terms, 2-local</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r>
              <a:tr h="0">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Wolfram notebook, PDF, CDF, MD</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wolfram\wolfram_realdataset_algorithms.*</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P(cost&lt;0) 0.024→0.53→0.67</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r>
              <a:tr h="0">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Lean 4 proof + build log</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lean\TiltQAOA.lean</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optimum −2.844 unique, 0 sorry</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r>
              <a:tr h="0">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Charts + demo videos</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charts\*.png, video\*.mp4</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120 + 22 frames</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r>
              <a:tr h="0">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Hamiltonian write-up</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qaoa_antenna_hamiltonian_explanation.md</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c>
                  <a:txBody>
                    <a:bodyPr/>
                    <a:lstStyle/>
                    <a:p>
                      <a:pPr indent="0" marL="0">
                        <a:buNone/>
                      </a:pPr>
                      <a:r>
                        <a:rPr lang="en-US" sz="1100" dirty="0">
                          <a:solidFill>
                            <a:srgbClr val="F5F7FF"/>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54864" marR="54864" marT="54864" marB="54864">
                    <a:lnL w="6350" cap="flat" cmpd="sng" algn="ctr">
                      <a:solidFill>
                        <a:srgbClr val="2A3358"/>
                      </a:solidFill>
                      <a:prstDash val="solid"/>
                      <a:round/>
                      <a:headEnd type="none" w="med" len="med"/>
                      <a:tailEnd type="none" w="med" len="med"/>
                    </a:lnL>
                    <a:lnR w="6350" cap="flat" cmpd="sng" algn="ctr">
                      <a:solidFill>
                        <a:srgbClr val="2A3358"/>
                      </a:solidFill>
                      <a:prstDash val="solid"/>
                      <a:round/>
                      <a:headEnd type="none" w="med" len="med"/>
                      <a:tailEnd type="none" w="med" len="med"/>
                    </a:lnR>
                    <a:lnT w="6350" cap="flat" cmpd="sng" algn="ctr">
                      <a:solidFill>
                        <a:srgbClr val="2A3358"/>
                      </a:solidFill>
                      <a:prstDash val="solid"/>
                      <a:round/>
                      <a:headEnd type="none" w="med" len="med"/>
                      <a:tailEnd type="none" w="med" len="med"/>
                    </a:lnT>
                    <a:lnB w="6350" cap="flat" cmpd="sng" algn="ctr">
                      <a:solidFill>
                        <a:srgbClr val="2A3358"/>
                      </a:solidFill>
                      <a:prstDash val="solid"/>
                      <a:round/>
                      <a:headEnd type="none" w="med" len="med"/>
                      <a:tailEnd type="none" w="med" len="med"/>
                    </a:lnB>
                    <a:solidFill>
                      <a:srgbClr val="0B1020"/>
                    </a:solidFill>
                  </a:tcPr>
                </a:tc>
              </a:tr>
            </a:tbl>
          </a:graphicData>
        </a:graphic>
      </p:graphicFrame>
      <p:sp>
        <p:nvSpPr>
          <p:cNvPr id="9" name="Text 6"/>
          <p:cNvSpPr/>
          <p:nvPr/>
        </p:nvSpPr>
        <p:spPr>
          <a:xfrm>
            <a:off x="548640" y="5669280"/>
            <a:ext cx="11247120" cy="457200"/>
          </a:xfrm>
          <a:prstGeom prst="rect">
            <a:avLst/>
          </a:prstGeom>
          <a:noFill/>
          <a:ln/>
        </p:spPr>
        <p:txBody>
          <a:bodyPr wrap="square" lIns="0" tIns="0" rIns="0" bIns="0" rtlCol="0" anchor="ctr"/>
          <a:lstStyle/>
          <a:p>
            <a:pPr indent="0" marL="0">
              <a:buNone/>
            </a:pPr>
            <a:r>
              <a:rPr lang="en-US" sz="2200" b="1" dirty="0">
                <a:solidFill>
                  <a:srgbClr val="F5F7FF"/>
                </a:solidFill>
                <a:latin typeface="Calibri" pitchFamily="34" charset="0"/>
                <a:ea typeface="Calibri" pitchFamily="34" charset="-122"/>
                <a:cs typeface="Calibri" pitchFamily="34" charset="-120"/>
              </a:rPr>
              <a:t>Team Quantum Headache — thank you. 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Antenna Tilt with QAOA — QUBIT 2026</dc:title>
  <dc:subject>PptxGenJS Presentation</dc:subject>
  <dc:creator>Team Quantum Headache</dc:creator>
  <cp:lastModifiedBy>Team Quantum Headache</cp:lastModifiedBy>
  <cp:revision>1</cp:revision>
  <dcterms:created xsi:type="dcterms:W3CDTF">2026-09-08T17:47:03Z</dcterms:created>
  <dcterms:modified xsi:type="dcterms:W3CDTF">2026-09-08T17:47:03Z</dcterms:modified>
</cp:coreProperties>
</file>