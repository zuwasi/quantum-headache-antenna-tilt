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One sentence: we optimise the down-tilt of 6 real Tel Aviv sector antennas with QAOA, ran it on Classiq, and verified every number two independent ways. Everything shown is reproducible from the group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from the group deck: customers, hexagonal cells with three 120-degree sectors, the interaction region R where three sectors overlap, and the demand-weighted utility U. Our real-data cost function is the same form with fixed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whole-network architecture from the group: cluster regions by a classical feature vector, one QAOA job per group, assign the plan to all regions in the group, evaluate global utility, then re-cluster only the group with the most variation. Our 12-qubit real-data run is the leaf solver in step 4. Two assumptions are stated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0:20–1:00. Data: opencellid_il2.csv, two 3-sector sites, interference matrix from geometry. 4096 plans is small on purpose: it lets us check the quantum answer exactly. The real operator problem (hundreds of antennas, 10 levels) has no exact classical check — that is where QAOA is meant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1:00–1:40. Each antenna is a 2-bit number. Substituting q=(1−Z)/2 into the quadratic cost gives a Hamiltonian with only Z and ZZ terms — 73 in total, computed by gates/pauli_decomposition.py and checked against the full cost table. 2-local means the phase layer is 72 RZ rotations and CX ladders; no expensive multi-controlled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1:40–2:10. The Qmod program uses Classiq's phase() on a QNum arithmetic expression, so the compiler builds the ZZ ladder for us. Transpiled: 12 qubits, depth 59 for one layer. We exported QASM3 and cross-checked a hand-written QASM2 of the same layer with Qiskit — three engines, same expectation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2:10–2:50. Wolfram lets us do the full 4096-dimensional statevector and scan the whole (γ,β) plane. The optimum is a narrow valley; most of the plane is a plateau — that will matter on Classiq. These optimal angles are exported to JSON and used as warm start in the Classiq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a random plan beats the baseline 2.4 percent of the time; after one QAOA layer 53 percent; after two, 67 percent. Shots to see the exact optimum drop from over 12 000 to about 340. The Classiq simulator reproduces the exact Wolfram numbers within shot noise, and the most frequent low-cost sample is exactly the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Play the clip (about 5 s). If the video does not play in the imported Canva/Google Slides deck, use the MP4 directly from the group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Optimising angles on the sampler alone is hard: a random start sits on the plateau and COBYLA cannot see a gradient through shot noise. Warm-starting from the Wolfram angles gives the best result immediately. That is our practical recipe.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4:30–4:40. Judges asked for trust: the classical optimum, its uniqueness and the bit encoding are theorems in Lean 4 with Mathlib, checked by kernel decision procedures over all 4096 cases. No sorry.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encodings were tried by the team. The 5-qubit pack of 27 configurations leaves 5 invalid states; QAOA learns to avoid them but gives no amplification of the optimum (0.5 to 1.2 times uniform). Two qubits per sector has no invalid states, a 2-local Hamiltonian, 27 times amplification at p = 1, and extends to 10 levels with 4 qubits per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slide. 1000 qubits is 500 antennas at 4 tilt levels or 250 at 10 levels. Brute force and exact simulation of the quantum algorithm are impossible past about 45 to 48 qubits; exact QUBO solvers stall; heuristics such as annealing are the real classical competitor and give good but unproven plans. Physical 1000-qubit machines exist today but gate errors mean the 13 000-CX layer needs error correction, so 1000 logical qubits is a 2028 to 2030 machine. Once available, a run is seconds to minutes, and the Qmod program is unchanged apart from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group benchmark: one shared plan scores 1.379, per-region exact search 1.838 with 48 jobs, the hierarchy with QAOA 1.547 with 10 jobs; cycle 3 reaches 95 percent of the ceiling. Everything is reproducible from the GitHub repo; the demo video is on YouTube.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youtu.be/OSEtTWnRQhc" TargetMode="External"/><Relationship Id="rId4" Type="http://schemas.openxmlformats.org/officeDocument/2006/relationships/hyperlink" Target="https://github.com/zuwasi/quantum-headache-antenna-tilt"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 / 14</a:t>
            </a:r>
            <a:endParaRPr lang="en-US" sz="2800" dirty="0"/>
          </a:p>
        </p:txBody>
      </p:sp>
      <p:sp>
        <p:nvSpPr>
          <p:cNvPr id="4" name="Shape 2"/>
          <p:cNvSpPr/>
          <p:nvPr/>
        </p:nvSpPr>
        <p:spPr>
          <a:xfrm>
            <a:off x="0" y="0"/>
            <a:ext cx="12188952" cy="228600"/>
          </a:xfrm>
          <a:prstGeom prst="rect">
            <a:avLst/>
          </a:prstGeom>
          <a:solidFill>
            <a:srgbClr val="7C5CFF"/>
          </a:solidFill>
          <a:ln/>
        </p:spPr>
      </p:sp>
      <p:sp>
        <p:nvSpPr>
          <p:cNvPr id="5" name="Text 3"/>
          <p:cNvSpPr/>
          <p:nvPr/>
        </p:nvSpPr>
        <p:spPr>
          <a:xfrm>
            <a:off x="731520" y="1463040"/>
            <a:ext cx="10515600" cy="365760"/>
          </a:xfrm>
          <a:prstGeom prst="rect">
            <a:avLst/>
          </a:prstGeom>
          <a:noFill/>
          <a:ln/>
        </p:spPr>
        <p:txBody>
          <a:bodyPr wrap="square" lIns="0" tIns="0" rIns="0" bIns="0" rtlCol="0" anchor="ctr"/>
          <a:lstStyle/>
          <a:p>
            <a:pPr indent="0" marL="0">
              <a:buNone/>
            </a:pPr>
            <a:r>
              <a:rPr lang="en-US" sz="1400" b="1" spc="300" kern="0" dirty="0">
                <a:solidFill>
                  <a:srgbClr val="2BD4C2"/>
                </a:solidFill>
                <a:latin typeface="Calibri" pitchFamily="34" charset="0"/>
                <a:ea typeface="Calibri" pitchFamily="34" charset="-122"/>
                <a:cs typeface="Calibri" pitchFamily="34" charset="-120"/>
              </a:rPr>
              <a:t>QUBIT 2026 HACKATHON · CHALLENGE: ANTENNA TILT</a:t>
            </a:r>
            <a:endParaRPr lang="en-US" sz="1400" dirty="0"/>
          </a:p>
        </p:txBody>
      </p:sp>
      <p:sp>
        <p:nvSpPr>
          <p:cNvPr id="6" name="Text 4"/>
          <p:cNvSpPr/>
          <p:nvPr/>
        </p:nvSpPr>
        <p:spPr>
          <a:xfrm>
            <a:off x="731520" y="1920240"/>
            <a:ext cx="10515600" cy="1828800"/>
          </a:xfrm>
          <a:prstGeom prst="rect">
            <a:avLst/>
          </a:prstGeom>
          <a:noFill/>
          <a:ln/>
        </p:spPr>
        <p:txBody>
          <a:bodyPr wrap="square" lIns="0" tIns="0" rIns="0" bIns="0" rtlCol="0" anchor="ctr"/>
          <a:lstStyle/>
          <a:p>
            <a:pPr indent="0" marL="0">
              <a:buNone/>
            </a:pPr>
            <a:r>
              <a:rPr lang="en-US" sz="4800" b="1" dirty="0">
                <a:solidFill>
                  <a:srgbClr val="F5F7FF"/>
                </a:solidFill>
                <a:latin typeface="Calibri" pitchFamily="34" charset="0"/>
                <a:ea typeface="Calibri" pitchFamily="34" charset="-122"/>
                <a:cs typeface="Calibri" pitchFamily="34" charset="-120"/>
              </a:rPr>
              <a:t>Tilting a city's antennas:</a:t>
            </a:r>
            <a:endParaRPr lang="en-US" sz="4800" dirty="0"/>
          </a:p>
          <a:p>
            <a:pPr indent="0" marL="0">
              <a:buNone/>
            </a:pPr>
            <a:r>
              <a:rPr lang="en-US" sz="4800" b="1" dirty="0">
                <a:solidFill>
                  <a:srgbClr val="F5F7FF"/>
                </a:solidFill>
                <a:latin typeface="Calibri" pitchFamily="34" charset="0"/>
                <a:ea typeface="Calibri" pitchFamily="34" charset="-122"/>
                <a:cs typeface="Calibri" pitchFamily="34" charset="-120"/>
              </a:rPr>
              <a:t>k-means groups + a 12-qubit QAOA leaf</a:t>
            </a:r>
            <a:endParaRPr lang="en-US" sz="4800" dirty="0"/>
          </a:p>
        </p:txBody>
      </p:sp>
      <p:sp>
        <p:nvSpPr>
          <p:cNvPr id="7" name="Text 5"/>
          <p:cNvSpPr/>
          <p:nvPr/>
        </p:nvSpPr>
        <p:spPr>
          <a:xfrm>
            <a:off x="731520" y="3840480"/>
            <a:ext cx="10515600" cy="548640"/>
          </a:xfrm>
          <a:prstGeom prst="rect">
            <a:avLst/>
          </a:prstGeom>
          <a:noFill/>
          <a:ln/>
        </p:spPr>
        <p:txBody>
          <a:bodyPr wrap="square" lIns="0" tIns="0" rIns="0" bIns="0" rtlCol="0" anchor="ctr"/>
          <a:lstStyle/>
          <a:p>
            <a:pPr indent="0" marL="0">
              <a:buNone/>
            </a:pPr>
            <a:r>
              <a:rPr lang="en-US" sz="1800" dirty="0">
                <a:solidFill>
                  <a:srgbClr val="A9B4D0"/>
                </a:solidFill>
                <a:latin typeface="Calibri" pitchFamily="34" charset="0"/>
                <a:ea typeface="Calibri" pitchFamily="34" charset="-122"/>
                <a:cs typeface="Calibri" pitchFamily="34" charset="-120"/>
              </a:rPr>
              <a:t>Real OpenCelliD data → cost Hamiltonian → Classiq circuit → Wolfram exact simulation → Lean 4 proof</a:t>
            </a:r>
            <a:endParaRPr lang="en-US" sz="1800" dirty="0"/>
          </a:p>
        </p:txBody>
      </p:sp>
      <p:sp>
        <p:nvSpPr>
          <p:cNvPr id="8" name="Text 6"/>
          <p:cNvSpPr/>
          <p:nvPr/>
        </p:nvSpPr>
        <p:spPr>
          <a:xfrm>
            <a:off x="731520" y="5120640"/>
            <a:ext cx="5486400" cy="457200"/>
          </a:xfrm>
          <a:prstGeom prst="rect">
            <a:avLst/>
          </a:prstGeom>
          <a:noFill/>
          <a:ln/>
        </p:spPr>
        <p:txBody>
          <a:bodyPr wrap="square" lIns="0" tIns="0" rIns="0" bIns="0" rtlCol="0" anchor="ctr"/>
          <a:lstStyle/>
          <a:p>
            <a:pPr indent="0" marL="0">
              <a:buNone/>
            </a:pPr>
            <a:r>
              <a:rPr lang="en-US" sz="2000" b="1" dirty="0">
                <a:solidFill>
                  <a:srgbClr val="F5F7FF"/>
                </a:solidFill>
                <a:latin typeface="Calibri" pitchFamily="34" charset="0"/>
                <a:ea typeface="Calibri" pitchFamily="34" charset="-122"/>
                <a:cs typeface="Calibri" pitchFamily="34" charset="-120"/>
              </a:rPr>
              <a:t>Team Quantum Headache</a:t>
            </a:r>
            <a:endParaRPr lang="en-US" sz="2000" dirty="0"/>
          </a:p>
        </p:txBody>
      </p:sp>
      <p:sp>
        <p:nvSpPr>
          <p:cNvPr id="9" name="Text 7"/>
          <p:cNvSpPr/>
          <p:nvPr/>
        </p:nvSpPr>
        <p:spPr>
          <a:xfrm>
            <a:off x="731520" y="5532120"/>
            <a:ext cx="5486400" cy="365760"/>
          </a:xfrm>
          <a:prstGeom prst="rect">
            <a:avLst/>
          </a:prstGeom>
          <a:noFill/>
          <a:ln/>
        </p:spPr>
        <p:txBody>
          <a:bodyPr wrap="square" lIns="0" tIns="0" rIns="0" bIns="0" rtlCol="0" anchor="ctr"/>
          <a:lstStyle/>
          <a:p>
            <a:pPr indent="0" marL="0">
              <a:buNone/>
            </a:pPr>
            <a:r>
              <a:rPr lang="en-US" sz="1400" dirty="0">
                <a:solidFill>
                  <a:srgbClr val="A9B4D0"/>
                </a:solidFill>
                <a:latin typeface="Calibri" pitchFamily="34" charset="0"/>
                <a:ea typeface="Calibri" pitchFamily="34" charset="-122"/>
                <a:cs typeface="Calibri" pitchFamily="34" charset="-120"/>
              </a:rPr>
              <a:t>5-minute demo ·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2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2 / 14   |   MOTIVATION</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From a city of users to interaction regions and one utility U</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interaction_region.png">    </p:cNvPr>
          <p:cNvPicPr>
            <a:picLocks noChangeAspect="1"/>
          </p:cNvPicPr>
          <p:nvPr/>
        </p:nvPicPr>
        <p:blipFill>
          <a:blip r:embed="rId1"/>
          <a:stretch>
            <a:fillRect/>
          </a:stretch>
        </p:blipFill>
        <p:spPr>
          <a:xfrm>
            <a:off x="548640" y="1417320"/>
            <a:ext cx="4297680" cy="4434840"/>
          </a:xfrm>
          <a:prstGeom prst="rect">
            <a:avLst/>
          </a:prstGeom>
        </p:spPr>
      </p:pic>
      <p:sp>
        <p:nvSpPr>
          <p:cNvPr id="9" name="Text 6"/>
          <p:cNvSpPr/>
          <p:nvPr/>
        </p:nvSpPr>
        <p:spPr>
          <a:xfrm>
            <a:off x="548640" y="5897880"/>
            <a:ext cx="448056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Toy model: hexagonal cells, 120° sectors. The green hexagon is one interaction region R: three sectors from three sites that overlap.</a:t>
            </a:r>
            <a:endParaRPr lang="en-US" sz="1050" dirty="0"/>
          </a:p>
        </p:txBody>
      </p:sp>
      <p:sp>
        <p:nvSpPr>
          <p:cNvPr id="10" name="Shape 7"/>
          <p:cNvSpPr/>
          <p:nvPr/>
        </p:nvSpPr>
        <p:spPr>
          <a:xfrm>
            <a:off x="5212080" y="1463040"/>
            <a:ext cx="6583680" cy="1783080"/>
          </a:xfrm>
          <a:prstGeom prst="roundRect">
            <a:avLst>
              <a:gd name="adj" fmla="val 4103"/>
            </a:avLst>
          </a:prstGeom>
          <a:solidFill>
            <a:srgbClr val="141B33"/>
          </a:solidFill>
          <a:ln w="12700">
            <a:solidFill>
              <a:srgbClr val="141B33"/>
            </a:solidFill>
            <a:prstDash val="solid"/>
          </a:ln>
        </p:spPr>
      </p:sp>
      <p:sp>
        <p:nvSpPr>
          <p:cNvPr id="11" name="Text 8"/>
          <p:cNvSpPr/>
          <p:nvPr/>
        </p:nvSpPr>
        <p:spPr>
          <a:xfrm>
            <a:off x="5394960" y="1554480"/>
            <a:ext cx="6217920" cy="1600200"/>
          </a:xfrm>
          <a:prstGeom prst="rect">
            <a:avLst/>
          </a:prstGeom>
          <a:noFill/>
          <a:ln/>
        </p:spPr>
        <p:txBody>
          <a:bodyPr wrap="square" lIns="635" tIns="635" rIns="635" bIns="635" rtlCol="0" anchor="ctr"/>
          <a:lstStyle/>
          <a:p>
            <a:pPr indent="0" marL="0">
              <a:buNone/>
            </a:pPr>
            <a:r>
              <a:rPr lang="en-US" sz="2200" b="1" dirty="0">
                <a:solidFill>
                  <a:srgbClr val="2BD4C2"/>
                </a:solidFill>
                <a:latin typeface="Calibri" pitchFamily="34" charset="0"/>
                <a:ea typeface="Calibri" pitchFamily="34" charset="-122"/>
                <a:cs typeface="Calibri" pitchFamily="34" charset="-120"/>
              </a:rPr>
              <a:t>U(t) = α·Q(t) − β·I(t) − γ·D(t)</a:t>
            </a:r>
            <a:endParaRPr lang="en-US" sz="2200" dirty="0"/>
          </a:p>
          <a:p>
            <a:pPr indent="0" marL="0">
              <a:buNone/>
            </a:pPr>
            <a:r>
              <a:rPr lang="en-US" sz="1300" dirty="0">
                <a:solidFill>
                  <a:srgbClr val="F5F7FF"/>
                </a:solidFill>
                <a:latin typeface="Calibri" pitchFamily="34" charset="0"/>
                <a:ea typeface="Calibri" pitchFamily="34" charset="-122"/>
                <a:cs typeface="Calibri" pitchFamily="34" charset="-120"/>
              </a:rPr>
              <a:t>Q reception quality · I interference · D unmet demand (dead zones) — each summed over users, weighted by demand w_p</a:t>
            </a:r>
            <a:endParaRPr lang="en-US" sz="2200" dirty="0"/>
          </a:p>
          <a:p>
            <a:pPr indent="0" marL="0">
              <a:buNone/>
            </a:pPr>
            <a:r>
              <a:rPr lang="en-US" sz="1300" dirty="0">
                <a:solidFill>
                  <a:srgbClr val="A9B4D0"/>
                </a:solidFill>
                <a:latin typeface="Calibri" pitchFamily="34" charset="0"/>
                <a:ea typeface="Calibri" pitchFamily="34" charset="-122"/>
                <a:cs typeface="Calibri" pitchFamily="34" charset="-120"/>
              </a:rPr>
              <a:t>Our leaf cost is −U with α = 1.5 (coverage c·t), β = 1 (tᵀ I t), γ = 0.3 (tilt penalty Σt)</a:t>
            </a:r>
            <a:endParaRPr lang="en-US" sz="2200" dirty="0"/>
          </a:p>
        </p:txBody>
      </p:sp>
      <p:sp>
        <p:nvSpPr>
          <p:cNvPr id="12" name="Text 9"/>
          <p:cNvSpPr/>
          <p:nvPr/>
        </p:nvSpPr>
        <p:spPr>
          <a:xfrm>
            <a:off x="5212080" y="3429000"/>
            <a:ext cx="6583680" cy="246888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The operator has spatial demand data: where the users are, where the dead zones are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Each sector antenna gets one down-tilt; tilting down cuts interference on neighbours but shrinks coverage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Every interaction region has its own optimum, and a city has thousands of regions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Two ways to fail: one plan for the whole network (too coarse) or one job per region (too many jobs) → the hierarchy on the next slide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3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3 / 14   |   ARCHITECTURE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Whole network: k-means groups, one QAOA job per group</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kmeans_grid.png">    </p:cNvPr>
          <p:cNvPicPr>
            <a:picLocks noChangeAspect="1"/>
          </p:cNvPicPr>
          <p:nvPr/>
        </p:nvPicPr>
        <p:blipFill>
          <a:blip r:embed="rId1"/>
          <a:stretch>
            <a:fillRect/>
          </a:stretch>
        </p:blipFill>
        <p:spPr>
          <a:xfrm>
            <a:off x="548640" y="1417320"/>
            <a:ext cx="3931920" cy="3566160"/>
          </a:xfrm>
          <a:prstGeom prst="rect">
            <a:avLst/>
          </a:prstGeom>
        </p:spPr>
      </p:pic>
      <p:sp>
        <p:nvSpPr>
          <p:cNvPr id="9" name="Text 6"/>
          <p:cNvSpPr/>
          <p:nvPr/>
        </p:nvSpPr>
        <p:spPr>
          <a:xfrm>
            <a:off x="548640" y="5029200"/>
            <a:ext cx="402336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k-means (k = 5) on the toy network: 48 regions, 5 colours = 5 groups = 5 QAOA jobs.</a:t>
            </a:r>
            <a:endParaRPr lang="en-US" sz="1050" dirty="0"/>
          </a:p>
        </p:txBody>
      </p:sp>
      <p:sp>
        <p:nvSpPr>
          <p:cNvPr id="10" name="Shape 7"/>
          <p:cNvSpPr/>
          <p:nvPr/>
        </p:nvSpPr>
        <p:spPr>
          <a:xfrm>
            <a:off x="4846320" y="1463040"/>
            <a:ext cx="2103120" cy="1051560"/>
          </a:xfrm>
          <a:prstGeom prst="roundRect">
            <a:avLst>
              <a:gd name="adj" fmla="val 5217"/>
            </a:avLst>
          </a:prstGeom>
          <a:solidFill>
            <a:srgbClr val="141B33"/>
          </a:solidFill>
          <a:ln w="12700">
            <a:solidFill>
              <a:srgbClr val="141B33"/>
            </a:solidFill>
            <a:prstDash val="solid"/>
          </a:ln>
        </p:spPr>
      </p:sp>
      <p:sp>
        <p:nvSpPr>
          <p:cNvPr id="11" name="Text 8"/>
          <p:cNvSpPr/>
          <p:nvPr/>
        </p:nvSpPr>
        <p:spPr>
          <a:xfrm>
            <a:off x="4919472" y="14630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1  Network data</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users, demand, dead zones → feature vector x_r per region</a:t>
            </a:r>
            <a:endParaRPr lang="en-US" sz="1200" dirty="0"/>
          </a:p>
        </p:txBody>
      </p:sp>
      <p:sp>
        <p:nvSpPr>
          <p:cNvPr id="12" name="Shape 9"/>
          <p:cNvSpPr/>
          <p:nvPr/>
        </p:nvSpPr>
        <p:spPr>
          <a:xfrm>
            <a:off x="7269480" y="1463040"/>
            <a:ext cx="2103120" cy="1051560"/>
          </a:xfrm>
          <a:prstGeom prst="roundRect">
            <a:avLst>
              <a:gd name="adj" fmla="val 5217"/>
            </a:avLst>
          </a:prstGeom>
          <a:solidFill>
            <a:srgbClr val="141B33"/>
          </a:solidFill>
          <a:ln w="12700">
            <a:solidFill>
              <a:srgbClr val="141B33"/>
            </a:solidFill>
            <a:prstDash val="solid"/>
          </a:ln>
        </p:spPr>
      </p:sp>
      <p:sp>
        <p:nvSpPr>
          <p:cNvPr id="13" name="Text 10"/>
          <p:cNvSpPr/>
          <p:nvPr/>
        </p:nvSpPr>
        <p:spPr>
          <a:xfrm>
            <a:off x="7342632" y="14630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2  k-means, k = 5</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regions with similar x_r share one group G_1 … G_5</a:t>
            </a:r>
            <a:endParaRPr lang="en-US" sz="1200" dirty="0"/>
          </a:p>
        </p:txBody>
      </p:sp>
      <p:sp>
        <p:nvSpPr>
          <p:cNvPr id="14" name="Shape 11"/>
          <p:cNvSpPr/>
          <p:nvPr/>
        </p:nvSpPr>
        <p:spPr>
          <a:xfrm>
            <a:off x="9692640" y="1463040"/>
            <a:ext cx="2103120" cy="1051560"/>
          </a:xfrm>
          <a:prstGeom prst="roundRect">
            <a:avLst>
              <a:gd name="adj" fmla="val 5217"/>
            </a:avLst>
          </a:prstGeom>
          <a:solidFill>
            <a:srgbClr val="141B33"/>
          </a:solidFill>
          <a:ln w="12700">
            <a:solidFill>
              <a:srgbClr val="141B33"/>
            </a:solidFill>
            <a:prstDash val="solid"/>
          </a:ln>
        </p:spPr>
      </p:sp>
      <p:sp>
        <p:nvSpPr>
          <p:cNvPr id="15" name="Text 12"/>
          <p:cNvSpPr/>
          <p:nvPr/>
        </p:nvSpPr>
        <p:spPr>
          <a:xfrm>
            <a:off x="9765792" y="14630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3  Group utility U_j</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aggregate demand per group → one cost Hamiltonian H_C per group</a:t>
            </a:r>
            <a:endParaRPr lang="en-US" sz="1200" dirty="0"/>
          </a:p>
        </p:txBody>
      </p:sp>
      <p:sp>
        <p:nvSpPr>
          <p:cNvPr id="16" name="Shape 13"/>
          <p:cNvSpPr/>
          <p:nvPr/>
        </p:nvSpPr>
        <p:spPr>
          <a:xfrm>
            <a:off x="9692640" y="2834640"/>
            <a:ext cx="2103120" cy="1051560"/>
          </a:xfrm>
          <a:prstGeom prst="roundRect">
            <a:avLst>
              <a:gd name="adj" fmla="val 5217"/>
            </a:avLst>
          </a:prstGeom>
          <a:solidFill>
            <a:srgbClr val="141B33"/>
          </a:solidFill>
          <a:ln w="12700">
            <a:solidFill>
              <a:srgbClr val="141B33"/>
            </a:solidFill>
            <a:prstDash val="solid"/>
          </a:ln>
        </p:spPr>
      </p:sp>
      <p:sp>
        <p:nvSpPr>
          <p:cNvPr id="17" name="Text 14"/>
          <p:cNvSpPr/>
          <p:nvPr/>
        </p:nvSpPr>
        <p:spPr>
          <a:xfrm>
            <a:off x="9765792" y="28346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4  QAOA on Classiq</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2 qubits per sector, angles warm-started from Wolfram (our leaf, next slides)</a:t>
            </a:r>
            <a:endParaRPr lang="en-US" sz="1200" dirty="0"/>
          </a:p>
        </p:txBody>
      </p:sp>
      <p:sp>
        <p:nvSpPr>
          <p:cNvPr id="18" name="Shape 15"/>
          <p:cNvSpPr/>
          <p:nvPr/>
        </p:nvSpPr>
        <p:spPr>
          <a:xfrm>
            <a:off x="7269480" y="2834640"/>
            <a:ext cx="2103120" cy="1051560"/>
          </a:xfrm>
          <a:prstGeom prst="roundRect">
            <a:avLst>
              <a:gd name="adj" fmla="val 5217"/>
            </a:avLst>
          </a:prstGeom>
          <a:solidFill>
            <a:srgbClr val="141B33"/>
          </a:solidFill>
          <a:ln w="12700">
            <a:solidFill>
              <a:srgbClr val="141B33"/>
            </a:solidFill>
            <a:prstDash val="solid"/>
          </a:ln>
        </p:spPr>
      </p:sp>
      <p:sp>
        <p:nvSpPr>
          <p:cNvPr id="19" name="Text 16"/>
          <p:cNvSpPr/>
          <p:nvPr/>
        </p:nvSpPr>
        <p:spPr>
          <a:xfrm>
            <a:off x="7342632" y="28346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5  Assign + evaluate</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argmin plan to every region of the group; compute global U</a:t>
            </a:r>
            <a:endParaRPr lang="en-US" sz="1200" dirty="0"/>
          </a:p>
        </p:txBody>
      </p:sp>
      <p:sp>
        <p:nvSpPr>
          <p:cNvPr id="20" name="Shape 17"/>
          <p:cNvSpPr/>
          <p:nvPr/>
        </p:nvSpPr>
        <p:spPr>
          <a:xfrm>
            <a:off x="4846320" y="2834640"/>
            <a:ext cx="2103120" cy="1051560"/>
          </a:xfrm>
          <a:prstGeom prst="roundRect">
            <a:avLst>
              <a:gd name="adj" fmla="val 5217"/>
            </a:avLst>
          </a:prstGeom>
          <a:solidFill>
            <a:srgbClr val="141B33"/>
          </a:solidFill>
          <a:ln w="12700">
            <a:solidFill>
              <a:srgbClr val="141B33"/>
            </a:solidFill>
            <a:prstDash val="solid"/>
          </a:ln>
        </p:spPr>
      </p:sp>
      <p:sp>
        <p:nvSpPr>
          <p:cNvPr id="21" name="Text 18"/>
          <p:cNvSpPr/>
          <p:nvPr/>
        </p:nvSpPr>
        <p:spPr>
          <a:xfrm>
            <a:off x="4919472" y="28346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6  Refine</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re-cluster the group with the most variation; stop when ΔU ≈ 0</a:t>
            </a:r>
            <a:endParaRPr lang="en-US" sz="1200" dirty="0"/>
          </a:p>
        </p:txBody>
      </p:sp>
      <p:sp>
        <p:nvSpPr>
          <p:cNvPr id="22" name="Shape 19"/>
          <p:cNvSpPr/>
          <p:nvPr/>
        </p:nvSpPr>
        <p:spPr>
          <a:xfrm>
            <a:off x="6949440" y="1988820"/>
            <a:ext cx="320040" cy="914"/>
          </a:xfrm>
          <a:prstGeom prst="line">
            <a:avLst/>
          </a:prstGeom>
          <a:noFill/>
          <a:ln w="19050">
            <a:solidFill>
              <a:srgbClr val="2BD4C2"/>
            </a:solidFill>
            <a:prstDash val="solid"/>
            <a:tailEnd type="triangle"/>
          </a:ln>
        </p:spPr>
      </p:sp>
      <p:sp>
        <p:nvSpPr>
          <p:cNvPr id="23" name="Shape 20"/>
          <p:cNvSpPr/>
          <p:nvPr/>
        </p:nvSpPr>
        <p:spPr>
          <a:xfrm>
            <a:off x="9372600" y="1988820"/>
            <a:ext cx="320040" cy="914"/>
          </a:xfrm>
          <a:prstGeom prst="line">
            <a:avLst/>
          </a:prstGeom>
          <a:noFill/>
          <a:ln w="19050">
            <a:solidFill>
              <a:srgbClr val="2BD4C2"/>
            </a:solidFill>
            <a:prstDash val="solid"/>
            <a:tailEnd type="triangle"/>
          </a:ln>
        </p:spPr>
      </p:sp>
      <p:sp>
        <p:nvSpPr>
          <p:cNvPr id="24" name="Shape 21"/>
          <p:cNvSpPr/>
          <p:nvPr/>
        </p:nvSpPr>
        <p:spPr>
          <a:xfrm>
            <a:off x="10744200" y="2514600"/>
            <a:ext cx="914" cy="320040"/>
          </a:xfrm>
          <a:prstGeom prst="line">
            <a:avLst/>
          </a:prstGeom>
          <a:noFill/>
          <a:ln w="19050">
            <a:solidFill>
              <a:srgbClr val="2BD4C2"/>
            </a:solidFill>
            <a:prstDash val="solid"/>
            <a:tailEnd type="triangle"/>
          </a:ln>
        </p:spPr>
      </p:sp>
      <p:sp>
        <p:nvSpPr>
          <p:cNvPr id="25" name="Shape 22"/>
          <p:cNvSpPr/>
          <p:nvPr/>
        </p:nvSpPr>
        <p:spPr>
          <a:xfrm>
            <a:off x="9372600" y="3360420"/>
            <a:ext cx="320040" cy="914"/>
          </a:xfrm>
          <a:prstGeom prst="line">
            <a:avLst/>
          </a:prstGeom>
          <a:noFill/>
          <a:ln w="19050">
            <a:solidFill>
              <a:srgbClr val="2BD4C2"/>
            </a:solidFill>
            <a:prstDash val="solid"/>
            <a:headEnd type="triangle"/>
          </a:ln>
        </p:spPr>
      </p:sp>
      <p:sp>
        <p:nvSpPr>
          <p:cNvPr id="26" name="Shape 23"/>
          <p:cNvSpPr/>
          <p:nvPr/>
        </p:nvSpPr>
        <p:spPr>
          <a:xfrm>
            <a:off x="6949440" y="3360420"/>
            <a:ext cx="320040" cy="914"/>
          </a:xfrm>
          <a:prstGeom prst="line">
            <a:avLst/>
          </a:prstGeom>
          <a:noFill/>
          <a:ln w="19050">
            <a:solidFill>
              <a:srgbClr val="2BD4C2"/>
            </a:solidFill>
            <a:prstDash val="solid"/>
            <a:headEnd type="triangle"/>
          </a:ln>
        </p:spPr>
      </p:sp>
      <p:sp>
        <p:nvSpPr>
          <p:cNvPr id="27" name="Shape 24"/>
          <p:cNvSpPr/>
          <p:nvPr/>
        </p:nvSpPr>
        <p:spPr>
          <a:xfrm>
            <a:off x="5897880" y="2514600"/>
            <a:ext cx="914" cy="320040"/>
          </a:xfrm>
          <a:prstGeom prst="line">
            <a:avLst/>
          </a:prstGeom>
          <a:noFill/>
          <a:ln w="19050">
            <a:solidFill>
              <a:srgbClr val="2BD4C2"/>
            </a:solidFill>
            <a:prstDash val="solid"/>
            <a:headEnd type="triangle"/>
          </a:ln>
        </p:spPr>
      </p:sp>
      <p:sp>
        <p:nvSpPr>
          <p:cNvPr id="28" name="Shape 25"/>
          <p:cNvSpPr/>
          <p:nvPr/>
        </p:nvSpPr>
        <p:spPr>
          <a:xfrm>
            <a:off x="4846320" y="4114800"/>
            <a:ext cx="6949440" cy="1234440"/>
          </a:xfrm>
          <a:prstGeom prst="roundRect">
            <a:avLst>
              <a:gd name="adj" fmla="val 5926"/>
            </a:avLst>
          </a:prstGeom>
          <a:solidFill>
            <a:srgbClr val="141B33"/>
          </a:solidFill>
          <a:ln w="12700">
            <a:solidFill>
              <a:srgbClr val="141B33"/>
            </a:solidFill>
            <a:prstDash val="solid"/>
          </a:ln>
        </p:spPr>
      </p:sp>
      <p:sp>
        <p:nvSpPr>
          <p:cNvPr id="29" name="Text 26"/>
          <p:cNvSpPr/>
          <p:nvPr/>
        </p:nvSpPr>
        <p:spPr>
          <a:xfrm>
            <a:off x="4983480" y="4160520"/>
            <a:ext cx="6675120" cy="1143000"/>
          </a:xfrm>
          <a:prstGeom prst="rect">
            <a:avLst/>
          </a:prstGeom>
          <a:noFill/>
          <a:ln/>
        </p:spPr>
        <p:txBody>
          <a:bodyPr wrap="square" lIns="635" tIns="635" rIns="635" bIns="635" rtlCol="0" anchor="t"/>
          <a:lstStyle/>
          <a:p>
            <a:pPr indent="0" marL="0">
              <a:buNone/>
            </a:pPr>
            <a:r>
              <a:rPr lang="en-US" sz="1300" b="1" dirty="0">
                <a:solidFill>
                  <a:srgbClr val="2BD4C2"/>
                </a:solidFill>
                <a:latin typeface="Calibri" pitchFamily="34" charset="0"/>
                <a:ea typeface="Calibri" pitchFamily="34" charset="-122"/>
                <a:cs typeface="Calibri" pitchFamily="34" charset="-120"/>
              </a:rPr>
              <a:t>Two stated assumptions</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1. Regions in one group are similar enough to share a coarse plan — step 6 relaxes this level by level (5 → 25 → 125 groups).</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2. Interference between groups is ignored at each level — fixed by re-optimising boundary antennas with neighbours held fixed.</a:t>
            </a:r>
            <a:endParaRPr lang="en-US" sz="1300" dirty="0"/>
          </a:p>
        </p:txBody>
      </p:sp>
      <p:sp>
        <p:nvSpPr>
          <p:cNvPr id="30" name="Shape 27"/>
          <p:cNvSpPr/>
          <p:nvPr/>
        </p:nvSpPr>
        <p:spPr>
          <a:xfrm>
            <a:off x="548640" y="5486400"/>
            <a:ext cx="11247120" cy="502920"/>
          </a:xfrm>
          <a:prstGeom prst="roundRect">
            <a:avLst>
              <a:gd name="adj" fmla="val 10909"/>
            </a:avLst>
          </a:prstGeom>
          <a:solidFill>
            <a:srgbClr val="7C5CFF"/>
          </a:solidFill>
          <a:ln w="12700">
            <a:solidFill>
              <a:srgbClr val="7C5CFF"/>
            </a:solidFill>
            <a:prstDash val="solid"/>
          </a:ln>
        </p:spPr>
      </p:sp>
      <p:sp>
        <p:nvSpPr>
          <p:cNvPr id="31" name="Text 28"/>
          <p:cNvSpPr/>
          <p:nvPr/>
        </p:nvSpPr>
        <p:spPr>
          <a:xfrm>
            <a:off x="640080" y="5486400"/>
            <a:ext cx="11064240" cy="502920"/>
          </a:xfrm>
          <a:prstGeom prst="rect">
            <a:avLst/>
          </a:prstGeom>
          <a:noFill/>
          <a:ln/>
        </p:spPr>
        <p:txBody>
          <a:bodyPr wrap="square" lIns="381" tIns="381" rIns="381" bIns="381" rtlCol="0" anchor="ctr"/>
          <a:lstStyle/>
          <a:p>
            <a:pPr indent="0" marL="0">
              <a:buNone/>
            </a:pPr>
            <a:r>
              <a:rPr lang="en-US" sz="1150" dirty="0">
                <a:solidFill>
                  <a:srgbClr val="F5F7FF"/>
                </a:solidFill>
                <a:latin typeface="Calibri" pitchFamily="34" charset="0"/>
                <a:ea typeface="Calibri" pitchFamily="34" charset="-122"/>
                <a:cs typeface="Calibri" pitchFamily="34" charset="-120"/>
              </a:rPr>
              <a:t>Quantum work only where resolution is needed: ≤ 25 jobs per level = two batches of 15 parallel Classiq jobs. Classical: k-means + aggregation. Quantum: one warm-started QAOA per group.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4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4 / 14   |   LEAF PROBLEM</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One leaf of the tree: 6 real Tel Aviv antennas, one down-tilt each</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map_small.jpg">    </p:cNvPr>
          <p:cNvPicPr>
            <a:picLocks noChangeAspect="1"/>
          </p:cNvPicPr>
          <p:nvPr/>
        </p:nvPicPr>
        <p:blipFill>
          <a:blip r:embed="rId1"/>
          <a:stretch>
            <a:fillRect/>
          </a:stretch>
        </p:blipFill>
        <p:spPr>
          <a:xfrm>
            <a:off x="548640" y="1417320"/>
            <a:ext cx="6949440" cy="3502152"/>
          </a:xfrm>
          <a:prstGeom prst="rect">
            <a:avLst/>
          </a:prstGeom>
        </p:spPr>
      </p:pic>
      <p:sp>
        <p:nvSpPr>
          <p:cNvPr id="9" name="Text 6"/>
          <p:cNvSpPr/>
          <p:nvPr/>
        </p:nvSpPr>
        <p:spPr>
          <a:xfrm>
            <a:off x="548640" y="4956048"/>
            <a:ext cx="694944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Two real 3-sector sites from OpenCelliD (Ayalon, Tel Aviv). Left: all tilts 0. Right: optimum plan — only A1 tilts to level 3.</a:t>
            </a:r>
            <a:endParaRPr lang="en-US" sz="1050" dirty="0"/>
          </a:p>
        </p:txBody>
      </p:sp>
      <p:sp>
        <p:nvSpPr>
          <p:cNvPr id="10" name="Text 7"/>
          <p:cNvSpPr/>
          <p:nvPr/>
        </p:nvSpPr>
        <p:spPr>
          <a:xfrm>
            <a:off x="7772400" y="1463040"/>
            <a:ext cx="4023360" cy="42062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6 sector antennas A0…A5, 4 tilt levels each → 4⁶ = 4096 plans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Tilting down: less interference on neighbours, less coverage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Cost(t) = tᵀ I t − 1.5 · c·t + 0.3 · Σt   (interference − coverage + penalty)</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Classical brute force: unique optimum −2.844 at (0,3,0,0,0,0)</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Real networks: 100s of antennas × 10 levels → intractable → quantum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5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5 / 14   |   MODEL</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Encoding: 2 qubits per antenna, 12 qubits total</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5486400" cy="2148840"/>
          </a:xfrm>
          <a:prstGeom prst="roundRect">
            <a:avLst>
              <a:gd name="adj" fmla="val 3404"/>
            </a:avLst>
          </a:prstGeom>
          <a:solidFill>
            <a:srgbClr val="141B33"/>
          </a:solidFill>
          <a:ln w="12700">
            <a:solidFill>
              <a:srgbClr val="141B33"/>
            </a:solidFill>
            <a:prstDash val="solid"/>
          </a:ln>
        </p:spPr>
      </p:sp>
      <p:sp>
        <p:nvSpPr>
          <p:cNvPr id="9" name="Text 7"/>
          <p:cNvSpPr/>
          <p:nvPr/>
        </p:nvSpPr>
        <p:spPr>
          <a:xfrm>
            <a:off x="731520" y="1554480"/>
            <a:ext cx="5120640" cy="1965960"/>
          </a:xfrm>
          <a:prstGeom prst="rect">
            <a:avLst/>
          </a:prstGeom>
          <a:noFill/>
          <a:ln/>
        </p:spPr>
        <p:txBody>
          <a:bodyPr wrap="square" lIns="635" tIns="635" rIns="635" bIns="635" rtlCol="0" anchor="ctr"/>
          <a:lstStyle/>
          <a:p>
            <a:pPr indent="0" marL="0">
              <a:buNone/>
            </a:pPr>
            <a:r>
              <a:rPr lang="en-US" sz="2000" b="1" dirty="0">
                <a:solidFill>
                  <a:srgbClr val="2BD4C2"/>
                </a:solidFill>
                <a:latin typeface="Calibri" pitchFamily="34" charset="0"/>
                <a:ea typeface="Calibri" pitchFamily="34" charset="-122"/>
                <a:cs typeface="Calibri" pitchFamily="34" charset="-120"/>
              </a:rPr>
              <a:t>tiltᵢ = q₂ᵢ + 2·q₂ᵢ₊₁ ∈ {0,1,2,3}</a:t>
            </a:r>
            <a:endParaRPr lang="en-US" sz="2000" dirty="0"/>
          </a:p>
          <a:p>
            <a:pPr indent="0" marL="0">
              <a:buNone/>
            </a:pPr>
            <a:r>
              <a:rPr lang="en-US" sz="1400" dirty="0">
                <a:solidFill>
                  <a:srgbClr val="F5F7FF"/>
                </a:solidFill>
                <a:latin typeface="Calibri" pitchFamily="34" charset="0"/>
                <a:ea typeface="Calibri" pitchFamily="34" charset="-122"/>
                <a:cs typeface="Calibri" pitchFamily="34" charset="-120"/>
              </a:rPr>
              <a:t>qᵢ = (1 − Zᵢ)/2  →  Cost becomes a Pauli-Z polynomial</a:t>
            </a:r>
            <a:endParaRPr lang="en-US" sz="2000" dirty="0"/>
          </a:p>
          <a:p>
            <a:pPr indent="0" marL="0">
              <a:buNone/>
            </a:pPr>
            <a:r>
              <a:rPr lang="en-US" sz="1800" b="1" dirty="0">
                <a:solidFill>
                  <a:srgbClr val="F5F7FF"/>
                </a:solidFill>
                <a:latin typeface="Calibri" pitchFamily="34" charset="0"/>
                <a:ea typeface="Calibri" pitchFamily="34" charset="-122"/>
                <a:cs typeface="Calibri" pitchFamily="34" charset="-120"/>
              </a:rPr>
              <a:t>H_C = c₀·I + Σ hᵢ Zᵢ + Σ Jᵢⱼ ZᵢZⱼ</a:t>
            </a:r>
            <a:endParaRPr lang="en-US" sz="2000" dirty="0"/>
          </a:p>
          <a:p>
            <a:pPr indent="0" marL="0">
              <a:buNone/>
            </a:pPr>
            <a:r>
              <a:rPr lang="en-US" sz="1400" dirty="0">
                <a:solidFill>
                  <a:srgbClr val="A9B4D0"/>
                </a:solidFill>
                <a:latin typeface="Calibri" pitchFamily="34" charset="0"/>
                <a:ea typeface="Calibri" pitchFamily="34" charset="-122"/>
                <a:cs typeface="Calibri" pitchFamily="34" charset="-120"/>
              </a:rPr>
              <a:t>73 terms: 1 identity + 12 Z + 60 ZZ — strictly 2-local, no ZZZ</a:t>
            </a:r>
            <a:endParaRPr lang="en-US" sz="2000" dirty="0"/>
          </a:p>
        </p:txBody>
      </p:sp>
      <p:sp>
        <p:nvSpPr>
          <p:cNvPr id="10" name="Shape 8"/>
          <p:cNvSpPr/>
          <p:nvPr/>
        </p:nvSpPr>
        <p:spPr>
          <a:xfrm>
            <a:off x="548640" y="3840480"/>
            <a:ext cx="1737360" cy="1234440"/>
          </a:xfrm>
          <a:prstGeom prst="roundRect">
            <a:avLst>
              <a:gd name="adj" fmla="val 5926"/>
            </a:avLst>
          </a:prstGeom>
          <a:solidFill>
            <a:srgbClr val="141B33"/>
          </a:solidFill>
          <a:ln w="12700">
            <a:solidFill>
              <a:srgbClr val="141B33"/>
            </a:solidFill>
            <a:prstDash val="solid"/>
          </a:ln>
        </p:spPr>
      </p:sp>
      <p:sp>
        <p:nvSpPr>
          <p:cNvPr id="11" name="Text 9"/>
          <p:cNvSpPr/>
          <p:nvPr/>
        </p:nvSpPr>
        <p:spPr>
          <a:xfrm>
            <a:off x="54864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12</a:t>
            </a:r>
            <a:endParaRPr lang="en-US" sz="3000" dirty="0"/>
          </a:p>
        </p:txBody>
      </p:sp>
      <p:sp>
        <p:nvSpPr>
          <p:cNvPr id="12" name="Text 10"/>
          <p:cNvSpPr/>
          <p:nvPr/>
        </p:nvSpPr>
        <p:spPr>
          <a:xfrm>
            <a:off x="64008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qubits</a:t>
            </a:r>
            <a:endParaRPr lang="en-US" sz="1100" dirty="0"/>
          </a:p>
        </p:txBody>
      </p:sp>
      <p:sp>
        <p:nvSpPr>
          <p:cNvPr id="13" name="Shape 11"/>
          <p:cNvSpPr/>
          <p:nvPr/>
        </p:nvSpPr>
        <p:spPr>
          <a:xfrm>
            <a:off x="2423160" y="3840480"/>
            <a:ext cx="1737360" cy="1234440"/>
          </a:xfrm>
          <a:prstGeom prst="roundRect">
            <a:avLst>
              <a:gd name="adj" fmla="val 5926"/>
            </a:avLst>
          </a:prstGeom>
          <a:solidFill>
            <a:srgbClr val="141B33"/>
          </a:solidFill>
          <a:ln w="12700">
            <a:solidFill>
              <a:srgbClr val="141B33"/>
            </a:solidFill>
            <a:prstDash val="solid"/>
          </a:ln>
        </p:spPr>
      </p:sp>
      <p:sp>
        <p:nvSpPr>
          <p:cNvPr id="14" name="Text 12"/>
          <p:cNvSpPr/>
          <p:nvPr/>
        </p:nvSpPr>
        <p:spPr>
          <a:xfrm>
            <a:off x="242316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73</a:t>
            </a:r>
            <a:endParaRPr lang="en-US" sz="3000" dirty="0"/>
          </a:p>
        </p:txBody>
      </p:sp>
      <p:sp>
        <p:nvSpPr>
          <p:cNvPr id="15" name="Text 13"/>
          <p:cNvSpPr/>
          <p:nvPr/>
        </p:nvSpPr>
        <p:spPr>
          <a:xfrm>
            <a:off x="251460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Pauli terms</a:t>
            </a:r>
            <a:endParaRPr lang="en-US" sz="1100" dirty="0"/>
          </a:p>
        </p:txBody>
      </p:sp>
      <p:sp>
        <p:nvSpPr>
          <p:cNvPr id="16" name="Shape 14"/>
          <p:cNvSpPr/>
          <p:nvPr/>
        </p:nvSpPr>
        <p:spPr>
          <a:xfrm>
            <a:off x="4297680" y="3840480"/>
            <a:ext cx="1737360" cy="1234440"/>
          </a:xfrm>
          <a:prstGeom prst="roundRect">
            <a:avLst>
              <a:gd name="adj" fmla="val 5926"/>
            </a:avLst>
          </a:prstGeom>
          <a:solidFill>
            <a:srgbClr val="141B33"/>
          </a:solidFill>
          <a:ln w="12700">
            <a:solidFill>
              <a:srgbClr val="141B33"/>
            </a:solidFill>
            <a:prstDash val="solid"/>
          </a:ln>
        </p:spPr>
      </p:sp>
      <p:sp>
        <p:nvSpPr>
          <p:cNvPr id="17" name="Text 15"/>
          <p:cNvSpPr/>
          <p:nvPr/>
        </p:nvSpPr>
        <p:spPr>
          <a:xfrm>
            <a:off x="429768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2-local</a:t>
            </a:r>
            <a:endParaRPr lang="en-US" sz="3000" dirty="0"/>
          </a:p>
        </p:txBody>
      </p:sp>
      <p:sp>
        <p:nvSpPr>
          <p:cNvPr id="18" name="Text 16"/>
          <p:cNvSpPr/>
          <p:nvPr/>
        </p:nvSpPr>
        <p:spPr>
          <a:xfrm>
            <a:off x="438912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ZZ max weight</a:t>
            </a:r>
            <a:endParaRPr lang="en-US" sz="1100" dirty="0"/>
          </a:p>
        </p:txBody>
      </p:sp>
      <p:sp>
        <p:nvSpPr>
          <p:cNvPr id="19" name="Text 17"/>
          <p:cNvSpPr/>
          <p:nvPr/>
        </p:nvSpPr>
        <p:spPr>
          <a:xfrm>
            <a:off x="6309360" y="1463040"/>
            <a:ext cx="5486400" cy="384048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Why binary (2 qubits) and not one-hot (4 qubits) or a dense 5-qubit pack?</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Binary keeps H_C quadratic → only RZ and CX gates after ZZ decomposition</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Fits Classiq student edition comfortably; 15 parallel jobs used for sweeps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QAOA layer: phase exp(+iγ H_C) then mixer RX(2β) on every qubit</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Verified by Walsh–Hadamard: Pauli table reproduces all 4096 costs exactly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6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6 / 14   |   GATES</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The circuit Classiq synthesised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circuit_stats.png">    </p:cNvPr>
          <p:cNvPicPr>
            <a:picLocks noChangeAspect="1"/>
          </p:cNvPicPr>
          <p:nvPr/>
        </p:nvPicPr>
        <p:blipFill>
          <a:blip r:embed="rId1"/>
          <a:stretch>
            <a:fillRect/>
          </a:stretch>
        </p:blipFill>
        <p:spPr>
          <a:xfrm>
            <a:off x="548640" y="1417320"/>
            <a:ext cx="6766560" cy="3557016"/>
          </a:xfrm>
          <a:prstGeom prst="rect">
            <a:avLst/>
          </a:prstGeom>
        </p:spPr>
      </p:pic>
      <p:sp>
        <p:nvSpPr>
          <p:cNvPr id="9" name="Shape 6"/>
          <p:cNvSpPr/>
          <p:nvPr/>
        </p:nvSpPr>
        <p:spPr>
          <a:xfrm>
            <a:off x="7589520" y="1463040"/>
            <a:ext cx="2011680" cy="1234440"/>
          </a:xfrm>
          <a:prstGeom prst="roundRect">
            <a:avLst>
              <a:gd name="adj" fmla="val 5926"/>
            </a:avLst>
          </a:prstGeom>
          <a:solidFill>
            <a:srgbClr val="141B33"/>
          </a:solidFill>
          <a:ln w="12700">
            <a:solidFill>
              <a:srgbClr val="141B33"/>
            </a:solidFill>
            <a:prstDash val="solid"/>
          </a:ln>
        </p:spPr>
      </p:sp>
      <p:sp>
        <p:nvSpPr>
          <p:cNvPr id="10" name="Text 7"/>
          <p:cNvSpPr/>
          <p:nvPr/>
        </p:nvSpPr>
        <p:spPr>
          <a:xfrm>
            <a:off x="7589520" y="1572768"/>
            <a:ext cx="20116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59</a:t>
            </a:r>
            <a:endParaRPr lang="en-US" sz="3000" dirty="0"/>
          </a:p>
        </p:txBody>
      </p:sp>
      <p:sp>
        <p:nvSpPr>
          <p:cNvPr id="11" name="Text 8"/>
          <p:cNvSpPr/>
          <p:nvPr/>
        </p:nvSpPr>
        <p:spPr>
          <a:xfrm>
            <a:off x="7680960" y="219456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depth, p = 1</a:t>
            </a:r>
            <a:endParaRPr lang="en-US" sz="1100" dirty="0"/>
          </a:p>
        </p:txBody>
      </p:sp>
      <p:sp>
        <p:nvSpPr>
          <p:cNvPr id="12" name="Shape 9"/>
          <p:cNvSpPr/>
          <p:nvPr/>
        </p:nvSpPr>
        <p:spPr>
          <a:xfrm>
            <a:off x="9784080" y="1463040"/>
            <a:ext cx="2011680" cy="1234440"/>
          </a:xfrm>
          <a:prstGeom prst="roundRect">
            <a:avLst>
              <a:gd name="adj" fmla="val 5926"/>
            </a:avLst>
          </a:prstGeom>
          <a:solidFill>
            <a:srgbClr val="141B33"/>
          </a:solidFill>
          <a:ln w="12700">
            <a:solidFill>
              <a:srgbClr val="141B33"/>
            </a:solidFill>
            <a:prstDash val="solid"/>
          </a:ln>
        </p:spPr>
      </p:sp>
      <p:sp>
        <p:nvSpPr>
          <p:cNvPr id="13" name="Text 10"/>
          <p:cNvSpPr/>
          <p:nvPr/>
        </p:nvSpPr>
        <p:spPr>
          <a:xfrm>
            <a:off x="9784080" y="1572768"/>
            <a:ext cx="20116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114</a:t>
            </a:r>
            <a:endParaRPr lang="en-US" sz="3000" dirty="0"/>
          </a:p>
        </p:txBody>
      </p:sp>
      <p:sp>
        <p:nvSpPr>
          <p:cNvPr id="14" name="Text 11"/>
          <p:cNvSpPr/>
          <p:nvPr/>
        </p:nvSpPr>
        <p:spPr>
          <a:xfrm>
            <a:off x="9875520" y="219456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depth, p = 2</a:t>
            </a:r>
            <a:endParaRPr lang="en-US" sz="1100" dirty="0"/>
          </a:p>
        </p:txBody>
      </p:sp>
      <p:sp>
        <p:nvSpPr>
          <p:cNvPr id="15" name="Shape 12"/>
          <p:cNvSpPr/>
          <p:nvPr/>
        </p:nvSpPr>
        <p:spPr>
          <a:xfrm>
            <a:off x="7589520" y="2880360"/>
            <a:ext cx="2011680" cy="1234440"/>
          </a:xfrm>
          <a:prstGeom prst="roundRect">
            <a:avLst>
              <a:gd name="adj" fmla="val 5926"/>
            </a:avLst>
          </a:prstGeom>
          <a:solidFill>
            <a:srgbClr val="141B33"/>
          </a:solidFill>
          <a:ln w="12700">
            <a:solidFill>
              <a:srgbClr val="141B33"/>
            </a:solidFill>
            <a:prstDash val="solid"/>
          </a:ln>
        </p:spPr>
      </p:sp>
      <p:sp>
        <p:nvSpPr>
          <p:cNvPr id="16" name="Text 13"/>
          <p:cNvSpPr/>
          <p:nvPr/>
        </p:nvSpPr>
        <p:spPr>
          <a:xfrm>
            <a:off x="7589520" y="2990088"/>
            <a:ext cx="20116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92 CX</a:t>
            </a:r>
            <a:endParaRPr lang="en-US" sz="3000" dirty="0"/>
          </a:p>
        </p:txBody>
      </p:sp>
      <p:sp>
        <p:nvSpPr>
          <p:cNvPr id="17" name="Text 14"/>
          <p:cNvSpPr/>
          <p:nvPr/>
        </p:nvSpPr>
        <p:spPr>
          <a:xfrm>
            <a:off x="7680960" y="361188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+ 72 RZ + 12 H + 12 RX</a:t>
            </a:r>
            <a:endParaRPr lang="en-US" sz="1100" dirty="0"/>
          </a:p>
        </p:txBody>
      </p:sp>
      <p:sp>
        <p:nvSpPr>
          <p:cNvPr id="18" name="Shape 15"/>
          <p:cNvSpPr/>
          <p:nvPr/>
        </p:nvSpPr>
        <p:spPr>
          <a:xfrm>
            <a:off x="9784080" y="2880360"/>
            <a:ext cx="2011680" cy="1234440"/>
          </a:xfrm>
          <a:prstGeom prst="roundRect">
            <a:avLst>
              <a:gd name="adj" fmla="val 5926"/>
            </a:avLst>
          </a:prstGeom>
          <a:solidFill>
            <a:srgbClr val="141B33"/>
          </a:solidFill>
          <a:ln w="12700">
            <a:solidFill>
              <a:srgbClr val="141B33"/>
            </a:solidFill>
            <a:prstDash val="solid"/>
          </a:ln>
        </p:spPr>
      </p:sp>
      <p:sp>
        <p:nvSpPr>
          <p:cNvPr id="19" name="Text 16"/>
          <p:cNvSpPr/>
          <p:nvPr/>
        </p:nvSpPr>
        <p:spPr>
          <a:xfrm>
            <a:off x="9784080" y="2990088"/>
            <a:ext cx="20116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184 CX</a:t>
            </a:r>
            <a:endParaRPr lang="en-US" sz="3000" dirty="0"/>
          </a:p>
        </p:txBody>
      </p:sp>
      <p:sp>
        <p:nvSpPr>
          <p:cNvPr id="20" name="Text 17"/>
          <p:cNvSpPr/>
          <p:nvPr/>
        </p:nvSpPr>
        <p:spPr>
          <a:xfrm>
            <a:off x="9875520" y="361188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+ 144 RZ + 12 H + 24 RX</a:t>
            </a:r>
            <a:endParaRPr lang="en-US" sz="1100" dirty="0"/>
          </a:p>
        </p:txBody>
      </p:sp>
      <p:sp>
        <p:nvSpPr>
          <p:cNvPr id="21" name="Text 18"/>
          <p:cNvSpPr/>
          <p:nvPr/>
        </p:nvSpPr>
        <p:spPr>
          <a:xfrm>
            <a:off x="7589520" y="4297680"/>
            <a:ext cx="4206240" cy="173736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Written in Qmod: QStruct of QArray[QNum[2], 6], phase(cost, γ), RX mixer</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Exported as OpenQASM 3 (group/classiq/results/*.qasm) + hand-written QASM 2 layer</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Same circuit re-simulated in Qiskit statevector: ⟨C⟩ = 1.9985 — identical to Wolfram</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7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7 / 14   |   SIMULATION</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Wolfram exact simulation: where the good angles are</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wolfram\img\landscape.png">    </p:cNvPr>
          <p:cNvPicPr>
            <a:picLocks noChangeAspect="1"/>
          </p:cNvPicPr>
          <p:nvPr/>
        </p:nvPicPr>
        <p:blipFill>
          <a:blip r:embed="rId1"/>
          <a:stretch>
            <a:fillRect/>
          </a:stretch>
        </p:blipFill>
        <p:spPr>
          <a:xfrm>
            <a:off x="548640" y="1417320"/>
            <a:ext cx="4846320" cy="4617720"/>
          </a:xfrm>
          <a:prstGeom prst="rect">
            <a:avLst/>
          </a:prstGeom>
        </p:spPr>
      </p:pic>
      <p:sp>
        <p:nvSpPr>
          <p:cNvPr id="9" name="Text 6"/>
          <p:cNvSpPr/>
          <p:nvPr/>
        </p:nvSpPr>
        <p:spPr>
          <a:xfrm>
            <a:off x="548640" y="6053328"/>
            <a:ext cx="484632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⟨C⟩(γ, β) for p = 1 over all 4096 amplitudes (statevector, no shot noise).</a:t>
            </a:r>
            <a:endParaRPr lang="en-US" sz="1050" dirty="0"/>
          </a:p>
        </p:txBody>
      </p:sp>
      <p:sp>
        <p:nvSpPr>
          <p:cNvPr id="10" name="Shape 7"/>
          <p:cNvSpPr/>
          <p:nvPr/>
        </p:nvSpPr>
        <p:spPr>
          <a:xfrm>
            <a:off x="5760720" y="1463040"/>
            <a:ext cx="2926080" cy="1234440"/>
          </a:xfrm>
          <a:prstGeom prst="roundRect">
            <a:avLst>
              <a:gd name="adj" fmla="val 5926"/>
            </a:avLst>
          </a:prstGeom>
          <a:solidFill>
            <a:srgbClr val="141B33"/>
          </a:solidFill>
          <a:ln w="12700">
            <a:solidFill>
              <a:srgbClr val="141B33"/>
            </a:solidFill>
            <a:prstDash val="solid"/>
          </a:ln>
        </p:spPr>
      </p:sp>
      <p:sp>
        <p:nvSpPr>
          <p:cNvPr id="11" name="Text 8"/>
          <p:cNvSpPr/>
          <p:nvPr/>
        </p:nvSpPr>
        <p:spPr>
          <a:xfrm>
            <a:off x="5760720" y="1572768"/>
            <a:ext cx="29260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(0.0654, 1.1293)</a:t>
            </a:r>
            <a:endParaRPr lang="en-US" sz="3000" dirty="0"/>
          </a:p>
        </p:txBody>
      </p:sp>
      <p:sp>
        <p:nvSpPr>
          <p:cNvPr id="12" name="Text 9"/>
          <p:cNvSpPr/>
          <p:nvPr/>
        </p:nvSpPr>
        <p:spPr>
          <a:xfrm>
            <a:off x="5852160" y="219456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optimal (γ, β), p = 1</a:t>
            </a:r>
            <a:endParaRPr lang="en-US" sz="1100" dirty="0"/>
          </a:p>
        </p:txBody>
      </p:sp>
      <p:sp>
        <p:nvSpPr>
          <p:cNvPr id="13" name="Shape 10"/>
          <p:cNvSpPr/>
          <p:nvPr/>
        </p:nvSpPr>
        <p:spPr>
          <a:xfrm>
            <a:off x="8869680" y="1463040"/>
            <a:ext cx="2926080" cy="1234440"/>
          </a:xfrm>
          <a:prstGeom prst="roundRect">
            <a:avLst>
              <a:gd name="adj" fmla="val 5926"/>
            </a:avLst>
          </a:prstGeom>
          <a:solidFill>
            <a:srgbClr val="141B33"/>
          </a:solidFill>
          <a:ln w="12700">
            <a:solidFill>
              <a:srgbClr val="141B33"/>
            </a:solidFill>
            <a:prstDash val="solid"/>
          </a:ln>
        </p:spPr>
      </p:sp>
      <p:sp>
        <p:nvSpPr>
          <p:cNvPr id="14" name="Text 11"/>
          <p:cNvSpPr/>
          <p:nvPr/>
        </p:nvSpPr>
        <p:spPr>
          <a:xfrm>
            <a:off x="8869680" y="1572768"/>
            <a:ext cx="29260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⟨C⟩ = 1.9985</a:t>
            </a:r>
            <a:endParaRPr lang="en-US" sz="3000" dirty="0"/>
          </a:p>
        </p:txBody>
      </p:sp>
      <p:sp>
        <p:nvSpPr>
          <p:cNvPr id="15" name="Text 12"/>
          <p:cNvSpPr/>
          <p:nvPr/>
        </p:nvSpPr>
        <p:spPr>
          <a:xfrm>
            <a:off x="8961120" y="219456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 = 1 (random: 35.5)</a:t>
            </a:r>
            <a:endParaRPr lang="en-US" sz="1100" dirty="0"/>
          </a:p>
        </p:txBody>
      </p:sp>
      <p:sp>
        <p:nvSpPr>
          <p:cNvPr id="16" name="Shape 13"/>
          <p:cNvSpPr/>
          <p:nvPr/>
        </p:nvSpPr>
        <p:spPr>
          <a:xfrm>
            <a:off x="5760720" y="2880360"/>
            <a:ext cx="2926080" cy="1234440"/>
          </a:xfrm>
          <a:prstGeom prst="roundRect">
            <a:avLst>
              <a:gd name="adj" fmla="val 5926"/>
            </a:avLst>
          </a:prstGeom>
          <a:solidFill>
            <a:srgbClr val="141B33"/>
          </a:solidFill>
          <a:ln w="12700">
            <a:solidFill>
              <a:srgbClr val="141B33"/>
            </a:solidFill>
            <a:prstDash val="solid"/>
          </a:ln>
        </p:spPr>
      </p:sp>
      <p:sp>
        <p:nvSpPr>
          <p:cNvPr id="17" name="Text 14"/>
          <p:cNvSpPr/>
          <p:nvPr/>
        </p:nvSpPr>
        <p:spPr>
          <a:xfrm>
            <a:off x="5760720" y="2990088"/>
            <a:ext cx="29260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⟨C⟩ = −0.3825</a:t>
            </a:r>
            <a:endParaRPr lang="en-US" sz="3000" dirty="0"/>
          </a:p>
        </p:txBody>
      </p:sp>
      <p:sp>
        <p:nvSpPr>
          <p:cNvPr id="18" name="Text 15"/>
          <p:cNvSpPr/>
          <p:nvPr/>
        </p:nvSpPr>
        <p:spPr>
          <a:xfrm>
            <a:off x="5852160" y="361188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 = 2, 4 angles</a:t>
            </a:r>
            <a:endParaRPr lang="en-US" sz="1100" dirty="0"/>
          </a:p>
        </p:txBody>
      </p:sp>
      <p:sp>
        <p:nvSpPr>
          <p:cNvPr id="19" name="Shape 16"/>
          <p:cNvSpPr/>
          <p:nvPr/>
        </p:nvSpPr>
        <p:spPr>
          <a:xfrm>
            <a:off x="8869680" y="2880360"/>
            <a:ext cx="2926080" cy="1234440"/>
          </a:xfrm>
          <a:prstGeom prst="roundRect">
            <a:avLst>
              <a:gd name="adj" fmla="val 5926"/>
            </a:avLst>
          </a:prstGeom>
          <a:solidFill>
            <a:srgbClr val="141B33"/>
          </a:solidFill>
          <a:ln w="12700">
            <a:solidFill>
              <a:srgbClr val="141B33"/>
            </a:solidFill>
            <a:prstDash val="solid"/>
          </a:ln>
        </p:spPr>
      </p:sp>
      <p:sp>
        <p:nvSpPr>
          <p:cNvPr id="20" name="Text 17"/>
          <p:cNvSpPr/>
          <p:nvPr/>
        </p:nvSpPr>
        <p:spPr>
          <a:xfrm>
            <a:off x="8869680" y="2990088"/>
            <a:ext cx="29260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−2.844</a:t>
            </a:r>
            <a:endParaRPr lang="en-US" sz="3000" dirty="0"/>
          </a:p>
        </p:txBody>
      </p:sp>
      <p:sp>
        <p:nvSpPr>
          <p:cNvPr id="21" name="Text 18"/>
          <p:cNvSpPr/>
          <p:nvPr/>
        </p:nvSpPr>
        <p:spPr>
          <a:xfrm>
            <a:off x="8961120" y="361188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ground state = classical optimum</a:t>
            </a:r>
            <a:endParaRPr lang="en-US" sz="1100" dirty="0"/>
          </a:p>
        </p:txBody>
      </p:sp>
      <p:sp>
        <p:nvSpPr>
          <p:cNvPr id="22" name="Text 19"/>
          <p:cNvSpPr/>
          <p:nvPr/>
        </p:nvSpPr>
        <p:spPr>
          <a:xfrm>
            <a:off x="5760720" y="4297680"/>
            <a:ext cx="6035040" cy="18288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Notebook + PDF + CDF + Markdown in group/wolfram/ (14 pages, 13 figures)</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Landscape is flat almost everywhere — a bad start sits on a plateau at ⟨C⟩ ≈ 35</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Angles found here are the warm start we hand to Classiq</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Also in the notebook: VQE (RY+CZ), Grover on a 2-antenna slice, 10-level scaling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8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8 / 14   |   RESULT</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What the quantum sampler buys us, and Classiq reproduces it</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quantum_gain.png">    </p:cNvPr>
          <p:cNvPicPr>
            <a:picLocks noChangeAspect="1"/>
          </p:cNvPicPr>
          <p:nvPr/>
        </p:nvPicPr>
        <p:blipFill>
          <a:blip r:embed="rId1"/>
          <a:stretch>
            <a:fillRect/>
          </a:stretch>
        </p:blipFill>
        <p:spPr>
          <a:xfrm>
            <a:off x="548640" y="1417320"/>
            <a:ext cx="5486400" cy="3090672"/>
          </a:xfrm>
          <a:prstGeom prst="rect">
            <a:avLst/>
          </a:prstGeom>
        </p:spPr>
      </p:pic>
      <p:pic>
        <p:nvPicPr>
          <p:cNvPr id="9" name="Image 1" descr="C:\Projects\Hackton\group\charts\wolfram_vs_classiq.png">    </p:cNvPr>
          <p:cNvPicPr>
            <a:picLocks noChangeAspect="1"/>
          </p:cNvPicPr>
          <p:nvPr/>
        </p:nvPicPr>
        <p:blipFill>
          <a:blip r:embed="rId2"/>
          <a:stretch>
            <a:fillRect/>
          </a:stretch>
        </p:blipFill>
        <p:spPr>
          <a:xfrm>
            <a:off x="6309360" y="1417320"/>
            <a:ext cx="5486400" cy="2240280"/>
          </a:xfrm>
          <a:prstGeom prst="rect">
            <a:avLst/>
          </a:prstGeom>
        </p:spPr>
      </p:pic>
      <p:sp>
        <p:nvSpPr>
          <p:cNvPr id="10" name="Text 6"/>
          <p:cNvSpPr/>
          <p:nvPr/>
        </p:nvSpPr>
        <p:spPr>
          <a:xfrm>
            <a:off x="6309360" y="3749040"/>
            <a:ext cx="5486400" cy="82296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Best sampled bitstring in every Classiq run = the classical optimum (0,3,0,0,0,0)</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p = 2: ⟨C⟩ = −0.466 sampled vs −0.383 exact; 716 distinct plans in 4096 shots</a:t>
            </a:r>
            <a:endParaRPr lang="en-US" sz="1250" dirty="0"/>
          </a:p>
        </p:txBody>
      </p:sp>
      <p:sp>
        <p:nvSpPr>
          <p:cNvPr id="11" name="Shape 7"/>
          <p:cNvSpPr/>
          <p:nvPr/>
        </p:nvSpPr>
        <p:spPr>
          <a:xfrm>
            <a:off x="548640" y="4663440"/>
            <a:ext cx="2697480" cy="1234440"/>
          </a:xfrm>
          <a:prstGeom prst="roundRect">
            <a:avLst>
              <a:gd name="adj" fmla="val 5926"/>
            </a:avLst>
          </a:prstGeom>
          <a:solidFill>
            <a:srgbClr val="141B33"/>
          </a:solidFill>
          <a:ln w="12700">
            <a:solidFill>
              <a:srgbClr val="141B33"/>
            </a:solidFill>
            <a:prstDash val="solid"/>
          </a:ln>
        </p:spPr>
      </p:sp>
      <p:sp>
        <p:nvSpPr>
          <p:cNvPr id="12" name="Text 8"/>
          <p:cNvSpPr/>
          <p:nvPr/>
        </p:nvSpPr>
        <p:spPr>
          <a:xfrm>
            <a:off x="548640" y="4773168"/>
            <a:ext cx="26974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2.4% → 67%</a:t>
            </a:r>
            <a:endParaRPr lang="en-US" sz="3000" dirty="0"/>
          </a:p>
        </p:txBody>
      </p:sp>
      <p:sp>
        <p:nvSpPr>
          <p:cNvPr id="13" name="Text 9"/>
          <p:cNvSpPr/>
          <p:nvPr/>
        </p:nvSpPr>
        <p:spPr>
          <a:xfrm>
            <a:off x="64008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P(cost &lt; 0): random → p = 2</a:t>
            </a:r>
            <a:endParaRPr lang="en-US" sz="1100" dirty="0"/>
          </a:p>
        </p:txBody>
      </p:sp>
      <p:sp>
        <p:nvSpPr>
          <p:cNvPr id="14" name="Shape 10"/>
          <p:cNvSpPr/>
          <p:nvPr/>
        </p:nvSpPr>
        <p:spPr>
          <a:xfrm>
            <a:off x="3383280" y="4663440"/>
            <a:ext cx="2697480" cy="1234440"/>
          </a:xfrm>
          <a:prstGeom prst="roundRect">
            <a:avLst>
              <a:gd name="adj" fmla="val 5926"/>
            </a:avLst>
          </a:prstGeom>
          <a:solidFill>
            <a:srgbClr val="141B33"/>
          </a:solidFill>
          <a:ln w="12700">
            <a:solidFill>
              <a:srgbClr val="141B33"/>
            </a:solidFill>
            <a:prstDash val="solid"/>
          </a:ln>
        </p:spPr>
      </p:sp>
      <p:sp>
        <p:nvSpPr>
          <p:cNvPr id="15" name="Text 11"/>
          <p:cNvSpPr/>
          <p:nvPr/>
        </p:nvSpPr>
        <p:spPr>
          <a:xfrm>
            <a:off x="3383280" y="4773168"/>
            <a:ext cx="26974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12270 → 342</a:t>
            </a:r>
            <a:endParaRPr lang="en-US" sz="3000" dirty="0"/>
          </a:p>
        </p:txBody>
      </p:sp>
      <p:sp>
        <p:nvSpPr>
          <p:cNvPr id="16" name="Text 12"/>
          <p:cNvSpPr/>
          <p:nvPr/>
        </p:nvSpPr>
        <p:spPr>
          <a:xfrm>
            <a:off x="347472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shots for 95% chance of the optimum</a:t>
            </a:r>
            <a:endParaRPr lang="en-US" sz="1100" dirty="0"/>
          </a:p>
        </p:txBody>
      </p:sp>
      <p:sp>
        <p:nvSpPr>
          <p:cNvPr id="17" name="Shape 13"/>
          <p:cNvSpPr/>
          <p:nvPr/>
        </p:nvSpPr>
        <p:spPr>
          <a:xfrm>
            <a:off x="6217920" y="4663440"/>
            <a:ext cx="2697480" cy="1234440"/>
          </a:xfrm>
          <a:prstGeom prst="roundRect">
            <a:avLst>
              <a:gd name="adj" fmla="val 5926"/>
            </a:avLst>
          </a:prstGeom>
          <a:solidFill>
            <a:srgbClr val="141B33"/>
          </a:solidFill>
          <a:ln w="12700">
            <a:solidFill>
              <a:srgbClr val="141B33"/>
            </a:solidFill>
            <a:prstDash val="solid"/>
          </a:ln>
        </p:spPr>
      </p:sp>
      <p:sp>
        <p:nvSpPr>
          <p:cNvPr id="18" name="Text 14"/>
          <p:cNvSpPr/>
          <p:nvPr/>
        </p:nvSpPr>
        <p:spPr>
          <a:xfrm>
            <a:off x="6217920" y="4773168"/>
            <a:ext cx="26974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2.020 vs 1.999</a:t>
            </a:r>
            <a:endParaRPr lang="en-US" sz="3000" dirty="0"/>
          </a:p>
        </p:txBody>
      </p:sp>
      <p:sp>
        <p:nvSpPr>
          <p:cNvPr id="19" name="Text 15"/>
          <p:cNvSpPr/>
          <p:nvPr/>
        </p:nvSpPr>
        <p:spPr>
          <a:xfrm>
            <a:off x="630936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⟨C⟩ p = 1: Classiq 4096 shots vs exact</a:t>
            </a:r>
            <a:endParaRPr lang="en-US" sz="1100" dirty="0"/>
          </a:p>
        </p:txBody>
      </p:sp>
      <p:sp>
        <p:nvSpPr>
          <p:cNvPr id="20" name="Shape 16"/>
          <p:cNvSpPr/>
          <p:nvPr/>
        </p:nvSpPr>
        <p:spPr>
          <a:xfrm>
            <a:off x="9052560" y="4663440"/>
            <a:ext cx="2697480" cy="1234440"/>
          </a:xfrm>
          <a:prstGeom prst="roundRect">
            <a:avLst>
              <a:gd name="adj" fmla="val 5926"/>
            </a:avLst>
          </a:prstGeom>
          <a:solidFill>
            <a:srgbClr val="141B33"/>
          </a:solidFill>
          <a:ln w="12700">
            <a:solidFill>
              <a:srgbClr val="141B33"/>
            </a:solidFill>
            <a:prstDash val="solid"/>
          </a:ln>
        </p:spPr>
      </p:sp>
      <p:sp>
        <p:nvSpPr>
          <p:cNvPr id="21" name="Text 17"/>
          <p:cNvSpPr/>
          <p:nvPr/>
        </p:nvSpPr>
        <p:spPr>
          <a:xfrm>
            <a:off x="9052560" y="4773168"/>
            <a:ext cx="26974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0.529 vs 0.530</a:t>
            </a:r>
            <a:endParaRPr lang="en-US" sz="3000" dirty="0"/>
          </a:p>
        </p:txBody>
      </p:sp>
      <p:sp>
        <p:nvSpPr>
          <p:cNvPr id="22" name="Text 18"/>
          <p:cNvSpPr/>
          <p:nvPr/>
        </p:nvSpPr>
        <p:spPr>
          <a:xfrm>
            <a:off x="914400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P(cost &lt; 0) p = 1: Classiq vs exact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9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9 / 14   |   VIDEO</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Demo: the QAOA distribution sharpening</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680960" cy="4572000"/>
          </a:xfrm>
          <a:prstGeom prst="rect">
            <a:avLst/>
          </a:prstGeom>
        </p:spPr>
      </p:pic>
      <p:sp>
        <p:nvSpPr>
          <p:cNvPr id="9" name="Text 6"/>
          <p:cNvSpPr/>
          <p:nvPr/>
        </p:nvSpPr>
        <p:spPr>
          <a:xfrm>
            <a:off x="8412480" y="1463040"/>
            <a:ext cx="3383280" cy="438912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120 frames, angles ramp from 0 to the p = 2 optimum</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Scatter: probability of each of the 4096 plans vs its cost</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Bars: P(cost &lt; 0) climbing to 0.67</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Black line: classical optimum −2.844</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Second clip: group/video/classiq_convergence.mp4 — COBYLA on Classiq, iteration by iteration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10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10 / 14   |   CLASSIQ</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Optimising on Classiq: warm start beats blind search</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315200" cy="3904488"/>
          </a:xfrm>
          <a:prstGeom prst="rect">
            <a:avLst/>
          </a:prstGeom>
        </p:spPr>
      </p:pic>
      <p:sp>
        <p:nvSpPr>
          <p:cNvPr id="9" name="Text 6"/>
          <p:cNvSpPr/>
          <p:nvPr/>
        </p:nvSpPr>
        <p:spPr>
          <a:xfrm>
            <a:off x="548640" y="5349240"/>
            <a:ext cx="73152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Click to play: 20 COBYLA iterations on the Classiq simulator, one 4096-shot job each (11 s).</a:t>
            </a:r>
            <a:endParaRPr lang="en-US" sz="1050" dirty="0"/>
          </a:p>
        </p:txBody>
      </p:sp>
      <p:sp>
        <p:nvSpPr>
          <p:cNvPr id="10" name="Text 7"/>
          <p:cNvSpPr/>
          <p:nvPr/>
        </p:nvSpPr>
        <p:spPr>
          <a:xfrm>
            <a:off x="8138160" y="1463040"/>
            <a:ext cx="3657600" cy="420624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Start (0.20, 0.50): COBYLA stuck at ⟨C⟩ ≈ 35.5 — the plateau Wolfram predicted</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Start (0.02, 0.60): 20 Classiq jobs, ⟨C⟩ 21.6 → 7.0, still above warm start 2.0</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Shot noise (4096 shots) hides gradients; 15 parallel jobs let us sweep starts instead</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Takeaway: exact classical pre-simulation of small instances gives angles that transfer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11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11 / 14   |   PROOF</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Lean 4 certificates: the classical facts are machine-checked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11247120" cy="2743200"/>
          </a:xfrm>
          <a:prstGeom prst="roundRect">
            <a:avLst>
              <a:gd name="adj" fmla="val 2667"/>
            </a:avLst>
          </a:prstGeom>
          <a:solidFill>
            <a:srgbClr val="141B33"/>
          </a:solidFill>
          <a:ln w="12700">
            <a:solidFill>
              <a:srgbClr val="141B33"/>
            </a:solidFill>
            <a:prstDash val="solid"/>
          </a:ln>
        </p:spPr>
      </p:sp>
      <p:sp>
        <p:nvSpPr>
          <p:cNvPr id="9" name="Text 7"/>
          <p:cNvSpPr/>
          <p:nvPr/>
        </p:nvSpPr>
        <p:spPr>
          <a:xfrm>
            <a:off x="731520" y="1554480"/>
            <a:ext cx="10881360" cy="2560320"/>
          </a:xfrm>
          <a:prstGeom prst="rect">
            <a:avLst/>
          </a:prstGeom>
          <a:noFill/>
          <a:ln/>
        </p:spPr>
        <p:txBody>
          <a:bodyPr wrap="square" lIns="635" tIns="635" rIns="635" bIns="635" rtlCol="0" anchor="ctr"/>
          <a:lstStyle/>
          <a:p>
            <a:pPr indent="0" marL="0">
              <a:buNone/>
            </a:pPr>
            <a:r>
              <a:rPr lang="en-US" sz="1250" dirty="0">
                <a:solidFill>
                  <a:srgbClr val="2BD4C2"/>
                </a:solidFill>
                <a:latin typeface="Consolas" pitchFamily="34" charset="0"/>
                <a:ea typeface="Consolas" pitchFamily="34" charset="-122"/>
                <a:cs typeface="Consolas" pitchFamily="34" charset="-120"/>
              </a:rPr>
              <a:t>theorem decodeTilt_bijective : Function.Bijective (fun q : Fin 2 × Fin 2 =&gt; decodeTilt q.1 q.2)   -- 2 qubits ↔ 4 tilts</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costS_optTilt      : costS optTilt = -28440                                   -- cost ×10⁴ (decide)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costS_lower_bound  : ∀ t : Fin 6 → Fin 4, -28440 ≤ costS t                       -- 4096 cases (native_decide)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costS_unique       : ∀ t : Fin 6 → Fin 4, costS t = -28440 → t = optTilt          -- optimum is unique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cost_phase_preserves_probability : ∀ γ c a, ‖exp(γ c i) · a‖² = ‖a‖²             -- phase layer keeps P</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two_smul_P0 / two_smul_P1 : 2•P0 = 1 + Z,  2•P1 = 1 − Z                        -- qubit → Pauli-Z</a:t>
            </a:r>
            <a:endParaRPr lang="en-US" sz="1250" dirty="0"/>
          </a:p>
        </p:txBody>
      </p:sp>
      <p:sp>
        <p:nvSpPr>
          <p:cNvPr id="10" name="Shape 8"/>
          <p:cNvSpPr/>
          <p:nvPr/>
        </p:nvSpPr>
        <p:spPr>
          <a:xfrm>
            <a:off x="548640" y="4434840"/>
            <a:ext cx="2651760" cy="1234440"/>
          </a:xfrm>
          <a:prstGeom prst="roundRect">
            <a:avLst>
              <a:gd name="adj" fmla="val 5926"/>
            </a:avLst>
          </a:prstGeom>
          <a:solidFill>
            <a:srgbClr val="141B33"/>
          </a:solidFill>
          <a:ln w="12700">
            <a:solidFill>
              <a:srgbClr val="141B33"/>
            </a:solidFill>
            <a:prstDash val="solid"/>
          </a:ln>
        </p:spPr>
      </p:sp>
      <p:sp>
        <p:nvSpPr>
          <p:cNvPr id="11" name="Text 9"/>
          <p:cNvSpPr/>
          <p:nvPr/>
        </p:nvSpPr>
        <p:spPr>
          <a:xfrm>
            <a:off x="548640" y="454456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 sorry</a:t>
            </a:r>
            <a:endParaRPr lang="en-US" sz="3000" dirty="0"/>
          </a:p>
        </p:txBody>
      </p:sp>
      <p:sp>
        <p:nvSpPr>
          <p:cNvPr id="12" name="Text 10"/>
          <p:cNvSpPr/>
          <p:nvPr/>
        </p:nvSpPr>
        <p:spPr>
          <a:xfrm>
            <a:off x="640080" y="516636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lake build succeeded</a:t>
            </a:r>
            <a:endParaRPr lang="en-US" sz="1100" dirty="0"/>
          </a:p>
        </p:txBody>
      </p:sp>
      <p:sp>
        <p:nvSpPr>
          <p:cNvPr id="13" name="Shape 11"/>
          <p:cNvSpPr/>
          <p:nvPr/>
        </p:nvSpPr>
        <p:spPr>
          <a:xfrm>
            <a:off x="3337560" y="4434840"/>
            <a:ext cx="2651760" cy="1234440"/>
          </a:xfrm>
          <a:prstGeom prst="roundRect">
            <a:avLst>
              <a:gd name="adj" fmla="val 5926"/>
            </a:avLst>
          </a:prstGeom>
          <a:solidFill>
            <a:srgbClr val="141B33"/>
          </a:solidFill>
          <a:ln w="12700">
            <a:solidFill>
              <a:srgbClr val="141B33"/>
            </a:solidFill>
            <a:prstDash val="solid"/>
          </a:ln>
        </p:spPr>
      </p:sp>
      <p:sp>
        <p:nvSpPr>
          <p:cNvPr id="14" name="Text 12"/>
          <p:cNvSpPr/>
          <p:nvPr/>
        </p:nvSpPr>
        <p:spPr>
          <a:xfrm>
            <a:off x="3337560" y="454456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Mathlib</a:t>
            </a:r>
            <a:endParaRPr lang="en-US" sz="3000" dirty="0"/>
          </a:p>
        </p:txBody>
      </p:sp>
      <p:sp>
        <p:nvSpPr>
          <p:cNvPr id="15" name="Text 13"/>
          <p:cNvSpPr/>
          <p:nvPr/>
        </p:nvSpPr>
        <p:spPr>
          <a:xfrm>
            <a:off x="3429000" y="516636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Lean 4.33.1</a:t>
            </a:r>
            <a:endParaRPr lang="en-US" sz="1100" dirty="0"/>
          </a:p>
        </p:txBody>
      </p:sp>
      <p:sp>
        <p:nvSpPr>
          <p:cNvPr id="16" name="Text 14"/>
          <p:cNvSpPr/>
          <p:nvPr/>
        </p:nvSpPr>
        <p:spPr>
          <a:xfrm>
            <a:off x="6309360" y="4434840"/>
            <a:ext cx="5486400" cy="164592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group/lean/TiltQAOA.lean + build log</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Proves the optimum, its uniqueness and the encoding are exactly what the quantum runs report</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Quantum layer: unitarity of the phase operator, so QAOA never destroys probability mass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12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12 / 14   |   DESIGN CHOICE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Why 2 qubits per sector, not a 5-qubit pack of 27 configurations</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qaoa5_convergence.png">    </p:cNvPr>
          <p:cNvPicPr>
            <a:picLocks noChangeAspect="1"/>
          </p:cNvPicPr>
          <p:nvPr/>
        </p:nvPicPr>
        <p:blipFill>
          <a:blip r:embed="rId1"/>
          <a:stretch>
            <a:fillRect/>
          </a:stretch>
        </p:blipFill>
        <p:spPr>
          <a:xfrm>
            <a:off x="548640" y="1417320"/>
            <a:ext cx="5120640" cy="3127248"/>
          </a:xfrm>
          <a:prstGeom prst="rect">
            <a:avLst/>
          </a:prstGeom>
        </p:spPr>
      </p:pic>
      <p:sp>
        <p:nvSpPr>
          <p:cNvPr id="9" name="Text 6"/>
          <p:cNvSpPr/>
          <p:nvPr/>
        </p:nvSpPr>
        <p:spPr>
          <a:xfrm>
            <a:off x="548640" y="4572000"/>
            <a:ext cx="512064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Group run, 5-qubit encoding (27 of 32 states valid): ⟨H_C⟩ converges in all 10 groups, but the sampled optimum is no more likely than uniform.</a:t>
            </a:r>
            <a:endParaRPr lang="en-US" sz="1050" dirty="0"/>
          </a:p>
        </p:txBody>
      </p:sp>
      <p:sp>
        <p:nvSpPr>
          <p:cNvPr id="10" name="Shape 7"/>
          <p:cNvSpPr/>
          <p:nvPr/>
        </p:nvSpPr>
        <p:spPr>
          <a:xfrm>
            <a:off x="548640" y="5029200"/>
            <a:ext cx="5120640" cy="868680"/>
          </a:xfrm>
          <a:prstGeom prst="roundRect">
            <a:avLst>
              <a:gd name="adj" fmla="val 8421"/>
            </a:avLst>
          </a:prstGeom>
          <a:solidFill>
            <a:srgbClr val="141B33"/>
          </a:solidFill>
          <a:ln w="12700">
            <a:solidFill>
              <a:srgbClr val="141B33"/>
            </a:solidFill>
            <a:prstDash val="solid"/>
          </a:ln>
        </p:spPr>
      </p:sp>
      <p:sp>
        <p:nvSpPr>
          <p:cNvPr id="11" name="Text 8"/>
          <p:cNvSpPr/>
          <p:nvPr/>
        </p:nvSpPr>
        <p:spPr>
          <a:xfrm>
            <a:off x="640080" y="5029200"/>
            <a:ext cx="4937760" cy="868680"/>
          </a:xfrm>
          <a:prstGeom prst="rect">
            <a:avLst/>
          </a:prstGeom>
          <a:noFill/>
          <a:ln/>
        </p:spPr>
        <p:txBody>
          <a:bodyPr wrap="square" lIns="381" tIns="381" rIns="381" bIns="381" rtlCol="0" anchor="ctr"/>
          <a:lstStyle/>
          <a:p>
            <a:pPr indent="0" marL="0">
              <a:buNone/>
            </a:pPr>
            <a:r>
              <a:rPr lang="en-US" sz="1150" dirty="0">
                <a:solidFill>
                  <a:srgbClr val="F5F7FF"/>
                </a:solidFill>
                <a:latin typeface="Calibri" pitchFamily="34" charset="0"/>
                <a:ea typeface="Calibri" pitchFamily="34" charset="-122"/>
                <a:cs typeface="Calibri" pitchFamily="34" charset="-120"/>
              </a:rPr>
              <a:t>The hierarchy is encoding-agnostic: keep k-means + refinement, swap the leaf solver. The group's own next step ("6-qubit encoding, constrained mixer") is this binary encoding — already run on Classiq and proven in Lean.</a:t>
            </a:r>
            <a:endParaRPr lang="en-US" sz="1150" dirty="0"/>
          </a:p>
        </p:txBody>
      </p:sp>
      <p:sp>
        <p:nvSpPr>
          <p:cNvPr id="12" name="Shape 9"/>
          <p:cNvSpPr/>
          <p:nvPr/>
        </p:nvSpPr>
        <p:spPr>
          <a:xfrm>
            <a:off x="5943600" y="1463040"/>
            <a:ext cx="2834640" cy="1234440"/>
          </a:xfrm>
          <a:prstGeom prst="roundRect">
            <a:avLst>
              <a:gd name="adj" fmla="val 5926"/>
            </a:avLst>
          </a:prstGeom>
          <a:solidFill>
            <a:srgbClr val="141B33"/>
          </a:solidFill>
          <a:ln w="12700">
            <a:solidFill>
              <a:srgbClr val="141B33"/>
            </a:solidFill>
            <a:prstDash val="solid"/>
          </a:ln>
        </p:spPr>
      </p:sp>
      <p:sp>
        <p:nvSpPr>
          <p:cNvPr id="13" name="Text 10"/>
          <p:cNvSpPr/>
          <p:nvPr/>
        </p:nvSpPr>
        <p:spPr>
          <a:xfrm>
            <a:off x="5943600" y="1572768"/>
            <a:ext cx="2834640" cy="640080"/>
          </a:xfrm>
          <a:prstGeom prst="rect">
            <a:avLst/>
          </a:prstGeom>
          <a:noFill/>
          <a:ln/>
        </p:spPr>
        <p:txBody>
          <a:bodyPr wrap="square" lIns="0" tIns="0" rIns="0" bIns="0" rtlCol="0" anchor="ctr"/>
          <a:lstStyle/>
          <a:p>
            <a:pPr algn="ctr" indent="0" marL="0">
              <a:buNone/>
            </a:pPr>
            <a:r>
              <a:rPr lang="en-US" sz="3000" b="1" dirty="0">
                <a:solidFill>
                  <a:srgbClr val="FF5C7A"/>
                </a:solidFill>
                <a:latin typeface="Calibri" pitchFamily="34" charset="0"/>
                <a:ea typeface="Calibri" pitchFamily="34" charset="-122"/>
                <a:cs typeface="Calibri" pitchFamily="34" charset="-120"/>
              </a:rPr>
              <a:t>0.5 – 1.2×</a:t>
            </a:r>
            <a:endParaRPr lang="en-US" sz="3000" dirty="0"/>
          </a:p>
        </p:txBody>
      </p:sp>
      <p:sp>
        <p:nvSpPr>
          <p:cNvPr id="14" name="Text 11"/>
          <p:cNvSpPr/>
          <p:nvPr/>
        </p:nvSpPr>
        <p:spPr>
          <a:xfrm>
            <a:off x="6035040" y="219456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P(optimum) / uniform, 5-qubit pack, p = 1, 3, 6</a:t>
            </a:r>
            <a:endParaRPr lang="en-US" sz="1100" dirty="0"/>
          </a:p>
        </p:txBody>
      </p:sp>
      <p:sp>
        <p:nvSpPr>
          <p:cNvPr id="15" name="Shape 12"/>
          <p:cNvSpPr/>
          <p:nvPr/>
        </p:nvSpPr>
        <p:spPr>
          <a:xfrm>
            <a:off x="8961120" y="1463040"/>
            <a:ext cx="2834640" cy="1234440"/>
          </a:xfrm>
          <a:prstGeom prst="roundRect">
            <a:avLst>
              <a:gd name="adj" fmla="val 5926"/>
            </a:avLst>
          </a:prstGeom>
          <a:solidFill>
            <a:srgbClr val="141B33"/>
          </a:solidFill>
          <a:ln w="12700">
            <a:solidFill>
              <a:srgbClr val="141B33"/>
            </a:solidFill>
            <a:prstDash val="solid"/>
          </a:ln>
        </p:spPr>
      </p:sp>
      <p:sp>
        <p:nvSpPr>
          <p:cNvPr id="16" name="Text 13"/>
          <p:cNvSpPr/>
          <p:nvPr/>
        </p:nvSpPr>
        <p:spPr>
          <a:xfrm>
            <a:off x="8961120" y="1572768"/>
            <a:ext cx="28346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27×</a:t>
            </a:r>
            <a:endParaRPr lang="en-US" sz="3000" dirty="0"/>
          </a:p>
        </p:txBody>
      </p:sp>
      <p:sp>
        <p:nvSpPr>
          <p:cNvPr id="17" name="Text 14"/>
          <p:cNvSpPr/>
          <p:nvPr/>
        </p:nvSpPr>
        <p:spPr>
          <a:xfrm>
            <a:off x="9052560" y="219456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P(optimum) / uniform, 2 qubits per sector, p = 1</a:t>
            </a:r>
            <a:endParaRPr lang="en-US" sz="1100" dirty="0"/>
          </a:p>
        </p:txBody>
      </p:sp>
      <p:sp>
        <p:nvSpPr>
          <p:cNvPr id="18" name="Shape 15"/>
          <p:cNvSpPr/>
          <p:nvPr/>
        </p:nvSpPr>
        <p:spPr>
          <a:xfrm>
            <a:off x="5943600" y="2880360"/>
            <a:ext cx="2834640" cy="1234440"/>
          </a:xfrm>
          <a:prstGeom prst="roundRect">
            <a:avLst>
              <a:gd name="adj" fmla="val 5926"/>
            </a:avLst>
          </a:prstGeom>
          <a:solidFill>
            <a:srgbClr val="141B33"/>
          </a:solidFill>
          <a:ln w="12700">
            <a:solidFill>
              <a:srgbClr val="141B33"/>
            </a:solidFill>
            <a:prstDash val="solid"/>
          </a:ln>
        </p:spPr>
      </p:sp>
      <p:sp>
        <p:nvSpPr>
          <p:cNvPr id="19" name="Text 16"/>
          <p:cNvSpPr/>
          <p:nvPr/>
        </p:nvSpPr>
        <p:spPr>
          <a:xfrm>
            <a:off x="5943600" y="2990088"/>
            <a:ext cx="283464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15.6% → 3.0%</a:t>
            </a:r>
            <a:endParaRPr lang="en-US" sz="3000" dirty="0"/>
          </a:p>
        </p:txBody>
      </p:sp>
      <p:sp>
        <p:nvSpPr>
          <p:cNvPr id="20" name="Text 17"/>
          <p:cNvSpPr/>
          <p:nvPr/>
        </p:nvSpPr>
        <p:spPr>
          <a:xfrm>
            <a:off x="6035040" y="361188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invalid states, 5-qubit pack, uniform → p = 3</a:t>
            </a:r>
            <a:endParaRPr lang="en-US" sz="1100" dirty="0"/>
          </a:p>
        </p:txBody>
      </p:sp>
      <p:sp>
        <p:nvSpPr>
          <p:cNvPr id="21" name="Shape 18"/>
          <p:cNvSpPr/>
          <p:nvPr/>
        </p:nvSpPr>
        <p:spPr>
          <a:xfrm>
            <a:off x="8961120" y="2880360"/>
            <a:ext cx="2834640" cy="1234440"/>
          </a:xfrm>
          <a:prstGeom prst="roundRect">
            <a:avLst>
              <a:gd name="adj" fmla="val 5926"/>
            </a:avLst>
          </a:prstGeom>
          <a:solidFill>
            <a:srgbClr val="141B33"/>
          </a:solidFill>
          <a:ln w="12700">
            <a:solidFill>
              <a:srgbClr val="141B33"/>
            </a:solidFill>
            <a:prstDash val="solid"/>
          </a:ln>
        </p:spPr>
      </p:sp>
      <p:sp>
        <p:nvSpPr>
          <p:cNvPr id="22" name="Text 19"/>
          <p:cNvSpPr/>
          <p:nvPr/>
        </p:nvSpPr>
        <p:spPr>
          <a:xfrm>
            <a:off x="8961120" y="2990088"/>
            <a:ext cx="28346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a:t>
            </a:r>
            <a:endParaRPr lang="en-US" sz="3000" dirty="0"/>
          </a:p>
        </p:txBody>
      </p:sp>
      <p:sp>
        <p:nvSpPr>
          <p:cNvPr id="23" name="Text 20"/>
          <p:cNvSpPr/>
          <p:nvPr/>
        </p:nvSpPr>
        <p:spPr>
          <a:xfrm>
            <a:off x="9052560" y="361188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invalid states, binary: every bitstring is a plan</a:t>
            </a:r>
            <a:endParaRPr lang="en-US" sz="1100" dirty="0"/>
          </a:p>
        </p:txBody>
      </p:sp>
      <p:sp>
        <p:nvSpPr>
          <p:cNvPr id="24" name="Text 21"/>
          <p:cNvSpPr/>
          <p:nvPr/>
        </p:nvSpPr>
        <p:spPr>
          <a:xfrm>
            <a:off x="5943600" y="4297680"/>
            <a:ext cx="5852160" cy="17373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Dense pack: 5 penalised states out of 32, so the QAOA layers go into learning the penalty, not the utility</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Circuit cost is not the issue: depth 56 on 5 qubits vs 59 on 12 qubits, RZ + CX in both</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Binary per sector keeps H_C 2-local; P(cost &lt; 0) climbs 53% → 67% from p = 1 to 2</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And it scales: 10 tilt levels = 4 qubits per sector, 24 qubits for 6 sectors, gate count grows quadratically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13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13 / 14   |   SCALE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Why quantum: what changes at 1000 qubits (500 antennas)</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3611880" cy="1234440"/>
          </a:xfrm>
          <a:prstGeom prst="roundRect">
            <a:avLst>
              <a:gd name="adj" fmla="val 5926"/>
            </a:avLst>
          </a:prstGeom>
          <a:solidFill>
            <a:srgbClr val="141B33"/>
          </a:solidFill>
          <a:ln w="12700">
            <a:solidFill>
              <a:srgbClr val="141B33"/>
            </a:solidFill>
            <a:prstDash val="solid"/>
          </a:ln>
        </p:spPr>
      </p:sp>
      <p:sp>
        <p:nvSpPr>
          <p:cNvPr id="9" name="Text 7"/>
          <p:cNvSpPr/>
          <p:nvPr/>
        </p:nvSpPr>
        <p:spPr>
          <a:xfrm>
            <a:off x="548640" y="1572768"/>
            <a:ext cx="36118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2¹⁰⁰⁰ ≈ 10³⁰¹</a:t>
            </a:r>
            <a:endParaRPr lang="en-US" sz="3000" dirty="0"/>
          </a:p>
        </p:txBody>
      </p:sp>
      <p:sp>
        <p:nvSpPr>
          <p:cNvPr id="10" name="Text 8"/>
          <p:cNvSpPr/>
          <p:nvPr/>
        </p:nvSpPr>
        <p:spPr>
          <a:xfrm>
            <a:off x="640080" y="2194560"/>
            <a:ext cx="34290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plans for 500 antennas × 4 tilts (today: 4096)</a:t>
            </a:r>
            <a:endParaRPr lang="en-US" sz="1100" dirty="0"/>
          </a:p>
        </p:txBody>
      </p:sp>
      <p:sp>
        <p:nvSpPr>
          <p:cNvPr id="11" name="Shape 9"/>
          <p:cNvSpPr/>
          <p:nvPr/>
        </p:nvSpPr>
        <p:spPr>
          <a:xfrm>
            <a:off x="4297680" y="1463040"/>
            <a:ext cx="3611880" cy="1234440"/>
          </a:xfrm>
          <a:prstGeom prst="roundRect">
            <a:avLst>
              <a:gd name="adj" fmla="val 5926"/>
            </a:avLst>
          </a:prstGeom>
          <a:solidFill>
            <a:srgbClr val="141B33"/>
          </a:solidFill>
          <a:ln w="12700">
            <a:solidFill>
              <a:srgbClr val="141B33"/>
            </a:solidFill>
            <a:prstDash val="solid"/>
          </a:ln>
        </p:spPr>
      </p:sp>
      <p:sp>
        <p:nvSpPr>
          <p:cNvPr id="12" name="Text 10"/>
          <p:cNvSpPr/>
          <p:nvPr/>
        </p:nvSpPr>
        <p:spPr>
          <a:xfrm>
            <a:off x="4297680" y="1572768"/>
            <a:ext cx="36118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 45 qubits</a:t>
            </a:r>
            <a:endParaRPr lang="en-US" sz="3000" dirty="0"/>
          </a:p>
        </p:txBody>
      </p:sp>
      <p:sp>
        <p:nvSpPr>
          <p:cNvPr id="13" name="Text 11"/>
          <p:cNvSpPr/>
          <p:nvPr/>
        </p:nvSpPr>
        <p:spPr>
          <a:xfrm>
            <a:off x="4389120" y="2194560"/>
            <a:ext cx="34290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ceiling of exact statevector simulation: 50 q = 18 PB &gt; Frontier 9 PB</a:t>
            </a:r>
            <a:endParaRPr lang="en-US" sz="1100" dirty="0"/>
          </a:p>
        </p:txBody>
      </p:sp>
      <p:sp>
        <p:nvSpPr>
          <p:cNvPr id="14" name="Shape 12"/>
          <p:cNvSpPr/>
          <p:nvPr/>
        </p:nvSpPr>
        <p:spPr>
          <a:xfrm>
            <a:off x="8046720" y="1463040"/>
            <a:ext cx="3749040" cy="1234440"/>
          </a:xfrm>
          <a:prstGeom prst="roundRect">
            <a:avLst>
              <a:gd name="adj" fmla="val 5926"/>
            </a:avLst>
          </a:prstGeom>
          <a:solidFill>
            <a:srgbClr val="141B33"/>
          </a:solidFill>
          <a:ln w="12700">
            <a:solidFill>
              <a:srgbClr val="141B33"/>
            </a:solidFill>
            <a:prstDash val="solid"/>
          </a:ln>
        </p:spPr>
      </p:sp>
      <p:sp>
        <p:nvSpPr>
          <p:cNvPr id="15" name="Text 13"/>
          <p:cNvSpPr/>
          <p:nvPr/>
        </p:nvSpPr>
        <p:spPr>
          <a:xfrm>
            <a:off x="8046720" y="1572768"/>
            <a:ext cx="37490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 13 000 CX</a:t>
            </a:r>
            <a:endParaRPr lang="en-US" sz="3000" dirty="0"/>
          </a:p>
        </p:txBody>
      </p:sp>
      <p:sp>
        <p:nvSpPr>
          <p:cNvPr id="16" name="Text 14"/>
          <p:cNvSpPr/>
          <p:nvPr/>
        </p:nvSpPr>
        <p:spPr>
          <a:xfrm>
            <a:off x="8138160" y="2194560"/>
            <a:ext cx="35661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one QAOA layer at 1000 q: 2-local, local coupling, depth ~10²</a:t>
            </a:r>
            <a:endParaRPr lang="en-US" sz="1100" dirty="0"/>
          </a:p>
        </p:txBody>
      </p:sp>
      <p:sp>
        <p:nvSpPr>
          <p:cNvPr id="17" name="Shape 15"/>
          <p:cNvSpPr/>
          <p:nvPr/>
        </p:nvSpPr>
        <p:spPr>
          <a:xfrm>
            <a:off x="548640" y="2834640"/>
            <a:ext cx="5532120" cy="2697480"/>
          </a:xfrm>
          <a:prstGeom prst="roundRect">
            <a:avLst>
              <a:gd name="adj" fmla="val 2712"/>
            </a:avLst>
          </a:prstGeom>
          <a:solidFill>
            <a:srgbClr val="141B33"/>
          </a:solidFill>
          <a:ln w="12700">
            <a:solidFill>
              <a:srgbClr val="141B33"/>
            </a:solidFill>
            <a:prstDash val="solid"/>
          </a:ln>
        </p:spPr>
      </p:sp>
      <p:sp>
        <p:nvSpPr>
          <p:cNvPr id="18" name="Text 16"/>
          <p:cNvSpPr/>
          <p:nvPr/>
        </p:nvSpPr>
        <p:spPr>
          <a:xfrm>
            <a:off x="685800" y="2880360"/>
            <a:ext cx="5303520" cy="320040"/>
          </a:xfrm>
          <a:prstGeom prst="rect">
            <a:avLst/>
          </a:prstGeom>
          <a:noFill/>
          <a:ln/>
        </p:spPr>
        <p:txBody>
          <a:bodyPr wrap="square" lIns="0" tIns="0" rIns="0" bIns="0" rtlCol="0" anchor="ctr"/>
          <a:lstStyle/>
          <a:p>
            <a:pPr indent="0" marL="0">
              <a:buNone/>
            </a:pPr>
            <a:r>
              <a:rPr lang="en-US" sz="1400" b="1" dirty="0">
                <a:solidFill>
                  <a:srgbClr val="FF5C7A"/>
                </a:solidFill>
                <a:latin typeface="Calibri" pitchFamily="34" charset="0"/>
                <a:ea typeface="Calibri" pitchFamily="34" charset="-122"/>
                <a:cs typeface="Calibri" pitchFamily="34" charset="-120"/>
              </a:rPr>
              <a:t>Best non-quantum tools on this size</a:t>
            </a:r>
            <a:endParaRPr lang="en-US" sz="1400" dirty="0"/>
          </a:p>
        </p:txBody>
      </p:sp>
      <p:sp>
        <p:nvSpPr>
          <p:cNvPr id="19" name="Text 17"/>
          <p:cNvSpPr/>
          <p:nvPr/>
        </p:nvSpPr>
        <p:spPr>
          <a:xfrm>
            <a:off x="640080" y="3200400"/>
            <a:ext cx="5394960" cy="2286000"/>
          </a:xfrm>
          <a:prstGeom prst="rect">
            <a:avLst/>
          </a:prstGeom>
          <a:noFill/>
          <a:ln/>
        </p:spPr>
        <p:txBody>
          <a:bodyPr wrap="square" lIns="635" tIns="635" rIns="635" bIns="635" rtlCol="0" anchor="t"/>
          <a:lstStyle/>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Brute force (our exact check today): 10³⁰¹ plans at 10¹⁸ / s (exascale) = 10²⁸³ s; the universe is 4×10¹⁷ s old</a:t>
            </a:r>
            <a:endParaRPr lang="en-US" sz="1100" dirty="0"/>
          </a:p>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Exact simulation of the quantum algorithm (Wolfram / Classiq simulator): memory 2ⁿ × 16 B, 45 q = 0.5 PB, 50 q = 18 PB. Nobody can simulate QAOA past ≈ 48 qubits</a:t>
            </a:r>
            <a:endParaRPr lang="en-US" sz="1100" dirty="0"/>
          </a:p>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Exact QUBO solvers (branch &amp; bound, Gurobi): sparse 1000-variable instances run hours to days and may never certify the optimum</a:t>
            </a:r>
            <a:endParaRPr lang="en-US" sz="1100" dirty="0"/>
          </a:p>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Heuristics (simulated annealing, tabu, D-Wave 4 400-qubit annealer): minutes, good plan, no guarantee. This is the real competitor (1.833 vs 1.838 on the toy benchmark)</a:t>
            </a:r>
            <a:endParaRPr lang="en-US" sz="1100" dirty="0"/>
          </a:p>
        </p:txBody>
      </p:sp>
      <p:sp>
        <p:nvSpPr>
          <p:cNvPr id="20" name="Shape 18"/>
          <p:cNvSpPr/>
          <p:nvPr/>
        </p:nvSpPr>
        <p:spPr>
          <a:xfrm>
            <a:off x="6263640" y="2834640"/>
            <a:ext cx="5532120" cy="2697480"/>
          </a:xfrm>
          <a:prstGeom prst="roundRect">
            <a:avLst>
              <a:gd name="adj" fmla="val 2712"/>
            </a:avLst>
          </a:prstGeom>
          <a:solidFill>
            <a:srgbClr val="141B33"/>
          </a:solidFill>
          <a:ln w="12700">
            <a:solidFill>
              <a:srgbClr val="141B33"/>
            </a:solidFill>
            <a:prstDash val="solid"/>
          </a:ln>
        </p:spPr>
      </p:sp>
      <p:sp>
        <p:nvSpPr>
          <p:cNvPr id="21" name="Text 19"/>
          <p:cNvSpPr/>
          <p:nvPr/>
        </p:nvSpPr>
        <p:spPr>
          <a:xfrm>
            <a:off x="6400800" y="2880360"/>
            <a:ext cx="5303520" cy="320040"/>
          </a:xfrm>
          <a:prstGeom prst="rect">
            <a:avLst/>
          </a:prstGeom>
          <a:noFill/>
          <a:ln/>
        </p:spPr>
        <p:txBody>
          <a:bodyPr wrap="square" lIns="0" tIns="0" rIns="0" bIns="0" rtlCol="0" anchor="ctr"/>
          <a:lstStyle/>
          <a:p>
            <a:pPr indent="0" marL="0">
              <a:buNone/>
            </a:pPr>
            <a:r>
              <a:rPr lang="en-US" sz="1400" b="1" dirty="0">
                <a:solidFill>
                  <a:srgbClr val="2BD4C2"/>
                </a:solidFill>
                <a:latin typeface="Calibri" pitchFamily="34" charset="0"/>
                <a:ea typeface="Calibri" pitchFamily="34" charset="-122"/>
                <a:cs typeface="Calibri" pitchFamily="34" charset="-120"/>
              </a:rPr>
              <a:t>A real 1000-qubit gate-based quantum computer</a:t>
            </a:r>
            <a:endParaRPr lang="en-US" sz="1400" dirty="0"/>
          </a:p>
        </p:txBody>
      </p:sp>
      <p:sp>
        <p:nvSpPr>
          <p:cNvPr id="22" name="Text 20"/>
          <p:cNvSpPr/>
          <p:nvPr/>
        </p:nvSpPr>
        <p:spPr>
          <a:xfrm>
            <a:off x="6355080" y="3200400"/>
            <a:ext cx="5394960" cy="2286000"/>
          </a:xfrm>
          <a:prstGeom prst="rect">
            <a:avLst/>
          </a:prstGeom>
          <a:noFill/>
          <a:ln/>
        </p:spPr>
        <p:txBody>
          <a:bodyPr wrap="square" lIns="635" tIns="635" rIns="635" bIns="635" rtlCol="0" anchor="t"/>
          <a:lstStyle/>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Physical qubits exist (Sep 2026): IBM Condor 1 121, Atom Computing 1 200, Infleqtion 1 600; best 2-qubit fidelity 99.92% (Quantinuum Helios, 98 q)</a:t>
            </a:r>
            <a:endParaRPr lang="en-US" sz="1100" dirty="0"/>
          </a:p>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13 000 CX at 99.9% = ≈ 13 errors per shot, so the run must be error-corrected: 1000 logical qubits = 2 000 (2:1 colour code) to 100 000 (surface code) physical. Record today: 96 logical (QuEra). Roadmaps: 2028–2030</a:t>
            </a:r>
            <a:endParaRPr lang="en-US" sz="1100" dirty="0"/>
          </a:p>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Runtime once available: depth ~10² per layer, 1 shot ≈ 0.1 ms (superconducting) to 10 ms (ions); 10⁴ shots × 20 iterations = seconds to minutes; Wolfram warm start cuts the iterations</a:t>
            </a:r>
            <a:endParaRPr lang="en-US" sz="1100" dirty="0"/>
          </a:p>
          <a:p>
            <a:pPr marL="342900" indent="-342900">
              <a:spcAft>
                <a:spcPts val="600"/>
              </a:spcAft>
              <a:buSzPct val="100000"/>
              <a:buChar char="▸"/>
            </a:pPr>
            <a:r>
              <a:rPr lang="en-US" sz="1100" dirty="0">
                <a:solidFill>
                  <a:srgbClr val="F5F7FF"/>
                </a:solidFill>
                <a:latin typeface="Calibri" pitchFamily="34" charset="0"/>
                <a:ea typeface="Calibri" pitchFamily="34" charset="-122"/>
                <a:cs typeface="Calibri" pitchFamily="34" charset="-120"/>
              </a:rPr>
              <a:t>Same Qmod program: Classiq synthesises for the target, simulator today, hardware backend tomorrow. No code change but the backend</a:t>
            </a:r>
            <a:endParaRPr lang="en-US" sz="1100" dirty="0"/>
          </a:p>
        </p:txBody>
      </p:sp>
      <p:sp>
        <p:nvSpPr>
          <p:cNvPr id="23" name="Shape 21"/>
          <p:cNvSpPr/>
          <p:nvPr/>
        </p:nvSpPr>
        <p:spPr>
          <a:xfrm>
            <a:off x="548640" y="5623560"/>
            <a:ext cx="9692640" cy="685800"/>
          </a:xfrm>
          <a:prstGeom prst="roundRect">
            <a:avLst>
              <a:gd name="adj" fmla="val 8000"/>
            </a:avLst>
          </a:prstGeom>
          <a:solidFill>
            <a:srgbClr val="7C5CFF"/>
          </a:solidFill>
          <a:ln w="12700">
            <a:solidFill>
              <a:srgbClr val="7C5CFF"/>
            </a:solidFill>
            <a:prstDash val="solid"/>
          </a:ln>
        </p:spPr>
      </p:sp>
      <p:sp>
        <p:nvSpPr>
          <p:cNvPr id="24" name="Text 22"/>
          <p:cNvSpPr/>
          <p:nvPr/>
        </p:nvSpPr>
        <p:spPr>
          <a:xfrm>
            <a:off x="640080" y="5623560"/>
            <a:ext cx="9509760" cy="685800"/>
          </a:xfrm>
          <a:prstGeom prst="rect">
            <a:avLst/>
          </a:prstGeom>
          <a:noFill/>
          <a:ln/>
        </p:spPr>
        <p:txBody>
          <a:bodyPr wrap="square" lIns="381" tIns="381" rIns="381" bIns="381" rtlCol="0" anchor="ctr"/>
          <a:lstStyle/>
          <a:p>
            <a:pPr indent="0" marL="0">
              <a:buNone/>
            </a:pPr>
            <a:r>
              <a:rPr lang="en-US" sz="1100" dirty="0">
                <a:solidFill>
                  <a:srgbClr val="F5F7FF"/>
                </a:solidFill>
                <a:latin typeface="Calibri" pitchFamily="34" charset="0"/>
                <a:ea typeface="Calibri" pitchFamily="34" charset="-122"/>
                <a:cs typeface="Calibri" pitchFamily="34" charset="-120"/>
              </a:rPr>
              <a:t>Classical tools give a good plan and stop there. At 12 qubits we measured 27× amplification and P(cost&lt;0) 2.4% → 53% → 67% with p; whether that persists at 1000 qubits cannot be checked classically. The only instrument that can run the algorithm at this size is the quantum computer itself.</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14 / 14</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14 / 14   |   BENCHMARK</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Benchmark: 84% of the ceiling with 4.8× fewer quantum jobs</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benchmark_bars.png">    </p:cNvPr>
          <p:cNvPicPr>
            <a:picLocks noChangeAspect="1"/>
          </p:cNvPicPr>
          <p:nvPr/>
        </p:nvPicPr>
        <p:blipFill>
          <a:blip r:embed="rId1"/>
          <a:stretch>
            <a:fillRect/>
          </a:stretch>
        </p:blipFill>
        <p:spPr>
          <a:xfrm>
            <a:off x="548640" y="1417320"/>
            <a:ext cx="5486400" cy="2715768"/>
          </a:xfrm>
          <a:prstGeom prst="rect">
            <a:avLst/>
          </a:prstGeom>
        </p:spPr>
      </p:pic>
      <p:pic>
        <p:nvPicPr>
          <p:cNvPr id="9" name="Image 1" descr="C:\Projects\Hackton\group\charts\group_benchmark_depth.png">    </p:cNvPr>
          <p:cNvPicPr>
            <a:picLocks noChangeAspect="1"/>
          </p:cNvPicPr>
          <p:nvPr/>
        </p:nvPicPr>
        <p:blipFill>
          <a:blip r:embed="rId2"/>
          <a:stretch>
            <a:fillRect/>
          </a:stretch>
        </p:blipFill>
        <p:spPr>
          <a:xfrm>
            <a:off x="6309360" y="1417320"/>
            <a:ext cx="5486400" cy="3154680"/>
          </a:xfrm>
          <a:prstGeom prst="rect">
            <a:avLst/>
          </a:prstGeom>
        </p:spPr>
      </p:pic>
      <p:sp>
        <p:nvSpPr>
          <p:cNvPr id="10" name="Text 6"/>
          <p:cNvSpPr/>
          <p:nvPr/>
        </p:nvSpPr>
        <p:spPr>
          <a:xfrm>
            <a:off x="548640" y="4160520"/>
            <a:ext cx="54864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Hierarchy + QAOA equals exact-27 and annealing on every group (10 / 10 optimal).</a:t>
            </a:r>
            <a:endParaRPr lang="en-US" sz="1050" dirty="0"/>
          </a:p>
        </p:txBody>
      </p:sp>
      <p:sp>
        <p:nvSpPr>
          <p:cNvPr id="11" name="Text 7"/>
          <p:cNvSpPr/>
          <p:nvPr/>
        </p:nvSpPr>
        <p:spPr>
          <a:xfrm>
            <a:off x="6309360" y="4590288"/>
            <a:ext cx="54864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Refinement 5 → 21 groups; cycle 3 (13 groups) already reaches 1.75 = 95% of the ceiling.</a:t>
            </a:r>
            <a:endParaRPr lang="en-US" sz="1050" dirty="0"/>
          </a:p>
        </p:txBody>
      </p:sp>
      <p:sp>
        <p:nvSpPr>
          <p:cNvPr id="12" name="Shape 8"/>
          <p:cNvSpPr/>
          <p:nvPr/>
        </p:nvSpPr>
        <p:spPr>
          <a:xfrm>
            <a:off x="548640" y="4937760"/>
            <a:ext cx="2377440" cy="1234440"/>
          </a:xfrm>
          <a:prstGeom prst="roundRect">
            <a:avLst>
              <a:gd name="adj" fmla="val 5926"/>
            </a:avLst>
          </a:prstGeom>
          <a:solidFill>
            <a:srgbClr val="141B33"/>
          </a:solidFill>
          <a:ln w="12700">
            <a:solidFill>
              <a:srgbClr val="141B33"/>
            </a:solidFill>
            <a:prstDash val="solid"/>
          </a:ln>
        </p:spPr>
      </p:sp>
      <p:sp>
        <p:nvSpPr>
          <p:cNvPr id="13" name="Text 9"/>
          <p:cNvSpPr/>
          <p:nvPr/>
        </p:nvSpPr>
        <p:spPr>
          <a:xfrm>
            <a:off x="548640" y="5047488"/>
            <a:ext cx="2377440" cy="640080"/>
          </a:xfrm>
          <a:prstGeom prst="rect">
            <a:avLst/>
          </a:prstGeom>
          <a:noFill/>
          <a:ln/>
        </p:spPr>
        <p:txBody>
          <a:bodyPr wrap="square" lIns="0" tIns="0" rIns="0" bIns="0" rtlCol="0" anchor="ctr"/>
          <a:lstStyle/>
          <a:p>
            <a:pPr algn="ctr" indent="0" marL="0">
              <a:buNone/>
            </a:pPr>
            <a:r>
              <a:rPr lang="en-US" sz="3000" b="1" dirty="0">
                <a:solidFill>
                  <a:srgbClr val="A9B4D0"/>
                </a:solidFill>
                <a:latin typeface="Calibri" pitchFamily="34" charset="0"/>
                <a:ea typeface="Calibri" pitchFamily="34" charset="-122"/>
                <a:cs typeface="Calibri" pitchFamily="34" charset="-120"/>
              </a:rPr>
              <a:t>1.379</a:t>
            </a:r>
            <a:endParaRPr lang="en-US" sz="3000" dirty="0"/>
          </a:p>
        </p:txBody>
      </p:sp>
      <p:sp>
        <p:nvSpPr>
          <p:cNvPr id="14" name="Text 10"/>
          <p:cNvSpPr/>
          <p:nvPr/>
        </p:nvSpPr>
        <p:spPr>
          <a:xfrm>
            <a:off x="640080" y="5669280"/>
            <a:ext cx="21945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one config for all · 1 job</a:t>
            </a:r>
            <a:endParaRPr lang="en-US" sz="1100" dirty="0"/>
          </a:p>
        </p:txBody>
      </p:sp>
      <p:sp>
        <p:nvSpPr>
          <p:cNvPr id="15" name="Shape 11"/>
          <p:cNvSpPr/>
          <p:nvPr/>
        </p:nvSpPr>
        <p:spPr>
          <a:xfrm>
            <a:off x="3063240" y="4937760"/>
            <a:ext cx="2377440" cy="1234440"/>
          </a:xfrm>
          <a:prstGeom prst="roundRect">
            <a:avLst>
              <a:gd name="adj" fmla="val 5926"/>
            </a:avLst>
          </a:prstGeom>
          <a:solidFill>
            <a:srgbClr val="141B33"/>
          </a:solidFill>
          <a:ln w="12700">
            <a:solidFill>
              <a:srgbClr val="141B33"/>
            </a:solidFill>
            <a:prstDash val="solid"/>
          </a:ln>
        </p:spPr>
      </p:sp>
      <p:sp>
        <p:nvSpPr>
          <p:cNvPr id="16" name="Text 12"/>
          <p:cNvSpPr/>
          <p:nvPr/>
        </p:nvSpPr>
        <p:spPr>
          <a:xfrm>
            <a:off x="3063240" y="5047488"/>
            <a:ext cx="23774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1.547</a:t>
            </a:r>
            <a:endParaRPr lang="en-US" sz="3000" dirty="0"/>
          </a:p>
        </p:txBody>
      </p:sp>
      <p:sp>
        <p:nvSpPr>
          <p:cNvPr id="17" name="Text 13"/>
          <p:cNvSpPr/>
          <p:nvPr/>
        </p:nvSpPr>
        <p:spPr>
          <a:xfrm>
            <a:off x="3154680" y="5669280"/>
            <a:ext cx="21945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hierarchy + QAOA · 10 jobs</a:t>
            </a:r>
            <a:endParaRPr lang="en-US" sz="1100" dirty="0"/>
          </a:p>
        </p:txBody>
      </p:sp>
      <p:sp>
        <p:nvSpPr>
          <p:cNvPr id="18" name="Shape 14"/>
          <p:cNvSpPr/>
          <p:nvPr/>
        </p:nvSpPr>
        <p:spPr>
          <a:xfrm>
            <a:off x="5577840" y="4937760"/>
            <a:ext cx="2377440" cy="1234440"/>
          </a:xfrm>
          <a:prstGeom prst="roundRect">
            <a:avLst>
              <a:gd name="adj" fmla="val 5926"/>
            </a:avLst>
          </a:prstGeom>
          <a:solidFill>
            <a:srgbClr val="141B33"/>
          </a:solidFill>
          <a:ln w="12700">
            <a:solidFill>
              <a:srgbClr val="141B33"/>
            </a:solidFill>
            <a:prstDash val="solid"/>
          </a:ln>
        </p:spPr>
      </p:sp>
      <p:sp>
        <p:nvSpPr>
          <p:cNvPr id="19" name="Text 15"/>
          <p:cNvSpPr/>
          <p:nvPr/>
        </p:nvSpPr>
        <p:spPr>
          <a:xfrm>
            <a:off x="5577840" y="5047488"/>
            <a:ext cx="237744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1.838</a:t>
            </a:r>
            <a:endParaRPr lang="en-US" sz="3000" dirty="0"/>
          </a:p>
        </p:txBody>
      </p:sp>
      <p:sp>
        <p:nvSpPr>
          <p:cNvPr id="20" name="Text 16"/>
          <p:cNvSpPr/>
          <p:nvPr/>
        </p:nvSpPr>
        <p:spPr>
          <a:xfrm>
            <a:off x="5669280" y="5669280"/>
            <a:ext cx="21945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per-region ceiling · 48 jobs</a:t>
            </a:r>
            <a:endParaRPr lang="en-US" sz="1100" dirty="0"/>
          </a:p>
        </p:txBody>
      </p:sp>
      <p:sp>
        <p:nvSpPr>
          <p:cNvPr id="21" name="Text 17"/>
          <p:cNvSpPr/>
          <p:nvPr/>
        </p:nvSpPr>
        <p:spPr>
          <a:xfrm>
            <a:off x="8183880" y="4846320"/>
            <a:ext cx="3611880" cy="1188720"/>
          </a:xfrm>
          <a:prstGeom prst="rect">
            <a:avLst/>
          </a:prstGeom>
          <a:noFill/>
          <a:ln/>
        </p:spPr>
        <p:txBody>
          <a:bodyPr wrap="square" lIns="381" tIns="381" rIns="381" bIns="381" rtlCol="0" anchor="ctr"/>
          <a:lstStyle/>
          <a:p>
            <a:pPr indent="0" marL="0">
              <a:buNone/>
            </a:pPr>
            <a:r>
              <a:rPr lang="en-US" sz="1150" dirty="0">
                <a:solidFill>
                  <a:srgbClr val="A9B4D0"/>
                </a:solidFill>
                <a:latin typeface="Calibri" pitchFamily="34" charset="0"/>
                <a:ea typeface="Calibri" pitchFamily="34" charset="-122"/>
                <a:cs typeface="Calibri" pitchFamily="34" charset="-120"/>
              </a:rPr>
              <a:t>Video: </a:t>
            </a:r>
            <a:pPr indent="0" marL="0">
              <a:buNone/>
            </a:pPr>
            <a:r>
              <a:rPr lang="en-US" sz="1150" u="sng" dirty="0">
                <a:solidFill>
                  <a:srgbClr val="2BD4C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youtu.be/OSEtTWnRQhc</a:t>
            </a:r>
            <a:pPr indent="0" marL="0">
              <a:buNone/>
            </a:pPr>
            <a:endParaRPr lang="en-US" sz="1150" dirty="0"/>
          </a:p>
          <a:p>
            <a:pPr indent="0" marL="0">
              <a:buNone/>
            </a:pPr>
            <a:r>
              <a:rPr lang="en-US" sz="1150" dirty="0">
                <a:solidFill>
                  <a:srgbClr val="A9B4D0"/>
                </a:solidFill>
                <a:latin typeface="Calibri" pitchFamily="34" charset="0"/>
                <a:ea typeface="Calibri" pitchFamily="34" charset="-122"/>
                <a:cs typeface="Calibri" pitchFamily="34" charset="-120"/>
              </a:rPr>
              <a:t>Code: </a:t>
            </a:r>
            <a:endParaRPr lang="en-US" sz="1150" dirty="0"/>
          </a:p>
          <a:p>
            <a:pPr indent="0" marL="0">
              <a:buNone/>
            </a:pPr>
            <a:r>
              <a:rPr lang="en-US" sz="1150" u="sng" dirty="0">
                <a:solidFill>
                  <a:srgbClr val="2BD4C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github.com/zuwasi/quantum-headache-antenna-tilt</a:t>
            </a:r>
            <a:pPr indent="0" marL="0">
              <a:buNone/>
            </a:pPr>
            <a:endParaRPr lang="en-US" sz="1150" dirty="0"/>
          </a:p>
          <a:p>
            <a:pPr indent="0" marL="0">
              <a:buNone/>
            </a:pPr>
            <a:r>
              <a:rPr lang="en-US" sz="1150" b="1" dirty="0">
                <a:solidFill>
                  <a:srgbClr val="F5F7FF"/>
                </a:solidFill>
                <a:latin typeface="Calibri" pitchFamily="34" charset="0"/>
                <a:ea typeface="Calibri" pitchFamily="34" charset="-122"/>
                <a:cs typeface="Calibri" pitchFamily="34" charset="-120"/>
              </a:rPr>
              <a:t>Team Quantum Headache — thank you. Questions?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Antenna Tilt with QAOA — QUBIT 2026</dc:title>
  <dc:subject>PptxGenJS Presentation</dc:subject>
  <dc:creator>Team Quantum Headache</dc:creator>
  <cp:lastModifiedBy>Team Quantum Headache</cp:lastModifiedBy>
  <cp:revision>1</cp:revision>
  <dcterms:created xsi:type="dcterms:W3CDTF">2026-09-09T08:05:07Z</dcterms:created>
  <dcterms:modified xsi:type="dcterms:W3CDTF">2026-09-09T08:05:07Z</dcterms:modified>
</cp:coreProperties>
</file>